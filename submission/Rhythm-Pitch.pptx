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2" d="100"/>
          <a:sy n="152" d="100"/>
        </p:scale>
        <p:origin x="604"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Rhythm is a customer retention prototype for independent retailers. Track 3: Reinvent Commerce. The presentation describes the current prototype and its limits.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intended user is an independent retailer or retention marketer. The problem framing is the product hypothesis: personal purchase intervals may be more useful for review than a single generic inactivity window. It is not a claim that this method has been proven to improve retention.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CSV processing is performed on the client. No uploaded file is stored by the app. The optional draft request contains item name and timing evidence, not customer identifiers or contact details. A local LM Studio endpoint is used in the current configuration.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detail: median gap is calculated between distinct calendar days with purchases. Rhythm rounds the median cadence to a whole day, applies the 1.6 multiplier and ceiling, and uses a 14-day minimum. Four distinct purchase days are required. This is a transparent review heuristic, not a statistically validated churn forecast.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Chen, Daqing. Online Retail, UCI Machine Learning Repository (2015), DOI 10.24432/C5BW33, https://archive.ics.uci.edu/dataset/352/online%2Bretail. The bundled extract retains UK transaction records with positive quantity and price, customer IDs, and non-cancellation invoices; it keeps the 250 customers with most distinct purchase days. Original customer IDs are replaced with salted stable pseudonyms; item labels and transaction values/dates remain from the source. The data is historical and is not current merchant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Rhythm now includes an item watchlist derived from the overdue shopper queue. It groups shoppers by the repeat item in their history and ranks items by flagged shopper count. Each item shows the median usual repeat interval and median days past the personal threshold; the review action filters the shopper queue. These are descriptive signals from historical transactions, not measured campaign outcomes. The separate pilot assignment and CSV export were removed. The prototype is configured for Gemma through LM Studio; AMD Radeon RX 9070 XT inference remains unverified, so show GPU evidence only if confirmed during the demo. Hackathon: https://lablab.ai/ai-hackathons/amd-developer-hackathon-act-iii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AC7A411-4292-4427-8648-D564F76F24B7}"/>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Subtitle">
            <a:extLst>
              <a:ext uri="{FF2B5EF4-FFF2-40B4-BE49-F238E27FC236}">
                <a16:creationId xmlns:a16="http://schemas.microsoft.com/office/drawing/2014/main" id="{2F1ABEF1-C4B3-42C8-9315-4B7697FA937B}"/>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70CA90E0-8AB5-4E17-9030-0667E411562A}"/>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8814647-0480-41A8-BC7C-73B2784467E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Body">
            <a:extLst>
              <a:ext uri="{FF2B5EF4-FFF2-40B4-BE49-F238E27FC236}">
                <a16:creationId xmlns:a16="http://schemas.microsoft.com/office/drawing/2014/main" id="{59E772F1-61AF-4E7C-BAA9-8666287065CB}"/>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7875D994-E4F4-49EA-BA87-0C237157338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FDEE6739-4052-45FD-A23B-25B705B8964C}"/>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
        <p:nvSpPr>
          <p:cNvPr id="3" name="Right column">
            <a:extLst>
              <a:ext uri="{FF2B5EF4-FFF2-40B4-BE49-F238E27FC236}">
                <a16:creationId xmlns:a16="http://schemas.microsoft.com/office/drawing/2014/main" id="{E73D1A4B-ACBC-4328-A03C-C0CEE93E62E3}"/>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B1B0E924-4DFE-4FDD-9932-80989B44E10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347F2AA0-A255-4225-9D6A-E3BA11619EBB}"/>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202B"/>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146DC76-CD0D-4C9B-A817-B532F2E7DED5}"/>
              </a:ext>
            </a:extLst>
          </p:cNvPr>
          <p:cNvSpPr>
            <a:spLocks noGrp="1"/>
          </p:cNvSpPr>
          <p:nvPr/>
        </p:nvSpPr>
        <p:spPr>
          <a:xfrm>
            <a:off x="762000" y="590550"/>
            <a:ext cx="8001000" cy="285750"/>
          </a:xfrm>
          <a:prstGeom prst="rect">
            <a:avLst/>
          </a:prstGeom>
          <a:noFill/>
          <a:ln w="0">
            <a:noFill/>
            <a:prstDash val="solid"/>
          </a:ln>
        </p:spPr>
        <p:txBody>
          <a:bodyPr wrap="square" lIns="0" tIns="0" rIns="0" bIns="0" anchor="ctr">
            <a:normAutofit/>
          </a:bodyPr>
          <a:lstStyle>
            <a:defPPr>
              <a:defRPr sz="1125" b="1">
                <a:solidFill>
                  <a:srgbClr val="AFC2FF"/>
                </a:solidFill>
                <a:latin typeface="Arial"/>
                <a:ea typeface="Arial"/>
                <a:cs typeface="Arial"/>
              </a:defRPr>
            </a:defPPr>
          </a:lstStyle>
          <a:p>
            <a:pPr>
              <a:buNone/>
              <a:defRPr sz="1125" b="1">
                <a:solidFill>
                  <a:srgbClr val="AFC2FF"/>
                </a:solidFill>
                <a:latin typeface="Arial"/>
                <a:ea typeface="Arial"/>
                <a:cs typeface="Arial"/>
              </a:defRPr>
            </a:pPr>
            <a:r>
              <a:rPr sz="1125" b="1">
                <a:solidFill>
                  <a:srgbClr val="AFC2FF"/>
                </a:solidFill>
                <a:latin typeface="Arial"/>
                <a:ea typeface="Arial"/>
                <a:cs typeface="Arial"/>
              </a:rPr>
              <a:t>REINVENT COMMERCE  /  TRACK 03</a:t>
            </a:r>
          </a:p>
        </p:txBody>
      </p:sp>
      <p:sp>
        <p:nvSpPr>
          <p:cNvPr id="2" name="Rectangle 1">
            <a:extLst>
              <a:ext uri="{FF2B5EF4-FFF2-40B4-BE49-F238E27FC236}">
                <a16:creationId xmlns:a16="http://schemas.microsoft.com/office/drawing/2014/main" id="{7E6FFDD1-86CF-4A63-8594-C0135862C55D}"/>
              </a:ext>
            </a:extLst>
          </p:cNvPr>
          <p:cNvSpPr>
            <a:spLocks noGrp="1"/>
          </p:cNvSpPr>
          <p:nvPr/>
        </p:nvSpPr>
        <p:spPr>
          <a:xfrm>
            <a:off x="723900" y="1828800"/>
            <a:ext cx="7524750" cy="1143000"/>
          </a:xfrm>
          <a:prstGeom prst="rect">
            <a:avLst/>
          </a:prstGeom>
          <a:noFill/>
          <a:ln w="0">
            <a:noFill/>
            <a:prstDash val="solid"/>
          </a:ln>
        </p:spPr>
        <p:txBody>
          <a:bodyPr wrap="square" lIns="0" tIns="0" rIns="0" bIns="0" anchor="ctr">
            <a:normAutofit/>
          </a:bodyPr>
          <a:lstStyle>
            <a:defPPr>
              <a:defRPr sz="6450" b="1">
                <a:solidFill>
                  <a:srgbClr val="FFFFFF"/>
                </a:solidFill>
                <a:latin typeface="Arial"/>
                <a:ea typeface="Arial"/>
                <a:cs typeface="Arial"/>
              </a:defRPr>
            </a:defPPr>
          </a:lstStyle>
          <a:p>
            <a:pPr>
              <a:buNone/>
              <a:defRPr sz="6450" b="1">
                <a:solidFill>
                  <a:srgbClr val="FFFFFF"/>
                </a:solidFill>
                <a:latin typeface="Arial"/>
                <a:ea typeface="Arial"/>
                <a:cs typeface="Arial"/>
              </a:defRPr>
            </a:pPr>
            <a:r>
              <a:rPr sz="6450" b="1">
                <a:solidFill>
                  <a:srgbClr val="FFFFFF"/>
                </a:solidFill>
                <a:latin typeface="Arial"/>
                <a:ea typeface="Arial"/>
                <a:cs typeface="Arial"/>
              </a:rPr>
              <a:t>Rhythm</a:t>
            </a:r>
          </a:p>
        </p:txBody>
      </p:sp>
      <p:sp>
        <p:nvSpPr>
          <p:cNvPr id="3" name="Rectangle 2">
            <a:extLst>
              <a:ext uri="{FF2B5EF4-FFF2-40B4-BE49-F238E27FC236}">
                <a16:creationId xmlns:a16="http://schemas.microsoft.com/office/drawing/2014/main" id="{42349FA6-E904-49B4-9B17-D866BB04A032}"/>
              </a:ext>
            </a:extLst>
          </p:cNvPr>
          <p:cNvSpPr>
            <a:spLocks noGrp="1"/>
          </p:cNvSpPr>
          <p:nvPr/>
        </p:nvSpPr>
        <p:spPr>
          <a:xfrm>
            <a:off x="781050" y="3067050"/>
            <a:ext cx="8286750" cy="704850"/>
          </a:xfrm>
          <a:prstGeom prst="rect">
            <a:avLst/>
          </a:prstGeom>
          <a:noFill/>
          <a:ln w="0">
            <a:noFill/>
            <a:prstDash val="solid"/>
          </a:ln>
        </p:spPr>
        <p:txBody>
          <a:bodyPr wrap="square" lIns="0" tIns="0" rIns="0" bIns="0" anchor="ctr">
            <a:normAutofit/>
          </a:bodyPr>
          <a:lstStyle>
            <a:defPPr>
              <a:defRPr sz="2400" b="0">
                <a:solidFill>
                  <a:srgbClr val="E5EAF3"/>
                </a:solidFill>
                <a:latin typeface="Arial"/>
                <a:ea typeface="Arial"/>
                <a:cs typeface="Arial"/>
              </a:defRPr>
            </a:defPPr>
          </a:lstStyle>
          <a:p>
            <a:pPr>
              <a:buNone/>
              <a:defRPr sz="2400" b="0">
                <a:solidFill>
                  <a:srgbClr val="E5EAF3"/>
                </a:solidFill>
                <a:latin typeface="Arial"/>
                <a:ea typeface="Arial"/>
                <a:cs typeface="Arial"/>
              </a:defRPr>
            </a:pPr>
            <a:r>
              <a:rPr sz="2400" b="0">
                <a:solidFill>
                  <a:srgbClr val="E5EAF3"/>
                </a:solidFill>
                <a:latin typeface="Arial"/>
                <a:ea typeface="Arial"/>
                <a:cs typeface="Arial"/>
              </a:rPr>
              <a:t>A personal purchase clock for customer retention</a:t>
            </a:r>
          </a:p>
        </p:txBody>
      </p:sp>
      <p:sp>
        <p:nvSpPr>
          <p:cNvPr id="4" name="Straight Connector 3">
            <a:extLst>
              <a:ext uri="{FF2B5EF4-FFF2-40B4-BE49-F238E27FC236}">
                <a16:creationId xmlns:a16="http://schemas.microsoft.com/office/drawing/2014/main" id="{1876AC8C-FFB8-4EFA-B7B4-917316435CF9}"/>
              </a:ext>
            </a:extLst>
          </p:cNvPr>
          <p:cNvSpPr>
            <a:spLocks noGrp="1"/>
          </p:cNvSpPr>
          <p:nvPr/>
        </p:nvSpPr>
        <p:spPr>
          <a:xfrm>
            <a:off x="781050" y="4143375"/>
            <a:ext cx="10477500" cy="0"/>
          </a:xfrm>
          <a:prstGeom prst="line">
            <a:avLst/>
          </a:prstGeom>
          <a:ln w="9525">
            <a:solidFill>
              <a:srgbClr val="536170"/>
            </a:solidFill>
            <a:prstDash val="solid"/>
          </a:ln>
        </p:spPr>
        <p:txBody>
          <a:bodyPr/>
          <a:lstStyle/>
          <a:p>
            <a:endParaRPr/>
          </a:p>
        </p:txBody>
      </p:sp>
      <p:sp>
        <p:nvSpPr>
          <p:cNvPr id="5" name="Rectangle 4">
            <a:extLst>
              <a:ext uri="{FF2B5EF4-FFF2-40B4-BE49-F238E27FC236}">
                <a16:creationId xmlns:a16="http://schemas.microsoft.com/office/drawing/2014/main" id="{C6D25DBD-9A41-4B68-819E-B46D5134FDC0}"/>
              </a:ext>
            </a:extLst>
          </p:cNvPr>
          <p:cNvSpPr>
            <a:spLocks noGrp="1"/>
          </p:cNvSpPr>
          <p:nvPr/>
        </p:nvSpPr>
        <p:spPr>
          <a:xfrm>
            <a:off x="781050" y="4476750"/>
            <a:ext cx="8953500" cy="895350"/>
          </a:xfrm>
          <a:prstGeom prst="rect">
            <a:avLst/>
          </a:prstGeom>
          <a:noFill/>
          <a:ln w="0">
            <a:noFill/>
            <a:prstDash val="solid"/>
          </a:ln>
        </p:spPr>
        <p:txBody>
          <a:bodyPr wrap="square" lIns="0" tIns="0" rIns="0" bIns="0" anchor="ctr">
            <a:normAutofit/>
          </a:bodyPr>
          <a:lstStyle>
            <a:defPPr>
              <a:defRPr sz="1875" b="0">
                <a:solidFill>
                  <a:srgbClr val="FFFFFF"/>
                </a:solidFill>
                <a:latin typeface="Arial"/>
                <a:ea typeface="Arial"/>
                <a:cs typeface="Arial"/>
              </a:defRPr>
            </a:defPPr>
          </a:lstStyle>
          <a:p>
            <a:pPr>
              <a:buNone/>
              <a:defRPr sz="1875" b="0">
                <a:solidFill>
                  <a:srgbClr val="FFFFFF"/>
                </a:solidFill>
                <a:latin typeface="Arial"/>
                <a:ea typeface="Arial"/>
                <a:cs typeface="Arial"/>
              </a:defRPr>
            </a:pPr>
            <a:r>
              <a:rPr sz="1875" b="0">
                <a:solidFill>
                  <a:srgbClr val="FFFFFF"/>
                </a:solidFill>
                <a:latin typeface="Arial"/>
                <a:ea typeface="Arial"/>
                <a:cs typeface="Arial"/>
              </a:rPr>
              <a:t>Notice when a regular shopper’s routine changes. Give a merchant evidence for a thoughtful next step.</a:t>
            </a:r>
          </a:p>
        </p:txBody>
      </p:sp>
      <p:sp>
        <p:nvSpPr>
          <p:cNvPr id="6" name="Rectangle 5">
            <a:extLst>
              <a:ext uri="{FF2B5EF4-FFF2-40B4-BE49-F238E27FC236}">
                <a16:creationId xmlns:a16="http://schemas.microsoft.com/office/drawing/2014/main" id="{284F0D83-EADD-42CE-9452-E020F97EA197}"/>
              </a:ext>
            </a:extLst>
          </p:cNvPr>
          <p:cNvSpPr>
            <a:spLocks noGrp="1"/>
          </p:cNvSpPr>
          <p:nvPr/>
        </p:nvSpPr>
        <p:spPr>
          <a:xfrm>
            <a:off x="781050" y="6057900"/>
            <a:ext cx="7239000" cy="266700"/>
          </a:xfrm>
          <a:prstGeom prst="rect">
            <a:avLst/>
          </a:prstGeom>
          <a:noFill/>
          <a:ln w="0">
            <a:noFill/>
            <a:prstDash val="solid"/>
          </a:ln>
        </p:spPr>
        <p:txBody>
          <a:bodyPr wrap="square" lIns="0" tIns="0" rIns="0" bIns="0" anchor="ctr">
            <a:normAutofit/>
          </a:bodyPr>
          <a:lstStyle>
            <a:defPPr>
              <a:defRPr sz="1200" b="1">
                <a:solidFill>
                  <a:srgbClr val="AFC2FF"/>
                </a:solidFill>
                <a:latin typeface="Arial"/>
                <a:ea typeface="Arial"/>
                <a:cs typeface="Arial"/>
              </a:defRPr>
            </a:defPPr>
          </a:lstStyle>
          <a:p>
            <a:pPr>
              <a:buNone/>
              <a:defRPr sz="1200" b="1">
                <a:solidFill>
                  <a:srgbClr val="AFC2FF"/>
                </a:solidFill>
                <a:latin typeface="Arial"/>
                <a:ea typeface="Arial"/>
                <a:cs typeface="Arial"/>
              </a:defRPr>
            </a:pPr>
            <a:r>
              <a:rPr sz="1200" b="1">
                <a:solidFill>
                  <a:srgbClr val="AFC2FF"/>
                </a:solidFill>
                <a:latin typeface="Arial"/>
                <a:ea typeface="Arial"/>
                <a:cs typeface="Arial"/>
              </a:rPr>
              <a:t>Prototype by KathanSena</a:t>
            </a:r>
          </a:p>
        </p:txBody>
      </p:sp>
    </p:spTree>
    <p:extLst>
      <p:ext uri="{BB962C8B-B14F-4D97-AF65-F5344CB8AC3E}">
        <p14:creationId xmlns:p14="http://schemas.microsoft.com/office/powerpoint/2010/main" val="724127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9F8BC5D-4484-498D-8A0B-15B7A87E39BE}"/>
              </a:ext>
            </a:extLst>
          </p:cNvPr>
          <p:cNvSpPr>
            <a:spLocks noGrp="1"/>
          </p:cNvSpPr>
          <p:nvPr/>
        </p:nvSpPr>
        <p:spPr>
          <a:xfrm>
            <a:off x="685800" y="342900"/>
            <a:ext cx="7620000" cy="228600"/>
          </a:xfrm>
          <a:prstGeom prst="rect">
            <a:avLst/>
          </a:prstGeom>
          <a:noFill/>
          <a:ln w="0">
            <a:noFill/>
            <a:prstDash val="solid"/>
          </a:ln>
        </p:spPr>
        <p:txBody>
          <a:bodyPr wrap="square" lIns="0" tIns="0" rIns="0" bIns="0" anchor="ctr">
            <a:normAutofit/>
          </a:bodyPr>
          <a:lstStyle>
            <a:defPPr>
              <a:defRPr sz="1050" b="1">
                <a:solidFill>
                  <a:srgbClr val="315BCE"/>
                </a:solidFill>
                <a:latin typeface="Arial"/>
                <a:ea typeface="Arial"/>
                <a:cs typeface="Arial"/>
              </a:defRPr>
            </a:defPPr>
          </a:lstStyle>
          <a:p>
            <a:pPr>
              <a:buNone/>
              <a:defRPr sz="1050" b="1">
                <a:solidFill>
                  <a:srgbClr val="315BCE"/>
                </a:solidFill>
                <a:latin typeface="Arial"/>
                <a:ea typeface="Arial"/>
                <a:cs typeface="Arial"/>
              </a:defRPr>
            </a:pPr>
            <a:r>
              <a:rPr sz="1050" b="1">
                <a:solidFill>
                  <a:srgbClr val="315BCE"/>
                </a:solidFill>
                <a:latin typeface="Arial"/>
                <a:ea typeface="Arial"/>
                <a:cs typeface="Arial"/>
              </a:rPr>
              <a:t>RHYTHM  /  REINVENT COMMERCE</a:t>
            </a:r>
          </a:p>
        </p:txBody>
      </p:sp>
      <p:sp>
        <p:nvSpPr>
          <p:cNvPr id="2" name="Rectangle 1">
            <a:extLst>
              <a:ext uri="{FF2B5EF4-FFF2-40B4-BE49-F238E27FC236}">
                <a16:creationId xmlns:a16="http://schemas.microsoft.com/office/drawing/2014/main" id="{52EA869A-6625-46D2-9EE1-1FF3E3A2EBD2}"/>
              </a:ext>
            </a:extLst>
          </p:cNvPr>
          <p:cNvSpPr>
            <a:spLocks noGrp="1"/>
          </p:cNvSpPr>
          <p:nvPr/>
        </p:nvSpPr>
        <p:spPr>
          <a:xfrm>
            <a:off x="685800" y="819150"/>
            <a:ext cx="10820400" cy="685800"/>
          </a:xfrm>
          <a:prstGeom prst="rect">
            <a:avLst/>
          </a:prstGeom>
          <a:noFill/>
          <a:ln w="0">
            <a:noFill/>
            <a:prstDash val="solid"/>
          </a:ln>
        </p:spPr>
        <p:txBody>
          <a:bodyPr wrap="square" lIns="0" tIns="0" rIns="0" bIns="0" anchor="ctr">
            <a:normAutofit/>
          </a:bodyPr>
          <a:lstStyle>
            <a:defPPr>
              <a:defRPr sz="3000" b="1">
                <a:solidFill>
                  <a:srgbClr val="16202B"/>
                </a:solidFill>
                <a:latin typeface="Arial"/>
                <a:ea typeface="Arial"/>
                <a:cs typeface="Arial"/>
              </a:defRPr>
            </a:defPPr>
          </a:lstStyle>
          <a:p>
            <a:pPr>
              <a:buNone/>
              <a:defRPr sz="3000" b="1">
                <a:solidFill>
                  <a:srgbClr val="16202B"/>
                </a:solidFill>
                <a:latin typeface="Arial"/>
                <a:ea typeface="Arial"/>
                <a:cs typeface="Arial"/>
              </a:defRPr>
            </a:pPr>
            <a:r>
              <a:rPr sz="3000" b="1">
                <a:solidFill>
                  <a:srgbClr val="16202B"/>
                </a:solidFill>
                <a:latin typeface="Arial"/>
                <a:ea typeface="Arial"/>
                <a:cs typeface="Arial"/>
              </a:rPr>
              <a:t>Repeat buying has a personal rhythm</a:t>
            </a:r>
          </a:p>
        </p:txBody>
      </p:sp>
      <p:sp>
        <p:nvSpPr>
          <p:cNvPr id="3" name="Rectangle 2">
            <a:extLst>
              <a:ext uri="{FF2B5EF4-FFF2-40B4-BE49-F238E27FC236}">
                <a16:creationId xmlns:a16="http://schemas.microsoft.com/office/drawing/2014/main" id="{16E9577A-991D-4E41-9B06-228EB95B0B12}"/>
              </a:ext>
            </a:extLst>
          </p:cNvPr>
          <p:cNvSpPr>
            <a:spLocks noGrp="1"/>
          </p:cNvSpPr>
          <p:nvPr/>
        </p:nvSpPr>
        <p:spPr>
          <a:xfrm>
            <a:off x="11049000" y="6324600"/>
            <a:ext cx="457200" cy="209550"/>
          </a:xfrm>
          <a:prstGeom prst="rect">
            <a:avLst/>
          </a:prstGeom>
          <a:noFill/>
          <a:ln w="0">
            <a:noFill/>
            <a:prstDash val="solid"/>
          </a:ln>
        </p:spPr>
        <p:txBody>
          <a:bodyPr wrap="square" lIns="0" tIns="0" rIns="0" bIns="0" anchor="ctr">
            <a:normAutofit/>
          </a:bodyPr>
          <a:lstStyle>
            <a:defPPr algn="r">
              <a:defRPr sz="1050" b="1">
                <a:solidFill>
                  <a:srgbClr val="536170"/>
                </a:solidFill>
                <a:latin typeface="Arial"/>
                <a:ea typeface="Arial"/>
                <a:cs typeface="Arial"/>
              </a:defRPr>
            </a:defPPr>
          </a:lstStyle>
          <a:p>
            <a:pPr algn="r">
              <a:buNone/>
              <a:defRPr sz="1050" b="1">
                <a:solidFill>
                  <a:srgbClr val="536170"/>
                </a:solidFill>
                <a:latin typeface="Arial"/>
                <a:ea typeface="Arial"/>
                <a:cs typeface="Arial"/>
              </a:defRPr>
            </a:pPr>
            <a:r>
              <a:rPr sz="1050" b="1">
                <a:solidFill>
                  <a:srgbClr val="536170"/>
                </a:solidFill>
                <a:latin typeface="Arial"/>
                <a:ea typeface="Arial"/>
                <a:cs typeface="Arial"/>
              </a:rPr>
              <a:t>02</a:t>
            </a:r>
          </a:p>
        </p:txBody>
      </p:sp>
      <p:sp>
        <p:nvSpPr>
          <p:cNvPr id="4" name="Rectangle 3">
            <a:extLst>
              <a:ext uri="{FF2B5EF4-FFF2-40B4-BE49-F238E27FC236}">
                <a16:creationId xmlns:a16="http://schemas.microsoft.com/office/drawing/2014/main" id="{08811DF6-48E4-44F6-B134-0C200EE4D667}"/>
              </a:ext>
            </a:extLst>
          </p:cNvPr>
          <p:cNvSpPr>
            <a:spLocks noGrp="1"/>
          </p:cNvSpPr>
          <p:nvPr/>
        </p:nvSpPr>
        <p:spPr>
          <a:xfrm>
            <a:off x="742950" y="1952625"/>
            <a:ext cx="3143250" cy="266700"/>
          </a:xfrm>
          <a:prstGeom prst="rect">
            <a:avLst/>
          </a:prstGeom>
          <a:noFill/>
          <a:ln w="0">
            <a:noFill/>
            <a:prstDash val="solid"/>
          </a:ln>
        </p:spPr>
        <p:txBody>
          <a:bodyPr wrap="square" lIns="0" tIns="0" rIns="0" bIns="0" anchor="ctr">
            <a:normAutofit/>
          </a:bodyPr>
          <a:lstStyle>
            <a:defPPr>
              <a:defRPr sz="1125" b="1">
                <a:solidFill>
                  <a:srgbClr val="315BCE"/>
                </a:solidFill>
                <a:latin typeface="Arial"/>
                <a:ea typeface="Arial"/>
                <a:cs typeface="Arial"/>
              </a:defRPr>
            </a:defPPr>
          </a:lstStyle>
          <a:p>
            <a:pPr>
              <a:buNone/>
              <a:defRPr sz="1125" b="1">
                <a:solidFill>
                  <a:srgbClr val="315BCE"/>
                </a:solidFill>
                <a:latin typeface="Arial"/>
                <a:ea typeface="Arial"/>
                <a:cs typeface="Arial"/>
              </a:defRPr>
            </a:pPr>
            <a:r>
              <a:rPr sz="1125" b="1">
                <a:solidFill>
                  <a:srgbClr val="315BCE"/>
                </a:solidFill>
                <a:latin typeface="Arial"/>
                <a:ea typeface="Arial"/>
                <a:cs typeface="Arial"/>
              </a:rPr>
              <a:t>THE MERCHANT</a:t>
            </a:r>
          </a:p>
        </p:txBody>
      </p:sp>
      <p:sp>
        <p:nvSpPr>
          <p:cNvPr id="5" name="Rectangle 4">
            <a:extLst>
              <a:ext uri="{FF2B5EF4-FFF2-40B4-BE49-F238E27FC236}">
                <a16:creationId xmlns:a16="http://schemas.microsoft.com/office/drawing/2014/main" id="{654BCE06-49FD-4D87-9FC3-87B0FFC228CA}"/>
              </a:ext>
            </a:extLst>
          </p:cNvPr>
          <p:cNvSpPr>
            <a:spLocks noGrp="1"/>
          </p:cNvSpPr>
          <p:nvPr/>
        </p:nvSpPr>
        <p:spPr>
          <a:xfrm>
            <a:off x="742950" y="2343150"/>
            <a:ext cx="4476750" cy="1238250"/>
          </a:xfrm>
          <a:prstGeom prst="rect">
            <a:avLst/>
          </a:prstGeom>
          <a:noFill/>
          <a:ln w="0">
            <a:noFill/>
            <a:prstDash val="solid"/>
          </a:ln>
        </p:spPr>
        <p:txBody>
          <a:bodyPr wrap="square" lIns="0" tIns="0" rIns="0" bIns="0" anchor="ctr">
            <a:normAutofit/>
          </a:bodyPr>
          <a:lstStyle>
            <a:defPPr>
              <a:defRPr sz="2175" b="1">
                <a:solidFill>
                  <a:srgbClr val="16202B"/>
                </a:solidFill>
                <a:latin typeface="Arial"/>
                <a:ea typeface="Arial"/>
                <a:cs typeface="Arial"/>
              </a:defRPr>
            </a:defPPr>
          </a:lstStyle>
          <a:p>
            <a:pPr>
              <a:buNone/>
              <a:defRPr sz="2175" b="1">
                <a:solidFill>
                  <a:srgbClr val="16202B"/>
                </a:solidFill>
                <a:latin typeface="Arial"/>
                <a:ea typeface="Arial"/>
                <a:cs typeface="Arial"/>
              </a:defRPr>
            </a:pPr>
            <a:r>
              <a:rPr sz="2175" b="1">
                <a:solidFill>
                  <a:srgbClr val="16202B"/>
                </a:solidFill>
                <a:latin typeface="Arial"/>
                <a:ea typeface="Arial"/>
                <a:cs typeface="Arial"/>
              </a:rPr>
              <a:t>A small retailer has order history but limited time to inspect every repeat shopper.</a:t>
            </a:r>
          </a:p>
        </p:txBody>
      </p:sp>
      <p:sp>
        <p:nvSpPr>
          <p:cNvPr id="6" name="Rectangle 5">
            <a:extLst>
              <a:ext uri="{FF2B5EF4-FFF2-40B4-BE49-F238E27FC236}">
                <a16:creationId xmlns:a16="http://schemas.microsoft.com/office/drawing/2014/main" id="{176491E9-A123-4925-A180-36CE87D89C57}"/>
              </a:ext>
            </a:extLst>
          </p:cNvPr>
          <p:cNvSpPr>
            <a:spLocks noGrp="1"/>
          </p:cNvSpPr>
          <p:nvPr/>
        </p:nvSpPr>
        <p:spPr>
          <a:xfrm>
            <a:off x="6572250" y="1952625"/>
            <a:ext cx="3143250" cy="266700"/>
          </a:xfrm>
          <a:prstGeom prst="rect">
            <a:avLst/>
          </a:prstGeom>
          <a:noFill/>
          <a:ln w="0">
            <a:noFill/>
            <a:prstDash val="solid"/>
          </a:ln>
        </p:spPr>
        <p:txBody>
          <a:bodyPr wrap="square" lIns="0" tIns="0" rIns="0" bIns="0" anchor="ctr">
            <a:normAutofit/>
          </a:bodyPr>
          <a:lstStyle>
            <a:defPPr>
              <a:defRPr sz="1125" b="1">
                <a:solidFill>
                  <a:srgbClr val="315BCE"/>
                </a:solidFill>
                <a:latin typeface="Arial"/>
                <a:ea typeface="Arial"/>
                <a:cs typeface="Arial"/>
              </a:defRPr>
            </a:defPPr>
          </a:lstStyle>
          <a:p>
            <a:pPr>
              <a:buNone/>
              <a:defRPr sz="1125" b="1">
                <a:solidFill>
                  <a:srgbClr val="315BCE"/>
                </a:solidFill>
                <a:latin typeface="Arial"/>
                <a:ea typeface="Arial"/>
                <a:cs typeface="Arial"/>
              </a:defRPr>
            </a:pPr>
            <a:r>
              <a:rPr sz="1125" b="1">
                <a:solidFill>
                  <a:srgbClr val="315BCE"/>
                </a:solidFill>
                <a:latin typeface="Arial"/>
                <a:ea typeface="Arial"/>
                <a:cs typeface="Arial"/>
              </a:rPr>
              <a:t>THE GAP</a:t>
            </a:r>
          </a:p>
        </p:txBody>
      </p:sp>
      <p:sp>
        <p:nvSpPr>
          <p:cNvPr id="7" name="Rectangle 6">
            <a:extLst>
              <a:ext uri="{FF2B5EF4-FFF2-40B4-BE49-F238E27FC236}">
                <a16:creationId xmlns:a16="http://schemas.microsoft.com/office/drawing/2014/main" id="{0427C738-2252-4A84-AFF3-A8FB7275D5F5}"/>
              </a:ext>
            </a:extLst>
          </p:cNvPr>
          <p:cNvSpPr>
            <a:spLocks noGrp="1"/>
          </p:cNvSpPr>
          <p:nvPr/>
        </p:nvSpPr>
        <p:spPr>
          <a:xfrm>
            <a:off x="6572250" y="2343150"/>
            <a:ext cx="4572000" cy="1238250"/>
          </a:xfrm>
          <a:prstGeom prst="rect">
            <a:avLst/>
          </a:prstGeom>
          <a:noFill/>
          <a:ln w="0">
            <a:noFill/>
            <a:prstDash val="solid"/>
          </a:ln>
        </p:spPr>
        <p:txBody>
          <a:bodyPr wrap="square" lIns="0" tIns="0" rIns="0" bIns="0" anchor="ctr">
            <a:normAutofit/>
          </a:bodyPr>
          <a:lstStyle>
            <a:defPPr>
              <a:defRPr sz="2175" b="1">
                <a:solidFill>
                  <a:srgbClr val="16202B"/>
                </a:solidFill>
                <a:latin typeface="Arial"/>
                <a:ea typeface="Arial"/>
                <a:cs typeface="Arial"/>
              </a:defRPr>
            </a:defPPr>
          </a:lstStyle>
          <a:p>
            <a:pPr>
              <a:buNone/>
              <a:defRPr sz="2175" b="1">
                <a:solidFill>
                  <a:srgbClr val="16202B"/>
                </a:solidFill>
                <a:latin typeface="Arial"/>
                <a:ea typeface="Arial"/>
                <a:cs typeface="Arial"/>
              </a:defRPr>
            </a:pPr>
            <a:r>
              <a:rPr sz="2175" b="1">
                <a:solidFill>
                  <a:srgbClr val="16202B"/>
                </a:solidFill>
                <a:latin typeface="Arial"/>
                <a:ea typeface="Arial"/>
                <a:cs typeface="Arial"/>
              </a:rPr>
              <a:t>A fixed “inactive for 30 days” rule treats weekly buyers and seasonal buyers alike.</a:t>
            </a:r>
          </a:p>
        </p:txBody>
      </p:sp>
      <p:sp>
        <p:nvSpPr>
          <p:cNvPr id="8" name="Straight Connector 7">
            <a:extLst>
              <a:ext uri="{FF2B5EF4-FFF2-40B4-BE49-F238E27FC236}">
                <a16:creationId xmlns:a16="http://schemas.microsoft.com/office/drawing/2014/main" id="{9029EAE8-5A5C-4573-9457-3A53EA32226D}"/>
              </a:ext>
            </a:extLst>
          </p:cNvPr>
          <p:cNvSpPr>
            <a:spLocks noGrp="1"/>
          </p:cNvSpPr>
          <p:nvPr/>
        </p:nvSpPr>
        <p:spPr>
          <a:xfrm>
            <a:off x="742950" y="4095750"/>
            <a:ext cx="10382250" cy="0"/>
          </a:xfrm>
          <a:prstGeom prst="line">
            <a:avLst/>
          </a:prstGeom>
          <a:ln w="9525">
            <a:solidFill>
              <a:srgbClr val="CFD6E0"/>
            </a:solidFill>
            <a:prstDash val="solid"/>
          </a:ln>
        </p:spPr>
        <p:txBody>
          <a:bodyPr/>
          <a:lstStyle/>
          <a:p>
            <a:endParaRPr/>
          </a:p>
        </p:txBody>
      </p:sp>
      <p:sp>
        <p:nvSpPr>
          <p:cNvPr id="9" name="Rectangle 8">
            <a:extLst>
              <a:ext uri="{FF2B5EF4-FFF2-40B4-BE49-F238E27FC236}">
                <a16:creationId xmlns:a16="http://schemas.microsoft.com/office/drawing/2014/main" id="{9D049E6B-8EFB-49D5-81E5-68B33F88B4D5}"/>
              </a:ext>
            </a:extLst>
          </p:cNvPr>
          <p:cNvSpPr>
            <a:spLocks noGrp="1"/>
          </p:cNvSpPr>
          <p:nvPr/>
        </p:nvSpPr>
        <p:spPr>
          <a:xfrm>
            <a:off x="742950" y="4495800"/>
            <a:ext cx="9906000" cy="857250"/>
          </a:xfrm>
          <a:prstGeom prst="rect">
            <a:avLst/>
          </a:prstGeom>
          <a:noFill/>
          <a:ln w="0">
            <a:noFill/>
            <a:prstDash val="solid"/>
          </a:ln>
        </p:spPr>
        <p:txBody>
          <a:bodyPr wrap="square" lIns="0" tIns="0" rIns="0" bIns="0" anchor="ctr">
            <a:normAutofit/>
          </a:bodyPr>
          <a:lstStyle>
            <a:defPPr>
              <a:defRPr sz="2100" b="0">
                <a:solidFill>
                  <a:srgbClr val="536170"/>
                </a:solidFill>
                <a:latin typeface="Arial"/>
                <a:ea typeface="Arial"/>
                <a:cs typeface="Arial"/>
              </a:defRPr>
            </a:defPPr>
          </a:lstStyle>
          <a:p>
            <a:pPr>
              <a:buNone/>
              <a:defRPr sz="2100" b="0">
                <a:solidFill>
                  <a:srgbClr val="536170"/>
                </a:solidFill>
                <a:latin typeface="Arial"/>
                <a:ea typeface="Arial"/>
                <a:cs typeface="Arial"/>
              </a:defRPr>
            </a:pPr>
            <a:r>
              <a:rPr sz="2100" b="0">
                <a:solidFill>
                  <a:srgbClr val="536170"/>
                </a:solidFill>
                <a:latin typeface="Arial"/>
                <a:ea typeface="Arial"/>
                <a:cs typeface="Arial"/>
              </a:rPr>
              <a:t>Rhythm asks a narrower question: has this shopper gone beyond their own observed repeat pattern?</a:t>
            </a:r>
          </a:p>
        </p:txBody>
      </p:sp>
    </p:spTree>
    <p:extLst>
      <p:ext uri="{BB962C8B-B14F-4D97-AF65-F5344CB8AC3E}">
        <p14:creationId xmlns:p14="http://schemas.microsoft.com/office/powerpoint/2010/main" val="16550947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D32411-2343-4655-9572-9413E2B17698}"/>
              </a:ext>
            </a:extLst>
          </p:cNvPr>
          <p:cNvSpPr>
            <a:spLocks noGrp="1"/>
          </p:cNvSpPr>
          <p:nvPr/>
        </p:nvSpPr>
        <p:spPr>
          <a:xfrm>
            <a:off x="685800" y="342900"/>
            <a:ext cx="7620000" cy="228600"/>
          </a:xfrm>
          <a:prstGeom prst="rect">
            <a:avLst/>
          </a:prstGeom>
          <a:noFill/>
          <a:ln w="0">
            <a:noFill/>
            <a:prstDash val="solid"/>
          </a:ln>
        </p:spPr>
        <p:txBody>
          <a:bodyPr wrap="square" lIns="0" tIns="0" rIns="0" bIns="0" anchor="ctr">
            <a:normAutofit/>
          </a:bodyPr>
          <a:lstStyle>
            <a:defPPr>
              <a:defRPr sz="1050" b="1">
                <a:solidFill>
                  <a:srgbClr val="315BCE"/>
                </a:solidFill>
                <a:latin typeface="Arial"/>
                <a:ea typeface="Arial"/>
                <a:cs typeface="Arial"/>
              </a:defRPr>
            </a:defPPr>
          </a:lstStyle>
          <a:p>
            <a:pPr>
              <a:buNone/>
              <a:defRPr sz="1050" b="1">
                <a:solidFill>
                  <a:srgbClr val="315BCE"/>
                </a:solidFill>
                <a:latin typeface="Arial"/>
                <a:ea typeface="Arial"/>
                <a:cs typeface="Arial"/>
              </a:defRPr>
            </a:pPr>
            <a:r>
              <a:rPr sz="1050" b="1">
                <a:solidFill>
                  <a:srgbClr val="315BCE"/>
                </a:solidFill>
                <a:latin typeface="Arial"/>
                <a:ea typeface="Arial"/>
                <a:cs typeface="Arial"/>
              </a:rPr>
              <a:t>RHYTHM  /  REINVENT COMMERCE</a:t>
            </a:r>
          </a:p>
        </p:txBody>
      </p:sp>
      <p:sp>
        <p:nvSpPr>
          <p:cNvPr id="2" name="Rectangle 1">
            <a:extLst>
              <a:ext uri="{FF2B5EF4-FFF2-40B4-BE49-F238E27FC236}">
                <a16:creationId xmlns:a16="http://schemas.microsoft.com/office/drawing/2014/main" id="{9CE59DFB-28BE-4096-8A76-9F0D1424579D}"/>
              </a:ext>
            </a:extLst>
          </p:cNvPr>
          <p:cNvSpPr>
            <a:spLocks noGrp="1"/>
          </p:cNvSpPr>
          <p:nvPr/>
        </p:nvSpPr>
        <p:spPr>
          <a:xfrm>
            <a:off x="685800" y="819150"/>
            <a:ext cx="10820400" cy="685800"/>
          </a:xfrm>
          <a:prstGeom prst="rect">
            <a:avLst/>
          </a:prstGeom>
          <a:noFill/>
          <a:ln w="0">
            <a:noFill/>
            <a:prstDash val="solid"/>
          </a:ln>
        </p:spPr>
        <p:txBody>
          <a:bodyPr wrap="square" lIns="0" tIns="0" rIns="0" bIns="0" anchor="ctr">
            <a:normAutofit/>
          </a:bodyPr>
          <a:lstStyle>
            <a:defPPr>
              <a:defRPr sz="3000" b="1">
                <a:solidFill>
                  <a:srgbClr val="16202B"/>
                </a:solidFill>
                <a:latin typeface="Arial"/>
                <a:ea typeface="Arial"/>
                <a:cs typeface="Arial"/>
              </a:defRPr>
            </a:defPPr>
          </a:lstStyle>
          <a:p>
            <a:pPr>
              <a:buNone/>
              <a:defRPr sz="3000" b="1">
                <a:solidFill>
                  <a:srgbClr val="16202B"/>
                </a:solidFill>
                <a:latin typeface="Arial"/>
                <a:ea typeface="Arial"/>
                <a:cs typeface="Arial"/>
              </a:defRPr>
            </a:pPr>
            <a:r>
              <a:rPr sz="3000" b="1">
                <a:solidFill>
                  <a:srgbClr val="16202B"/>
                </a:solidFill>
                <a:latin typeface="Arial"/>
                <a:ea typeface="Arial"/>
                <a:cs typeface="Arial"/>
              </a:rPr>
              <a:t>From transaction history to a reviewed action</a:t>
            </a:r>
          </a:p>
        </p:txBody>
      </p:sp>
      <p:sp>
        <p:nvSpPr>
          <p:cNvPr id="3" name="Rectangle 2">
            <a:extLst>
              <a:ext uri="{FF2B5EF4-FFF2-40B4-BE49-F238E27FC236}">
                <a16:creationId xmlns:a16="http://schemas.microsoft.com/office/drawing/2014/main" id="{D9911209-3E9D-4217-BC4A-D4E3FCB6BC58}"/>
              </a:ext>
            </a:extLst>
          </p:cNvPr>
          <p:cNvSpPr>
            <a:spLocks noGrp="1"/>
          </p:cNvSpPr>
          <p:nvPr/>
        </p:nvSpPr>
        <p:spPr>
          <a:xfrm>
            <a:off x="11049000" y="6324600"/>
            <a:ext cx="457200" cy="209550"/>
          </a:xfrm>
          <a:prstGeom prst="rect">
            <a:avLst/>
          </a:prstGeom>
          <a:noFill/>
          <a:ln w="0">
            <a:noFill/>
            <a:prstDash val="solid"/>
          </a:ln>
        </p:spPr>
        <p:txBody>
          <a:bodyPr wrap="square" lIns="0" tIns="0" rIns="0" bIns="0" anchor="ctr">
            <a:normAutofit/>
          </a:bodyPr>
          <a:lstStyle>
            <a:defPPr algn="r">
              <a:defRPr sz="1050" b="1">
                <a:solidFill>
                  <a:srgbClr val="536170"/>
                </a:solidFill>
                <a:latin typeface="Arial"/>
                <a:ea typeface="Arial"/>
                <a:cs typeface="Arial"/>
              </a:defRPr>
            </a:defPPr>
          </a:lstStyle>
          <a:p>
            <a:pPr algn="r">
              <a:buNone/>
              <a:defRPr sz="1050" b="1">
                <a:solidFill>
                  <a:srgbClr val="536170"/>
                </a:solidFill>
                <a:latin typeface="Arial"/>
                <a:ea typeface="Arial"/>
                <a:cs typeface="Arial"/>
              </a:defRPr>
            </a:pPr>
            <a:r>
              <a:rPr sz="1050" b="1">
                <a:solidFill>
                  <a:srgbClr val="536170"/>
                </a:solidFill>
                <a:latin typeface="Arial"/>
                <a:ea typeface="Arial"/>
                <a:cs typeface="Arial"/>
              </a:rPr>
              <a:t>03</a:t>
            </a:r>
          </a:p>
        </p:txBody>
      </p:sp>
      <p:sp>
        <p:nvSpPr>
          <p:cNvPr id="4" name="Rectangle 3">
            <a:extLst>
              <a:ext uri="{FF2B5EF4-FFF2-40B4-BE49-F238E27FC236}">
                <a16:creationId xmlns:a16="http://schemas.microsoft.com/office/drawing/2014/main" id="{A9480323-AC64-46EC-A2C9-983BB7455941}"/>
              </a:ext>
            </a:extLst>
          </p:cNvPr>
          <p:cNvSpPr>
            <a:spLocks noGrp="1"/>
          </p:cNvSpPr>
          <p:nvPr/>
        </p:nvSpPr>
        <p:spPr>
          <a:xfrm>
            <a:off x="762000" y="2133600"/>
            <a:ext cx="3048000" cy="590550"/>
          </a:xfrm>
          <a:prstGeom prst="rect">
            <a:avLst/>
          </a:prstGeom>
          <a:noFill/>
          <a:ln w="0">
            <a:noFill/>
            <a:prstDash val="solid"/>
          </a:ln>
        </p:spPr>
        <p:txBody>
          <a:bodyPr wrap="square" lIns="0" tIns="0" rIns="0" bIns="0" anchor="ctr">
            <a:normAutofit/>
          </a:bodyPr>
          <a:lstStyle>
            <a:defPPr>
              <a:defRPr sz="1800" b="1">
                <a:solidFill>
                  <a:srgbClr val="315BCE"/>
                </a:solidFill>
                <a:latin typeface="Arial"/>
                <a:ea typeface="Arial"/>
                <a:cs typeface="Arial"/>
              </a:defRPr>
            </a:defPPr>
          </a:lstStyle>
          <a:p>
            <a:pPr>
              <a:buNone/>
              <a:defRPr sz="1800" b="1">
                <a:solidFill>
                  <a:srgbClr val="315BCE"/>
                </a:solidFill>
                <a:latin typeface="Arial"/>
                <a:ea typeface="Arial"/>
                <a:cs typeface="Arial"/>
              </a:defRPr>
            </a:pPr>
            <a:r>
              <a:rPr sz="1800" b="1">
                <a:solidFill>
                  <a:srgbClr val="315BCE"/>
                </a:solidFill>
                <a:latin typeface="Arial"/>
                <a:ea typeface="Arial"/>
                <a:cs typeface="Arial"/>
              </a:rPr>
              <a:t>1  Find a changed cadence</a:t>
            </a:r>
          </a:p>
        </p:txBody>
      </p:sp>
      <p:sp>
        <p:nvSpPr>
          <p:cNvPr id="5" name="Straight Connector 4">
            <a:extLst>
              <a:ext uri="{FF2B5EF4-FFF2-40B4-BE49-F238E27FC236}">
                <a16:creationId xmlns:a16="http://schemas.microsoft.com/office/drawing/2014/main" id="{137659FD-28DB-46C0-9FB5-C53F1C03070C}"/>
              </a:ext>
            </a:extLst>
          </p:cNvPr>
          <p:cNvSpPr>
            <a:spLocks noGrp="1"/>
          </p:cNvSpPr>
          <p:nvPr/>
        </p:nvSpPr>
        <p:spPr>
          <a:xfrm>
            <a:off x="762000" y="2895600"/>
            <a:ext cx="3048000" cy="0"/>
          </a:xfrm>
          <a:prstGeom prst="line">
            <a:avLst/>
          </a:prstGeom>
          <a:ln w="9525">
            <a:solidFill>
              <a:srgbClr val="315BCE"/>
            </a:solidFill>
            <a:prstDash val="solid"/>
          </a:ln>
        </p:spPr>
        <p:txBody>
          <a:bodyPr/>
          <a:lstStyle/>
          <a:p>
            <a:endParaRPr/>
          </a:p>
        </p:txBody>
      </p:sp>
      <p:sp>
        <p:nvSpPr>
          <p:cNvPr id="6" name="Rectangle 5">
            <a:extLst>
              <a:ext uri="{FF2B5EF4-FFF2-40B4-BE49-F238E27FC236}">
                <a16:creationId xmlns:a16="http://schemas.microsoft.com/office/drawing/2014/main" id="{48E4B5B7-6B50-40F1-94B6-F15FFE00AEC3}"/>
              </a:ext>
            </a:extLst>
          </p:cNvPr>
          <p:cNvSpPr>
            <a:spLocks noGrp="1"/>
          </p:cNvSpPr>
          <p:nvPr/>
        </p:nvSpPr>
        <p:spPr>
          <a:xfrm>
            <a:off x="762000" y="3181350"/>
            <a:ext cx="3048000" cy="1619250"/>
          </a:xfrm>
          <a:prstGeom prst="rect">
            <a:avLst/>
          </a:prstGeom>
          <a:noFill/>
          <a:ln w="0">
            <a:noFill/>
            <a:prstDash val="solid"/>
          </a:ln>
        </p:spPr>
        <p:txBody>
          <a:bodyPr wrap="square" lIns="0" tIns="0" rIns="0" bIns="0" anchor="t">
            <a:normAutofit/>
          </a:bodyPr>
          <a:lstStyle>
            <a:defPPr>
              <a:defRPr sz="1650" b="0">
                <a:solidFill>
                  <a:srgbClr val="16202B"/>
                </a:solidFill>
                <a:latin typeface="Arial"/>
                <a:ea typeface="Arial"/>
                <a:cs typeface="Arial"/>
              </a:defRPr>
            </a:defPPr>
          </a:lstStyle>
          <a:p>
            <a:pPr>
              <a:buNone/>
              <a:defRPr sz="1650" b="0">
                <a:solidFill>
                  <a:srgbClr val="16202B"/>
                </a:solidFill>
                <a:latin typeface="Arial"/>
                <a:ea typeface="Arial"/>
                <a:cs typeface="Arial"/>
              </a:defRPr>
            </a:pPr>
            <a:r>
              <a:rPr sz="1650" b="0">
                <a:solidFill>
                  <a:srgbClr val="16202B"/>
                </a:solidFill>
                <a:latin typeface="Arial"/>
                <a:ea typeface="Arial"/>
                <a:cs typeface="Arial"/>
              </a:rPr>
              <a:t>Analyze a sales CSV in the browser. Rank repeat items by overdue shopper count.</a:t>
            </a:r>
          </a:p>
        </p:txBody>
      </p:sp>
      <p:sp>
        <p:nvSpPr>
          <p:cNvPr id="7" name="Rectangle 6">
            <a:extLst>
              <a:ext uri="{FF2B5EF4-FFF2-40B4-BE49-F238E27FC236}">
                <a16:creationId xmlns:a16="http://schemas.microsoft.com/office/drawing/2014/main" id="{8C8CCA25-FD70-4005-9F49-EC188E7CEA94}"/>
              </a:ext>
            </a:extLst>
          </p:cNvPr>
          <p:cNvSpPr>
            <a:spLocks noGrp="1"/>
          </p:cNvSpPr>
          <p:nvPr/>
        </p:nvSpPr>
        <p:spPr>
          <a:xfrm>
            <a:off x="4524375" y="2133600"/>
            <a:ext cx="3048000" cy="590550"/>
          </a:xfrm>
          <a:prstGeom prst="rect">
            <a:avLst/>
          </a:prstGeom>
          <a:noFill/>
          <a:ln w="0">
            <a:noFill/>
            <a:prstDash val="solid"/>
          </a:ln>
        </p:spPr>
        <p:txBody>
          <a:bodyPr wrap="square" lIns="0" tIns="0" rIns="0" bIns="0" anchor="ctr">
            <a:normAutofit/>
          </a:bodyPr>
          <a:lstStyle>
            <a:defPPr>
              <a:defRPr sz="1800" b="1">
                <a:solidFill>
                  <a:srgbClr val="315BCE"/>
                </a:solidFill>
                <a:latin typeface="Arial"/>
                <a:ea typeface="Arial"/>
                <a:cs typeface="Arial"/>
              </a:defRPr>
            </a:defPPr>
          </a:lstStyle>
          <a:p>
            <a:pPr>
              <a:buNone/>
              <a:defRPr sz="1800" b="1">
                <a:solidFill>
                  <a:srgbClr val="315BCE"/>
                </a:solidFill>
                <a:latin typeface="Arial"/>
                <a:ea typeface="Arial"/>
                <a:cs typeface="Arial"/>
              </a:defRPr>
            </a:pPr>
            <a:r>
              <a:rPr sz="1800" b="1">
                <a:solidFill>
                  <a:srgbClr val="315BCE"/>
                </a:solidFill>
                <a:latin typeface="Arial"/>
                <a:ea typeface="Arial"/>
                <a:cs typeface="Arial"/>
              </a:rPr>
              <a:t>2  Inspect the evidence</a:t>
            </a:r>
          </a:p>
        </p:txBody>
      </p:sp>
      <p:sp>
        <p:nvSpPr>
          <p:cNvPr id="8" name="Straight Connector 7">
            <a:extLst>
              <a:ext uri="{FF2B5EF4-FFF2-40B4-BE49-F238E27FC236}">
                <a16:creationId xmlns:a16="http://schemas.microsoft.com/office/drawing/2014/main" id="{2FD6422C-4100-4C6F-BD42-A4884315C52E}"/>
              </a:ext>
            </a:extLst>
          </p:cNvPr>
          <p:cNvSpPr>
            <a:spLocks noGrp="1"/>
          </p:cNvSpPr>
          <p:nvPr/>
        </p:nvSpPr>
        <p:spPr>
          <a:xfrm>
            <a:off x="4524375" y="2895600"/>
            <a:ext cx="3048000" cy="0"/>
          </a:xfrm>
          <a:prstGeom prst="line">
            <a:avLst/>
          </a:prstGeom>
          <a:ln w="9525">
            <a:solidFill>
              <a:srgbClr val="315BCE"/>
            </a:solidFill>
            <a:prstDash val="solid"/>
          </a:ln>
        </p:spPr>
        <p:txBody>
          <a:bodyPr/>
          <a:lstStyle/>
          <a:p>
            <a:endParaRPr/>
          </a:p>
        </p:txBody>
      </p:sp>
      <p:sp>
        <p:nvSpPr>
          <p:cNvPr id="9" name="Rectangle 8">
            <a:extLst>
              <a:ext uri="{FF2B5EF4-FFF2-40B4-BE49-F238E27FC236}">
                <a16:creationId xmlns:a16="http://schemas.microsoft.com/office/drawing/2014/main" id="{C7E259CB-B1F2-4D44-94BE-ABA33B9EDE15}"/>
              </a:ext>
            </a:extLst>
          </p:cNvPr>
          <p:cNvSpPr>
            <a:spLocks noGrp="1"/>
          </p:cNvSpPr>
          <p:nvPr/>
        </p:nvSpPr>
        <p:spPr>
          <a:xfrm>
            <a:off x="4524375" y="3181350"/>
            <a:ext cx="3048000" cy="1619250"/>
          </a:xfrm>
          <a:prstGeom prst="rect">
            <a:avLst/>
          </a:prstGeom>
          <a:noFill/>
          <a:ln w="0">
            <a:noFill/>
            <a:prstDash val="solid"/>
          </a:ln>
        </p:spPr>
        <p:txBody>
          <a:bodyPr wrap="square" lIns="0" tIns="0" rIns="0" bIns="0" anchor="t">
            <a:normAutofit/>
          </a:bodyPr>
          <a:lstStyle>
            <a:defPPr>
              <a:defRPr sz="1650" b="0">
                <a:solidFill>
                  <a:srgbClr val="16202B"/>
                </a:solidFill>
                <a:latin typeface="Arial"/>
                <a:ea typeface="Arial"/>
                <a:cs typeface="Arial"/>
              </a:defRPr>
            </a:defPPr>
          </a:lstStyle>
          <a:p>
            <a:pPr>
              <a:buNone/>
              <a:defRPr sz="1650" b="0">
                <a:solidFill>
                  <a:srgbClr val="16202B"/>
                </a:solidFill>
                <a:latin typeface="Arial"/>
                <a:ea typeface="Arial"/>
                <a:cs typeface="Arial"/>
              </a:defRPr>
            </a:pPr>
            <a:r>
              <a:rPr sz="1650" b="0">
                <a:solidFill>
                  <a:srgbClr val="16202B"/>
                </a:solidFill>
                <a:latin typeface="Arial"/>
                <a:ea typeface="Arial"/>
                <a:cs typeface="Arial"/>
              </a:rPr>
              <a:t>Review the shopper’s last order, usual gap, time elapsed, and most repeated item. IDs stay masked in the interface.</a:t>
            </a:r>
          </a:p>
        </p:txBody>
      </p:sp>
      <p:sp>
        <p:nvSpPr>
          <p:cNvPr id="10" name="Rectangle 9">
            <a:extLst>
              <a:ext uri="{FF2B5EF4-FFF2-40B4-BE49-F238E27FC236}">
                <a16:creationId xmlns:a16="http://schemas.microsoft.com/office/drawing/2014/main" id="{306A24E8-0CD3-4D78-9949-7EF77B298B69}"/>
              </a:ext>
            </a:extLst>
          </p:cNvPr>
          <p:cNvSpPr>
            <a:spLocks noGrp="1"/>
          </p:cNvSpPr>
          <p:nvPr/>
        </p:nvSpPr>
        <p:spPr>
          <a:xfrm>
            <a:off x="8286750" y="2133600"/>
            <a:ext cx="3048000" cy="590550"/>
          </a:xfrm>
          <a:prstGeom prst="rect">
            <a:avLst/>
          </a:prstGeom>
          <a:noFill/>
          <a:ln w="0">
            <a:noFill/>
            <a:prstDash val="solid"/>
          </a:ln>
        </p:spPr>
        <p:txBody>
          <a:bodyPr wrap="square" lIns="0" tIns="0" rIns="0" bIns="0" anchor="ctr">
            <a:normAutofit/>
          </a:bodyPr>
          <a:lstStyle>
            <a:defPPr>
              <a:defRPr sz="1800" b="1">
                <a:solidFill>
                  <a:srgbClr val="315BCE"/>
                </a:solidFill>
                <a:latin typeface="Arial"/>
                <a:ea typeface="Arial"/>
                <a:cs typeface="Arial"/>
              </a:defRPr>
            </a:defPPr>
          </a:lstStyle>
          <a:p>
            <a:pPr>
              <a:buNone/>
              <a:defRPr sz="1800" b="1">
                <a:solidFill>
                  <a:srgbClr val="315BCE"/>
                </a:solidFill>
                <a:latin typeface="Arial"/>
                <a:ea typeface="Arial"/>
                <a:cs typeface="Arial"/>
              </a:defRPr>
            </a:pPr>
            <a:r>
              <a:rPr sz="1800" b="1">
                <a:solidFill>
                  <a:srgbClr val="315BCE"/>
                </a:solidFill>
                <a:latin typeface="Arial"/>
                <a:ea typeface="Arial"/>
                <a:cs typeface="Arial"/>
              </a:rPr>
              <a:t>3  Draft with a human</a:t>
            </a:r>
          </a:p>
        </p:txBody>
      </p:sp>
      <p:sp>
        <p:nvSpPr>
          <p:cNvPr id="11" name="Straight Connector 10">
            <a:extLst>
              <a:ext uri="{FF2B5EF4-FFF2-40B4-BE49-F238E27FC236}">
                <a16:creationId xmlns:a16="http://schemas.microsoft.com/office/drawing/2014/main" id="{45C1022B-66AD-4C79-BBA6-FD3CD062EF69}"/>
              </a:ext>
            </a:extLst>
          </p:cNvPr>
          <p:cNvSpPr>
            <a:spLocks noGrp="1"/>
          </p:cNvSpPr>
          <p:nvPr/>
        </p:nvSpPr>
        <p:spPr>
          <a:xfrm>
            <a:off x="8286750" y="2895600"/>
            <a:ext cx="3048000" cy="0"/>
          </a:xfrm>
          <a:prstGeom prst="line">
            <a:avLst/>
          </a:prstGeom>
          <a:ln w="9525">
            <a:solidFill>
              <a:srgbClr val="315BCE"/>
            </a:solidFill>
            <a:prstDash val="solid"/>
          </a:ln>
        </p:spPr>
        <p:txBody>
          <a:bodyPr/>
          <a:lstStyle/>
          <a:p>
            <a:endParaRPr/>
          </a:p>
        </p:txBody>
      </p:sp>
      <p:sp>
        <p:nvSpPr>
          <p:cNvPr id="12" name="Rectangle 11">
            <a:extLst>
              <a:ext uri="{FF2B5EF4-FFF2-40B4-BE49-F238E27FC236}">
                <a16:creationId xmlns:a16="http://schemas.microsoft.com/office/drawing/2014/main" id="{1A78F9FA-40D0-48DD-AD5F-0CBB3EA16B88}"/>
              </a:ext>
            </a:extLst>
          </p:cNvPr>
          <p:cNvSpPr>
            <a:spLocks noGrp="1"/>
          </p:cNvSpPr>
          <p:nvPr/>
        </p:nvSpPr>
        <p:spPr>
          <a:xfrm>
            <a:off x="8286750" y="3181350"/>
            <a:ext cx="3048000" cy="1619250"/>
          </a:xfrm>
          <a:prstGeom prst="rect">
            <a:avLst/>
          </a:prstGeom>
          <a:noFill/>
          <a:ln w="0">
            <a:noFill/>
            <a:prstDash val="solid"/>
          </a:ln>
        </p:spPr>
        <p:txBody>
          <a:bodyPr wrap="square" lIns="0" tIns="0" rIns="0" bIns="0" anchor="t">
            <a:normAutofit/>
          </a:bodyPr>
          <a:lstStyle>
            <a:defPPr>
              <a:defRPr sz="1650" b="0">
                <a:solidFill>
                  <a:srgbClr val="16202B"/>
                </a:solidFill>
                <a:latin typeface="Arial"/>
                <a:ea typeface="Arial"/>
                <a:cs typeface="Arial"/>
              </a:defRPr>
            </a:defPPr>
          </a:lstStyle>
          <a:p>
            <a:pPr>
              <a:buNone/>
              <a:defRPr sz="1650" b="0">
                <a:solidFill>
                  <a:srgbClr val="16202B"/>
                </a:solidFill>
                <a:latin typeface="Arial"/>
                <a:ea typeface="Arial"/>
                <a:cs typeface="Arial"/>
              </a:defRPr>
            </a:pPr>
            <a:r>
              <a:rPr sz="1650" b="0">
                <a:solidFill>
                  <a:srgbClr val="16202B"/>
                </a:solidFill>
                <a:latin typeface="Arial"/>
                <a:ea typeface="Arial"/>
                <a:cs typeface="Arial"/>
              </a:rPr>
              <a:t>Optionally ask Gemma for a low pressure reorder reminder. A person reviews it. Rhythm never sends messages.</a:t>
            </a:r>
          </a:p>
        </p:txBody>
      </p:sp>
      <p:sp>
        <p:nvSpPr>
          <p:cNvPr id="13" name="Rectangle 12">
            <a:extLst>
              <a:ext uri="{FF2B5EF4-FFF2-40B4-BE49-F238E27FC236}">
                <a16:creationId xmlns:a16="http://schemas.microsoft.com/office/drawing/2014/main" id="{4E358F0D-4231-4ADA-B052-D2E94CBD9973}"/>
              </a:ext>
            </a:extLst>
          </p:cNvPr>
          <p:cNvSpPr>
            <a:spLocks noGrp="1"/>
          </p:cNvSpPr>
          <p:nvPr/>
        </p:nvSpPr>
        <p:spPr>
          <a:xfrm>
            <a:off x="762000" y="5334000"/>
            <a:ext cx="10096500" cy="438150"/>
          </a:xfrm>
          <a:prstGeom prst="rect">
            <a:avLst/>
          </a:prstGeom>
          <a:noFill/>
          <a:ln w="0">
            <a:noFill/>
            <a:prstDash val="solid"/>
          </a:ln>
        </p:spPr>
        <p:txBody>
          <a:bodyPr wrap="square" lIns="0" tIns="0" rIns="0" bIns="0" anchor="ctr">
            <a:normAutofit/>
          </a:bodyPr>
          <a:lstStyle>
            <a:defPPr>
              <a:defRPr sz="1800" b="1">
                <a:solidFill>
                  <a:srgbClr val="536170"/>
                </a:solidFill>
                <a:latin typeface="Arial"/>
                <a:ea typeface="Arial"/>
                <a:cs typeface="Arial"/>
              </a:defRPr>
            </a:defPPr>
          </a:lstStyle>
          <a:p>
            <a:pPr>
              <a:buNone/>
              <a:defRPr sz="1800" b="1">
                <a:solidFill>
                  <a:srgbClr val="536170"/>
                </a:solidFill>
                <a:latin typeface="Arial"/>
                <a:ea typeface="Arial"/>
                <a:cs typeface="Arial"/>
              </a:defRPr>
            </a:pPr>
            <a:r>
              <a:rPr sz="1800" b="1">
                <a:solidFill>
                  <a:srgbClr val="536170"/>
                </a:solidFill>
                <a:latin typeface="Arial"/>
                <a:ea typeface="Arial"/>
                <a:cs typeface="Arial"/>
              </a:rPr>
              <a:t>The model writes wording. A deterministic rule creates the review signal.</a:t>
            </a:r>
          </a:p>
        </p:txBody>
      </p:sp>
    </p:spTree>
    <p:extLst>
      <p:ext uri="{BB962C8B-B14F-4D97-AF65-F5344CB8AC3E}">
        <p14:creationId xmlns:p14="http://schemas.microsoft.com/office/powerpoint/2010/main" val="19060747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AB3DA18-CB60-4AC1-A71F-F369022885B0}"/>
              </a:ext>
            </a:extLst>
          </p:cNvPr>
          <p:cNvSpPr>
            <a:spLocks noGrp="1"/>
          </p:cNvSpPr>
          <p:nvPr/>
        </p:nvSpPr>
        <p:spPr>
          <a:xfrm>
            <a:off x="685800" y="342900"/>
            <a:ext cx="7620000" cy="228600"/>
          </a:xfrm>
          <a:prstGeom prst="rect">
            <a:avLst/>
          </a:prstGeom>
          <a:noFill/>
          <a:ln w="0">
            <a:noFill/>
            <a:prstDash val="solid"/>
          </a:ln>
        </p:spPr>
        <p:txBody>
          <a:bodyPr wrap="square" lIns="0" tIns="0" rIns="0" bIns="0" anchor="ctr">
            <a:normAutofit/>
          </a:bodyPr>
          <a:lstStyle>
            <a:defPPr>
              <a:defRPr sz="1050" b="1">
                <a:solidFill>
                  <a:srgbClr val="315BCE"/>
                </a:solidFill>
                <a:latin typeface="Arial"/>
                <a:ea typeface="Arial"/>
                <a:cs typeface="Arial"/>
              </a:defRPr>
            </a:defPPr>
          </a:lstStyle>
          <a:p>
            <a:pPr>
              <a:buNone/>
              <a:defRPr sz="1050" b="1">
                <a:solidFill>
                  <a:srgbClr val="315BCE"/>
                </a:solidFill>
                <a:latin typeface="Arial"/>
                <a:ea typeface="Arial"/>
                <a:cs typeface="Arial"/>
              </a:defRPr>
            </a:pPr>
            <a:r>
              <a:rPr sz="1050" b="1">
                <a:solidFill>
                  <a:srgbClr val="315BCE"/>
                </a:solidFill>
                <a:latin typeface="Arial"/>
                <a:ea typeface="Arial"/>
                <a:cs typeface="Arial"/>
              </a:rPr>
              <a:t>RHYTHM  /  REINVENT COMMERCE</a:t>
            </a:r>
          </a:p>
        </p:txBody>
      </p:sp>
      <p:sp>
        <p:nvSpPr>
          <p:cNvPr id="2" name="Rectangle 1">
            <a:extLst>
              <a:ext uri="{FF2B5EF4-FFF2-40B4-BE49-F238E27FC236}">
                <a16:creationId xmlns:a16="http://schemas.microsoft.com/office/drawing/2014/main" id="{DA608729-6613-422D-A41A-D008DE6B971B}"/>
              </a:ext>
            </a:extLst>
          </p:cNvPr>
          <p:cNvSpPr>
            <a:spLocks noGrp="1"/>
          </p:cNvSpPr>
          <p:nvPr/>
        </p:nvSpPr>
        <p:spPr>
          <a:xfrm>
            <a:off x="685800" y="819150"/>
            <a:ext cx="10820400" cy="685800"/>
          </a:xfrm>
          <a:prstGeom prst="rect">
            <a:avLst/>
          </a:prstGeom>
          <a:noFill/>
          <a:ln w="0">
            <a:noFill/>
            <a:prstDash val="solid"/>
          </a:ln>
        </p:spPr>
        <p:txBody>
          <a:bodyPr wrap="square" lIns="0" tIns="0" rIns="0" bIns="0" anchor="ctr">
            <a:normAutofit/>
          </a:bodyPr>
          <a:lstStyle>
            <a:defPPr>
              <a:defRPr sz="3000" b="1">
                <a:solidFill>
                  <a:srgbClr val="16202B"/>
                </a:solidFill>
                <a:latin typeface="Arial"/>
                <a:ea typeface="Arial"/>
                <a:cs typeface="Arial"/>
              </a:defRPr>
            </a:defPPr>
          </a:lstStyle>
          <a:p>
            <a:pPr>
              <a:buNone/>
              <a:defRPr sz="3000" b="1">
                <a:solidFill>
                  <a:srgbClr val="16202B"/>
                </a:solidFill>
                <a:latin typeface="Arial"/>
                <a:ea typeface="Arial"/>
                <a:cs typeface="Arial"/>
              </a:defRPr>
            </a:pPr>
            <a:r>
              <a:rPr sz="3000" b="1">
                <a:solidFill>
                  <a:srgbClr val="16202B"/>
                </a:solidFill>
                <a:latin typeface="Arial"/>
                <a:ea typeface="Arial"/>
                <a:cs typeface="Arial"/>
              </a:rPr>
              <a:t>A transparent personal cadence rule</a:t>
            </a:r>
          </a:p>
        </p:txBody>
      </p:sp>
      <p:sp>
        <p:nvSpPr>
          <p:cNvPr id="3" name="Rectangle 2">
            <a:extLst>
              <a:ext uri="{FF2B5EF4-FFF2-40B4-BE49-F238E27FC236}">
                <a16:creationId xmlns:a16="http://schemas.microsoft.com/office/drawing/2014/main" id="{9AF7AFBB-6CC4-4FC2-91C0-ED7D91AA97D5}"/>
              </a:ext>
            </a:extLst>
          </p:cNvPr>
          <p:cNvSpPr>
            <a:spLocks noGrp="1"/>
          </p:cNvSpPr>
          <p:nvPr/>
        </p:nvSpPr>
        <p:spPr>
          <a:xfrm>
            <a:off x="11049000" y="6324600"/>
            <a:ext cx="457200" cy="209550"/>
          </a:xfrm>
          <a:prstGeom prst="rect">
            <a:avLst/>
          </a:prstGeom>
          <a:noFill/>
          <a:ln w="0">
            <a:noFill/>
            <a:prstDash val="solid"/>
          </a:ln>
        </p:spPr>
        <p:txBody>
          <a:bodyPr wrap="square" lIns="0" tIns="0" rIns="0" bIns="0" anchor="ctr">
            <a:normAutofit/>
          </a:bodyPr>
          <a:lstStyle>
            <a:defPPr algn="r">
              <a:defRPr sz="1050" b="1">
                <a:solidFill>
                  <a:srgbClr val="536170"/>
                </a:solidFill>
                <a:latin typeface="Arial"/>
                <a:ea typeface="Arial"/>
                <a:cs typeface="Arial"/>
              </a:defRPr>
            </a:defPPr>
          </a:lstStyle>
          <a:p>
            <a:pPr algn="r">
              <a:buNone/>
              <a:defRPr sz="1050" b="1">
                <a:solidFill>
                  <a:srgbClr val="536170"/>
                </a:solidFill>
                <a:latin typeface="Arial"/>
                <a:ea typeface="Arial"/>
                <a:cs typeface="Arial"/>
              </a:defRPr>
            </a:pPr>
            <a:r>
              <a:rPr sz="1050" b="1">
                <a:solidFill>
                  <a:srgbClr val="536170"/>
                </a:solidFill>
                <a:latin typeface="Arial"/>
                <a:ea typeface="Arial"/>
                <a:cs typeface="Arial"/>
              </a:rPr>
              <a:t>04</a:t>
            </a:r>
          </a:p>
        </p:txBody>
      </p:sp>
      <p:sp>
        <p:nvSpPr>
          <p:cNvPr id="4" name="Rectangle 3">
            <a:extLst>
              <a:ext uri="{FF2B5EF4-FFF2-40B4-BE49-F238E27FC236}">
                <a16:creationId xmlns:a16="http://schemas.microsoft.com/office/drawing/2014/main" id="{94223111-A8DC-484A-9172-CB26BECA4563}"/>
              </a:ext>
            </a:extLst>
          </p:cNvPr>
          <p:cNvSpPr>
            <a:spLocks noGrp="1"/>
          </p:cNvSpPr>
          <p:nvPr/>
        </p:nvSpPr>
        <p:spPr>
          <a:xfrm>
            <a:off x="762000" y="2038350"/>
            <a:ext cx="2381250" cy="228600"/>
          </a:xfrm>
          <a:prstGeom prst="rect">
            <a:avLst/>
          </a:prstGeom>
          <a:noFill/>
          <a:ln w="0">
            <a:noFill/>
            <a:prstDash val="solid"/>
          </a:ln>
        </p:spPr>
        <p:txBody>
          <a:bodyPr wrap="square" lIns="0" tIns="0" rIns="0" bIns="0" anchor="ctr">
            <a:normAutofit/>
          </a:bodyPr>
          <a:lstStyle>
            <a:defPPr>
              <a:defRPr sz="1125" b="1">
                <a:solidFill>
                  <a:srgbClr val="315BCE"/>
                </a:solidFill>
                <a:latin typeface="Arial"/>
                <a:ea typeface="Arial"/>
                <a:cs typeface="Arial"/>
              </a:defRPr>
            </a:defPPr>
          </a:lstStyle>
          <a:p>
            <a:pPr>
              <a:buNone/>
              <a:defRPr sz="1125" b="1">
                <a:solidFill>
                  <a:srgbClr val="315BCE"/>
                </a:solidFill>
                <a:latin typeface="Arial"/>
                <a:ea typeface="Arial"/>
                <a:cs typeface="Arial"/>
              </a:defRPr>
            </a:pPr>
            <a:r>
              <a:rPr sz="1125" b="1">
                <a:solidFill>
                  <a:srgbClr val="315BCE"/>
                </a:solidFill>
                <a:latin typeface="Arial"/>
                <a:ea typeface="Arial"/>
                <a:cs typeface="Arial"/>
              </a:rPr>
              <a:t>ELIGIBILITY</a:t>
            </a:r>
          </a:p>
        </p:txBody>
      </p:sp>
      <p:sp>
        <p:nvSpPr>
          <p:cNvPr id="5" name="Rectangle 4">
            <a:extLst>
              <a:ext uri="{FF2B5EF4-FFF2-40B4-BE49-F238E27FC236}">
                <a16:creationId xmlns:a16="http://schemas.microsoft.com/office/drawing/2014/main" id="{9BC93365-EAC2-42B5-8697-EEB31AD40825}"/>
              </a:ext>
            </a:extLst>
          </p:cNvPr>
          <p:cNvSpPr>
            <a:spLocks noGrp="1"/>
          </p:cNvSpPr>
          <p:nvPr/>
        </p:nvSpPr>
        <p:spPr>
          <a:xfrm>
            <a:off x="762000" y="2400300"/>
            <a:ext cx="4476750" cy="552450"/>
          </a:xfrm>
          <a:prstGeom prst="rect">
            <a:avLst/>
          </a:prstGeom>
          <a:noFill/>
          <a:ln w="0">
            <a:noFill/>
            <a:prstDash val="solid"/>
          </a:ln>
        </p:spPr>
        <p:txBody>
          <a:bodyPr wrap="square" lIns="0" tIns="0" rIns="0" bIns="0" anchor="ctr">
            <a:normAutofit fontScale="99009"/>
          </a:bodyPr>
          <a:lstStyle>
            <a:defPPr>
              <a:defRPr sz="2100" b="1">
                <a:solidFill>
                  <a:srgbClr val="16202B"/>
                </a:solidFill>
                <a:latin typeface="Arial"/>
                <a:ea typeface="Arial"/>
                <a:cs typeface="Arial"/>
              </a:defRPr>
            </a:defPPr>
          </a:lstStyle>
          <a:p>
            <a:pPr>
              <a:buNone/>
              <a:defRPr sz="2100" b="1">
                <a:solidFill>
                  <a:srgbClr val="16202B"/>
                </a:solidFill>
                <a:latin typeface="Arial"/>
                <a:ea typeface="Arial"/>
                <a:cs typeface="Arial"/>
              </a:defRPr>
            </a:pPr>
            <a:r>
              <a:rPr sz="2100" b="1">
                <a:solidFill>
                  <a:srgbClr val="16202B"/>
                </a:solidFill>
                <a:latin typeface="Arial"/>
                <a:ea typeface="Arial"/>
                <a:cs typeface="Arial"/>
              </a:rPr>
              <a:t>At least four distinct purchase days</a:t>
            </a:r>
          </a:p>
        </p:txBody>
      </p:sp>
      <p:sp>
        <p:nvSpPr>
          <p:cNvPr id="6" name="Rectangle 5">
            <a:extLst>
              <a:ext uri="{FF2B5EF4-FFF2-40B4-BE49-F238E27FC236}">
                <a16:creationId xmlns:a16="http://schemas.microsoft.com/office/drawing/2014/main" id="{DBC3F546-AA76-443A-97FB-0ECF0BC9CC35}"/>
              </a:ext>
            </a:extLst>
          </p:cNvPr>
          <p:cNvSpPr>
            <a:spLocks noGrp="1"/>
          </p:cNvSpPr>
          <p:nvPr/>
        </p:nvSpPr>
        <p:spPr>
          <a:xfrm>
            <a:off x="762000" y="3314700"/>
            <a:ext cx="2381250" cy="228600"/>
          </a:xfrm>
          <a:prstGeom prst="rect">
            <a:avLst/>
          </a:prstGeom>
          <a:noFill/>
          <a:ln w="0">
            <a:noFill/>
            <a:prstDash val="solid"/>
          </a:ln>
        </p:spPr>
        <p:txBody>
          <a:bodyPr wrap="square" lIns="0" tIns="0" rIns="0" bIns="0" anchor="ctr">
            <a:normAutofit/>
          </a:bodyPr>
          <a:lstStyle>
            <a:defPPr>
              <a:defRPr sz="1125" b="1">
                <a:solidFill>
                  <a:srgbClr val="315BCE"/>
                </a:solidFill>
                <a:latin typeface="Arial"/>
                <a:ea typeface="Arial"/>
                <a:cs typeface="Arial"/>
              </a:defRPr>
            </a:defPPr>
          </a:lstStyle>
          <a:p>
            <a:pPr>
              <a:buNone/>
              <a:defRPr sz="1125" b="1">
                <a:solidFill>
                  <a:srgbClr val="315BCE"/>
                </a:solidFill>
                <a:latin typeface="Arial"/>
                <a:ea typeface="Arial"/>
                <a:cs typeface="Arial"/>
              </a:defRPr>
            </a:pPr>
            <a:r>
              <a:rPr sz="1125" b="1">
                <a:solidFill>
                  <a:srgbClr val="315BCE"/>
                </a:solidFill>
                <a:latin typeface="Arial"/>
                <a:ea typeface="Arial"/>
                <a:cs typeface="Arial"/>
              </a:rPr>
              <a:t>THRESHOLD</a:t>
            </a:r>
          </a:p>
        </p:txBody>
      </p:sp>
      <p:sp>
        <p:nvSpPr>
          <p:cNvPr id="7" name="Rectangle 6">
            <a:extLst>
              <a:ext uri="{FF2B5EF4-FFF2-40B4-BE49-F238E27FC236}">
                <a16:creationId xmlns:a16="http://schemas.microsoft.com/office/drawing/2014/main" id="{E8C19C73-52C1-44C1-82C3-FEDF66A7FBEE}"/>
              </a:ext>
            </a:extLst>
          </p:cNvPr>
          <p:cNvSpPr>
            <a:spLocks noGrp="1"/>
          </p:cNvSpPr>
          <p:nvPr/>
        </p:nvSpPr>
        <p:spPr>
          <a:xfrm>
            <a:off x="762000" y="3695700"/>
            <a:ext cx="6191250" cy="609600"/>
          </a:xfrm>
          <a:prstGeom prst="rect">
            <a:avLst/>
          </a:prstGeom>
          <a:noFill/>
          <a:ln w="0">
            <a:noFill/>
            <a:prstDash val="solid"/>
          </a:ln>
        </p:spPr>
        <p:txBody>
          <a:bodyPr wrap="square" lIns="0" tIns="0" rIns="0" bIns="0" anchor="ctr">
            <a:normAutofit/>
          </a:bodyPr>
          <a:lstStyle>
            <a:defPPr>
              <a:defRPr sz="2325" b="1">
                <a:solidFill>
                  <a:srgbClr val="16202B"/>
                </a:solidFill>
                <a:latin typeface="Arial"/>
                <a:ea typeface="Arial"/>
                <a:cs typeface="Arial"/>
              </a:defRPr>
            </a:defPPr>
          </a:lstStyle>
          <a:p>
            <a:pPr>
              <a:buNone/>
              <a:defRPr sz="2325" b="1">
                <a:solidFill>
                  <a:srgbClr val="16202B"/>
                </a:solidFill>
                <a:latin typeface="Arial"/>
                <a:ea typeface="Arial"/>
                <a:cs typeface="Arial"/>
              </a:defRPr>
            </a:pPr>
            <a:r>
              <a:rPr sz="2325" b="1">
                <a:solidFill>
                  <a:srgbClr val="16202B"/>
                </a:solidFill>
                <a:latin typeface="Arial"/>
                <a:ea typeface="Arial"/>
                <a:cs typeface="Arial"/>
              </a:rPr>
              <a:t>max(14 days, 1.6 × median gap)</a:t>
            </a:r>
          </a:p>
        </p:txBody>
      </p:sp>
      <p:sp>
        <p:nvSpPr>
          <p:cNvPr id="8" name="Straight Connector 7">
            <a:extLst>
              <a:ext uri="{FF2B5EF4-FFF2-40B4-BE49-F238E27FC236}">
                <a16:creationId xmlns:a16="http://schemas.microsoft.com/office/drawing/2014/main" id="{FACAA184-844D-48C9-8D59-FD80A09E6E98}"/>
              </a:ext>
            </a:extLst>
          </p:cNvPr>
          <p:cNvSpPr>
            <a:spLocks noGrp="1"/>
          </p:cNvSpPr>
          <p:nvPr/>
        </p:nvSpPr>
        <p:spPr>
          <a:xfrm>
            <a:off x="762000" y="4629150"/>
            <a:ext cx="10191750" cy="0"/>
          </a:xfrm>
          <a:prstGeom prst="line">
            <a:avLst/>
          </a:prstGeom>
          <a:ln w="9525">
            <a:solidFill>
              <a:srgbClr val="CFD6E0"/>
            </a:solidFill>
            <a:prstDash val="solid"/>
          </a:ln>
        </p:spPr>
        <p:txBody>
          <a:bodyPr/>
          <a:lstStyle/>
          <a:p>
            <a:endParaRPr/>
          </a:p>
        </p:txBody>
      </p:sp>
      <p:sp>
        <p:nvSpPr>
          <p:cNvPr id="9" name="Rectangle 8">
            <a:extLst>
              <a:ext uri="{FF2B5EF4-FFF2-40B4-BE49-F238E27FC236}">
                <a16:creationId xmlns:a16="http://schemas.microsoft.com/office/drawing/2014/main" id="{008F7886-1FF6-4D32-B97E-D0997A23ED00}"/>
              </a:ext>
            </a:extLst>
          </p:cNvPr>
          <p:cNvSpPr>
            <a:spLocks noGrp="1"/>
          </p:cNvSpPr>
          <p:nvPr/>
        </p:nvSpPr>
        <p:spPr>
          <a:xfrm>
            <a:off x="762000" y="4914900"/>
            <a:ext cx="7429500" cy="723900"/>
          </a:xfrm>
          <a:prstGeom prst="rect">
            <a:avLst/>
          </a:prstGeom>
          <a:noFill/>
          <a:ln w="0">
            <a:noFill/>
            <a:prstDash val="solid"/>
          </a:ln>
        </p:spPr>
        <p:txBody>
          <a:bodyPr wrap="square" lIns="0" tIns="0" rIns="0" bIns="0" anchor="ctr">
            <a:normAutofit/>
          </a:bodyPr>
          <a:lstStyle>
            <a:defPPr>
              <a:defRPr sz="1800" b="0">
                <a:solidFill>
                  <a:srgbClr val="536170"/>
                </a:solidFill>
                <a:latin typeface="Arial"/>
                <a:ea typeface="Arial"/>
                <a:cs typeface="Arial"/>
              </a:defRPr>
            </a:defPPr>
          </a:lstStyle>
          <a:p>
            <a:pPr>
              <a:buNone/>
              <a:defRPr sz="1800" b="0">
                <a:solidFill>
                  <a:srgbClr val="536170"/>
                </a:solidFill>
                <a:latin typeface="Arial"/>
                <a:ea typeface="Arial"/>
                <a:cs typeface="Arial"/>
              </a:defRPr>
            </a:pPr>
            <a:r>
              <a:rPr sz="1800" b="0">
                <a:solidFill>
                  <a:srgbClr val="536170"/>
                </a:solidFill>
                <a:latin typeface="Arial"/>
                <a:ea typeface="Arial"/>
                <a:cs typeface="Arial"/>
              </a:rPr>
              <a:t>Flag for human review only when days since the last order exceed that threshold.</a:t>
            </a:r>
          </a:p>
        </p:txBody>
      </p:sp>
      <p:sp>
        <p:nvSpPr>
          <p:cNvPr id="10" name="Rectangle 9">
            <a:extLst>
              <a:ext uri="{FF2B5EF4-FFF2-40B4-BE49-F238E27FC236}">
                <a16:creationId xmlns:a16="http://schemas.microsoft.com/office/drawing/2014/main" id="{BC1A3787-F738-45AB-BF0C-1F0819856C1B}"/>
              </a:ext>
            </a:extLst>
          </p:cNvPr>
          <p:cNvSpPr>
            <a:spLocks noGrp="1"/>
          </p:cNvSpPr>
          <p:nvPr/>
        </p:nvSpPr>
        <p:spPr>
          <a:xfrm>
            <a:off x="8477250" y="3467100"/>
            <a:ext cx="2571750" cy="285750"/>
          </a:xfrm>
          <a:prstGeom prst="rect">
            <a:avLst/>
          </a:prstGeom>
          <a:noFill/>
          <a:ln w="0">
            <a:noFill/>
            <a:prstDash val="solid"/>
          </a:ln>
        </p:spPr>
        <p:txBody>
          <a:bodyPr wrap="square" lIns="0" tIns="0" rIns="0" bIns="0" anchor="ctr">
            <a:normAutofit/>
          </a:bodyPr>
          <a:lstStyle>
            <a:defPPr>
              <a:defRPr sz="1200" b="1">
                <a:solidFill>
                  <a:srgbClr val="287A63"/>
                </a:solidFill>
                <a:latin typeface="Arial"/>
                <a:ea typeface="Arial"/>
                <a:cs typeface="Arial"/>
              </a:defRPr>
            </a:defPPr>
          </a:lstStyle>
          <a:p>
            <a:pPr>
              <a:buNone/>
              <a:defRPr sz="1200" b="1">
                <a:solidFill>
                  <a:srgbClr val="287A63"/>
                </a:solidFill>
                <a:latin typeface="Arial"/>
                <a:ea typeface="Arial"/>
                <a:cs typeface="Arial"/>
              </a:defRPr>
            </a:pPr>
            <a:r>
              <a:rPr sz="1200" b="1">
                <a:solidFill>
                  <a:srgbClr val="287A63"/>
                </a:solidFill>
                <a:latin typeface="Arial"/>
                <a:ea typeface="Arial"/>
                <a:cs typeface="Arial"/>
              </a:rPr>
              <a:t>REVIEW SIGNAL</a:t>
            </a:r>
          </a:p>
        </p:txBody>
      </p:sp>
      <p:sp>
        <p:nvSpPr>
          <p:cNvPr id="11" name="Rectangle 10">
            <a:extLst>
              <a:ext uri="{FF2B5EF4-FFF2-40B4-BE49-F238E27FC236}">
                <a16:creationId xmlns:a16="http://schemas.microsoft.com/office/drawing/2014/main" id="{68EBA251-EC24-4D8F-8B8B-7C7A1B6E6FBE}"/>
              </a:ext>
            </a:extLst>
          </p:cNvPr>
          <p:cNvSpPr>
            <a:spLocks noGrp="1"/>
          </p:cNvSpPr>
          <p:nvPr/>
        </p:nvSpPr>
        <p:spPr>
          <a:xfrm>
            <a:off x="8477250" y="3829050"/>
            <a:ext cx="2571750" cy="819150"/>
          </a:xfrm>
          <a:prstGeom prst="rect">
            <a:avLst/>
          </a:prstGeom>
          <a:noFill/>
          <a:ln w="0">
            <a:noFill/>
            <a:prstDash val="solid"/>
          </a:ln>
        </p:spPr>
        <p:txBody>
          <a:bodyPr wrap="square" lIns="0" tIns="0" rIns="0" bIns="0" anchor="t">
            <a:normAutofit/>
          </a:bodyPr>
          <a:lstStyle>
            <a:defPPr>
              <a:defRPr sz="1425" b="0">
                <a:solidFill>
                  <a:srgbClr val="536170"/>
                </a:solidFill>
                <a:latin typeface="Arial"/>
                <a:ea typeface="Arial"/>
                <a:cs typeface="Arial"/>
              </a:defRPr>
            </a:defPPr>
          </a:lstStyle>
          <a:p>
            <a:pPr>
              <a:buNone/>
              <a:defRPr sz="1425" b="0">
                <a:solidFill>
                  <a:srgbClr val="536170"/>
                </a:solidFill>
                <a:latin typeface="Arial"/>
                <a:ea typeface="Arial"/>
                <a:cs typeface="Arial"/>
              </a:defRPr>
            </a:pPr>
            <a:r>
              <a:rPr sz="1425" b="0">
                <a:solidFill>
                  <a:srgbClr val="536170"/>
                </a:solidFill>
                <a:latin typeface="Arial"/>
                <a:ea typeface="Arial"/>
                <a:cs typeface="Arial"/>
              </a:rPr>
              <a:t>The interval changed. Merchant context helps explain why.</a:t>
            </a:r>
          </a:p>
        </p:txBody>
      </p:sp>
    </p:spTree>
    <p:extLst>
      <p:ext uri="{BB962C8B-B14F-4D97-AF65-F5344CB8AC3E}">
        <p14:creationId xmlns:p14="http://schemas.microsoft.com/office/powerpoint/2010/main" val="1986843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3D54FB5-B2F5-446F-B247-7B8943F0F847}"/>
              </a:ext>
            </a:extLst>
          </p:cNvPr>
          <p:cNvSpPr>
            <a:spLocks noGrp="1"/>
          </p:cNvSpPr>
          <p:nvPr/>
        </p:nvSpPr>
        <p:spPr>
          <a:xfrm>
            <a:off x="685800" y="342900"/>
            <a:ext cx="7620000" cy="228600"/>
          </a:xfrm>
          <a:prstGeom prst="rect">
            <a:avLst/>
          </a:prstGeom>
          <a:noFill/>
          <a:ln w="0">
            <a:noFill/>
            <a:prstDash val="solid"/>
          </a:ln>
        </p:spPr>
        <p:txBody>
          <a:bodyPr wrap="square" lIns="0" tIns="0" rIns="0" bIns="0" anchor="ctr">
            <a:normAutofit/>
          </a:bodyPr>
          <a:lstStyle>
            <a:defPPr>
              <a:defRPr sz="1050" b="1">
                <a:solidFill>
                  <a:srgbClr val="315BCE"/>
                </a:solidFill>
                <a:latin typeface="Arial"/>
                <a:ea typeface="Arial"/>
                <a:cs typeface="Arial"/>
              </a:defRPr>
            </a:defPPr>
          </a:lstStyle>
          <a:p>
            <a:pPr>
              <a:buNone/>
              <a:defRPr sz="1050" b="1">
                <a:solidFill>
                  <a:srgbClr val="315BCE"/>
                </a:solidFill>
                <a:latin typeface="Arial"/>
                <a:ea typeface="Arial"/>
                <a:cs typeface="Arial"/>
              </a:defRPr>
            </a:pPr>
            <a:r>
              <a:rPr sz="1050" b="1">
                <a:solidFill>
                  <a:srgbClr val="315BCE"/>
                </a:solidFill>
                <a:latin typeface="Arial"/>
                <a:ea typeface="Arial"/>
                <a:cs typeface="Arial"/>
              </a:rPr>
              <a:t>RHYTHM  /  REINVENT COMMERCE</a:t>
            </a:r>
          </a:p>
        </p:txBody>
      </p:sp>
      <p:sp>
        <p:nvSpPr>
          <p:cNvPr id="2" name="Rectangle 1">
            <a:extLst>
              <a:ext uri="{FF2B5EF4-FFF2-40B4-BE49-F238E27FC236}">
                <a16:creationId xmlns:a16="http://schemas.microsoft.com/office/drawing/2014/main" id="{2AFE4CE1-DDDE-4F4A-A7B1-C2F328914151}"/>
              </a:ext>
            </a:extLst>
          </p:cNvPr>
          <p:cNvSpPr>
            <a:spLocks noGrp="1"/>
          </p:cNvSpPr>
          <p:nvPr/>
        </p:nvSpPr>
        <p:spPr>
          <a:xfrm>
            <a:off x="685800" y="819150"/>
            <a:ext cx="10820400" cy="685800"/>
          </a:xfrm>
          <a:prstGeom prst="rect">
            <a:avLst/>
          </a:prstGeom>
          <a:noFill/>
          <a:ln w="0">
            <a:noFill/>
            <a:prstDash val="solid"/>
          </a:ln>
        </p:spPr>
        <p:txBody>
          <a:bodyPr wrap="square" lIns="0" tIns="0" rIns="0" bIns="0" anchor="ctr">
            <a:normAutofit/>
          </a:bodyPr>
          <a:lstStyle>
            <a:defPPr>
              <a:defRPr sz="3000" b="1">
                <a:solidFill>
                  <a:srgbClr val="16202B"/>
                </a:solidFill>
                <a:latin typeface="Arial"/>
                <a:ea typeface="Arial"/>
                <a:cs typeface="Arial"/>
              </a:defRPr>
            </a:defPPr>
          </a:lstStyle>
          <a:p>
            <a:pPr>
              <a:buNone/>
              <a:defRPr sz="3000" b="1">
                <a:solidFill>
                  <a:srgbClr val="16202B"/>
                </a:solidFill>
                <a:latin typeface="Arial"/>
                <a:ea typeface="Arial"/>
                <a:cs typeface="Arial"/>
              </a:defRPr>
            </a:pPr>
            <a:r>
              <a:rPr sz="3000" b="1">
                <a:solidFill>
                  <a:srgbClr val="16202B"/>
                </a:solidFill>
                <a:latin typeface="Arial"/>
                <a:ea typeface="Arial"/>
                <a:cs typeface="Arial"/>
              </a:rPr>
              <a:t>A real dataset, with clear limits</a:t>
            </a:r>
          </a:p>
        </p:txBody>
      </p:sp>
      <p:sp>
        <p:nvSpPr>
          <p:cNvPr id="3" name="Rectangle 2">
            <a:extLst>
              <a:ext uri="{FF2B5EF4-FFF2-40B4-BE49-F238E27FC236}">
                <a16:creationId xmlns:a16="http://schemas.microsoft.com/office/drawing/2014/main" id="{751B8772-385B-4D5D-913E-5A2167A884F1}"/>
              </a:ext>
            </a:extLst>
          </p:cNvPr>
          <p:cNvSpPr>
            <a:spLocks noGrp="1"/>
          </p:cNvSpPr>
          <p:nvPr/>
        </p:nvSpPr>
        <p:spPr>
          <a:xfrm>
            <a:off x="11049000" y="6324600"/>
            <a:ext cx="457200" cy="209550"/>
          </a:xfrm>
          <a:prstGeom prst="rect">
            <a:avLst/>
          </a:prstGeom>
          <a:noFill/>
          <a:ln w="0">
            <a:noFill/>
            <a:prstDash val="solid"/>
          </a:ln>
        </p:spPr>
        <p:txBody>
          <a:bodyPr wrap="square" lIns="0" tIns="0" rIns="0" bIns="0" anchor="ctr">
            <a:normAutofit/>
          </a:bodyPr>
          <a:lstStyle>
            <a:defPPr algn="r">
              <a:defRPr sz="1050" b="1">
                <a:solidFill>
                  <a:srgbClr val="536170"/>
                </a:solidFill>
                <a:latin typeface="Arial"/>
                <a:ea typeface="Arial"/>
                <a:cs typeface="Arial"/>
              </a:defRPr>
            </a:defPPr>
          </a:lstStyle>
          <a:p>
            <a:pPr algn="r">
              <a:buNone/>
              <a:defRPr sz="1050" b="1">
                <a:solidFill>
                  <a:srgbClr val="536170"/>
                </a:solidFill>
                <a:latin typeface="Arial"/>
                <a:ea typeface="Arial"/>
                <a:cs typeface="Arial"/>
              </a:defRPr>
            </a:pPr>
            <a:r>
              <a:rPr sz="1050" b="1">
                <a:solidFill>
                  <a:srgbClr val="536170"/>
                </a:solidFill>
                <a:latin typeface="Arial"/>
                <a:ea typeface="Arial"/>
                <a:cs typeface="Arial"/>
              </a:rPr>
              <a:t>05</a:t>
            </a:r>
          </a:p>
        </p:txBody>
      </p:sp>
      <p:sp>
        <p:nvSpPr>
          <p:cNvPr id="4" name="Rectangle 3">
            <a:extLst>
              <a:ext uri="{FF2B5EF4-FFF2-40B4-BE49-F238E27FC236}">
                <a16:creationId xmlns:a16="http://schemas.microsoft.com/office/drawing/2014/main" id="{13F9B63F-F70A-438B-9DE0-207C22FC975F}"/>
              </a:ext>
            </a:extLst>
          </p:cNvPr>
          <p:cNvSpPr>
            <a:spLocks noGrp="1"/>
          </p:cNvSpPr>
          <p:nvPr/>
        </p:nvSpPr>
        <p:spPr>
          <a:xfrm>
            <a:off x="762000" y="2000250"/>
            <a:ext cx="4762500" cy="247650"/>
          </a:xfrm>
          <a:prstGeom prst="rect">
            <a:avLst/>
          </a:prstGeom>
          <a:noFill/>
          <a:ln w="0">
            <a:noFill/>
            <a:prstDash val="solid"/>
          </a:ln>
        </p:spPr>
        <p:txBody>
          <a:bodyPr wrap="square" lIns="0" tIns="0" rIns="0" bIns="0" anchor="ctr">
            <a:normAutofit/>
          </a:bodyPr>
          <a:lstStyle>
            <a:defPPr>
              <a:defRPr sz="1125" b="1">
                <a:solidFill>
                  <a:srgbClr val="315BCE"/>
                </a:solidFill>
                <a:latin typeface="Arial"/>
                <a:ea typeface="Arial"/>
                <a:cs typeface="Arial"/>
              </a:defRPr>
            </a:defPPr>
          </a:lstStyle>
          <a:p>
            <a:pPr>
              <a:buNone/>
              <a:defRPr sz="1125" b="1">
                <a:solidFill>
                  <a:srgbClr val="315BCE"/>
                </a:solidFill>
                <a:latin typeface="Arial"/>
                <a:ea typeface="Arial"/>
                <a:cs typeface="Arial"/>
              </a:defRPr>
            </a:pPr>
            <a:r>
              <a:rPr sz="1125" b="1">
                <a:solidFill>
                  <a:srgbClr val="315BCE"/>
                </a:solidFill>
                <a:latin typeface="Arial"/>
                <a:ea typeface="Arial"/>
                <a:cs typeface="Arial"/>
              </a:rPr>
              <a:t>UCI ONLINE RETAIL</a:t>
            </a:r>
          </a:p>
        </p:txBody>
      </p:sp>
      <p:sp>
        <p:nvSpPr>
          <p:cNvPr id="5" name="Rectangle 4">
            <a:extLst>
              <a:ext uri="{FF2B5EF4-FFF2-40B4-BE49-F238E27FC236}">
                <a16:creationId xmlns:a16="http://schemas.microsoft.com/office/drawing/2014/main" id="{258CCC7A-01B3-45BD-9081-DF937903D0B4}"/>
              </a:ext>
            </a:extLst>
          </p:cNvPr>
          <p:cNvSpPr>
            <a:spLocks noGrp="1"/>
          </p:cNvSpPr>
          <p:nvPr/>
        </p:nvSpPr>
        <p:spPr>
          <a:xfrm>
            <a:off x="762000" y="2381250"/>
            <a:ext cx="5334000" cy="857250"/>
          </a:xfrm>
          <a:prstGeom prst="rect">
            <a:avLst/>
          </a:prstGeom>
          <a:noFill/>
          <a:ln w="0">
            <a:noFill/>
            <a:prstDash val="solid"/>
          </a:ln>
        </p:spPr>
        <p:txBody>
          <a:bodyPr wrap="square" lIns="0" tIns="0" rIns="0" bIns="0" anchor="ctr">
            <a:normAutofit/>
          </a:bodyPr>
          <a:lstStyle>
            <a:defPPr>
              <a:defRPr sz="1875" b="1">
                <a:solidFill>
                  <a:srgbClr val="16202B"/>
                </a:solidFill>
                <a:latin typeface="Arial"/>
                <a:ea typeface="Arial"/>
                <a:cs typeface="Arial"/>
              </a:defRPr>
            </a:defPPr>
          </a:lstStyle>
          <a:p>
            <a:pPr>
              <a:buNone/>
              <a:defRPr sz="1875" b="1">
                <a:solidFill>
                  <a:srgbClr val="16202B"/>
                </a:solidFill>
                <a:latin typeface="Arial"/>
                <a:ea typeface="Arial"/>
                <a:cs typeface="Arial"/>
              </a:defRPr>
            </a:pPr>
            <a:r>
              <a:rPr sz="1875" b="1">
                <a:solidFill>
                  <a:srgbClr val="16202B"/>
                </a:solidFill>
                <a:latin typeface="Arial"/>
                <a:ea typeface="Arial"/>
                <a:cs typeface="Arial"/>
              </a:rPr>
              <a:t>A reproducible extract of UK transactions from 2010–2011</a:t>
            </a:r>
          </a:p>
        </p:txBody>
      </p:sp>
      <p:sp>
        <p:nvSpPr>
          <p:cNvPr id="6" name="Rectangle 5">
            <a:extLst>
              <a:ext uri="{FF2B5EF4-FFF2-40B4-BE49-F238E27FC236}">
                <a16:creationId xmlns:a16="http://schemas.microsoft.com/office/drawing/2014/main" id="{289549D4-2E6A-4B01-AA76-5A477F2E2285}"/>
              </a:ext>
            </a:extLst>
          </p:cNvPr>
          <p:cNvSpPr>
            <a:spLocks noGrp="1"/>
          </p:cNvSpPr>
          <p:nvPr/>
        </p:nvSpPr>
        <p:spPr>
          <a:xfrm>
            <a:off x="762000" y="3390900"/>
            <a:ext cx="5334000" cy="1257300"/>
          </a:xfrm>
          <a:prstGeom prst="rect">
            <a:avLst/>
          </a:prstGeom>
          <a:noFill/>
          <a:ln w="0">
            <a:noFill/>
            <a:prstDash val="solid"/>
          </a:ln>
        </p:spPr>
        <p:txBody>
          <a:bodyPr wrap="square" lIns="0" tIns="0" rIns="0" bIns="0" anchor="t">
            <a:normAutofit/>
          </a:bodyPr>
          <a:lstStyle>
            <a:defPPr>
              <a:defRPr sz="1650" b="0">
                <a:solidFill>
                  <a:srgbClr val="536170"/>
                </a:solidFill>
                <a:latin typeface="Arial"/>
                <a:ea typeface="Arial"/>
                <a:cs typeface="Arial"/>
              </a:defRPr>
            </a:defPPr>
          </a:lstStyle>
          <a:p>
            <a:pPr>
              <a:buNone/>
              <a:defRPr sz="1650" b="0">
                <a:solidFill>
                  <a:srgbClr val="536170"/>
                </a:solidFill>
                <a:latin typeface="Arial"/>
                <a:ea typeface="Arial"/>
                <a:cs typeface="Arial"/>
              </a:defRPr>
            </a:pPr>
            <a:r>
              <a:rPr sz="1650" b="0">
                <a:solidFill>
                  <a:srgbClr val="536170"/>
                </a:solidFill>
                <a:latin typeface="Arial"/>
                <a:ea typeface="Arial"/>
                <a:cs typeface="Arial"/>
              </a:rPr>
              <a:t>The prototype loads research data, builds shopper and item queues, shows purchase evidence, and accepts merchant CSVs.</a:t>
            </a:r>
          </a:p>
        </p:txBody>
      </p:sp>
      <p:sp>
        <p:nvSpPr>
          <p:cNvPr id="7" name="Straight Connector 6">
            <a:extLst>
              <a:ext uri="{FF2B5EF4-FFF2-40B4-BE49-F238E27FC236}">
                <a16:creationId xmlns:a16="http://schemas.microsoft.com/office/drawing/2014/main" id="{BF42A78F-847A-452A-B895-BA84CA6D017B}"/>
              </a:ext>
            </a:extLst>
          </p:cNvPr>
          <p:cNvSpPr>
            <a:spLocks noGrp="1"/>
          </p:cNvSpPr>
          <p:nvPr/>
        </p:nvSpPr>
        <p:spPr>
          <a:xfrm>
            <a:off x="6572250" y="2019300"/>
            <a:ext cx="9525" cy="0"/>
          </a:xfrm>
          <a:prstGeom prst="line">
            <a:avLst/>
          </a:prstGeom>
          <a:ln w="9525">
            <a:solidFill>
              <a:srgbClr val="CFD6E0"/>
            </a:solidFill>
            <a:prstDash val="solid"/>
          </a:ln>
        </p:spPr>
        <p:txBody>
          <a:bodyPr/>
          <a:lstStyle/>
          <a:p>
            <a:endParaRPr/>
          </a:p>
        </p:txBody>
      </p:sp>
      <p:sp>
        <p:nvSpPr>
          <p:cNvPr id="8" name="Rectangle 7">
            <a:extLst>
              <a:ext uri="{FF2B5EF4-FFF2-40B4-BE49-F238E27FC236}">
                <a16:creationId xmlns:a16="http://schemas.microsoft.com/office/drawing/2014/main" id="{F2426AB7-F4B1-47E3-8F02-4F396AC116AD}"/>
              </a:ext>
            </a:extLst>
          </p:cNvPr>
          <p:cNvSpPr>
            <a:spLocks noGrp="1"/>
          </p:cNvSpPr>
          <p:nvPr/>
        </p:nvSpPr>
        <p:spPr>
          <a:xfrm>
            <a:off x="7048500" y="2019300"/>
            <a:ext cx="3810000" cy="228600"/>
          </a:xfrm>
          <a:prstGeom prst="rect">
            <a:avLst/>
          </a:prstGeom>
          <a:noFill/>
          <a:ln w="0">
            <a:noFill/>
            <a:prstDash val="solid"/>
          </a:ln>
        </p:spPr>
        <p:txBody>
          <a:bodyPr wrap="square" lIns="0" tIns="0" rIns="0" bIns="0" anchor="ctr">
            <a:normAutofit/>
          </a:bodyPr>
          <a:lstStyle>
            <a:defPPr>
              <a:defRPr sz="1125" b="1">
                <a:solidFill>
                  <a:srgbClr val="287A63"/>
                </a:solidFill>
                <a:latin typeface="Arial"/>
                <a:ea typeface="Arial"/>
                <a:cs typeface="Arial"/>
              </a:defRPr>
            </a:defPPr>
          </a:lstStyle>
          <a:p>
            <a:pPr>
              <a:buNone/>
              <a:defRPr sz="1125" b="1">
                <a:solidFill>
                  <a:srgbClr val="287A63"/>
                </a:solidFill>
                <a:latin typeface="Arial"/>
                <a:ea typeface="Arial"/>
                <a:cs typeface="Arial"/>
              </a:defRPr>
            </a:pPr>
            <a:r>
              <a:rPr sz="1125" b="1">
                <a:solidFill>
                  <a:srgbClr val="287A63"/>
                </a:solidFill>
                <a:latin typeface="Arial"/>
                <a:ea typeface="Arial"/>
                <a:cs typeface="Arial"/>
              </a:rPr>
              <a:t>WHAT IT SHOWS</a:t>
            </a:r>
          </a:p>
        </p:txBody>
      </p:sp>
      <p:sp>
        <p:nvSpPr>
          <p:cNvPr id="9" name="Rectangle 8">
            <a:extLst>
              <a:ext uri="{FF2B5EF4-FFF2-40B4-BE49-F238E27FC236}">
                <a16:creationId xmlns:a16="http://schemas.microsoft.com/office/drawing/2014/main" id="{9DABB3E0-5552-410D-886A-FE7F1518F422}"/>
              </a:ext>
            </a:extLst>
          </p:cNvPr>
          <p:cNvSpPr>
            <a:spLocks noGrp="1"/>
          </p:cNvSpPr>
          <p:nvPr/>
        </p:nvSpPr>
        <p:spPr>
          <a:xfrm>
            <a:off x="7048500" y="2400300"/>
            <a:ext cx="3810000" cy="838200"/>
          </a:xfrm>
          <a:prstGeom prst="rect">
            <a:avLst/>
          </a:prstGeom>
          <a:noFill/>
          <a:ln w="0">
            <a:noFill/>
            <a:prstDash val="solid"/>
          </a:ln>
        </p:spPr>
        <p:txBody>
          <a:bodyPr wrap="square" lIns="0" tIns="0" rIns="0" bIns="0" anchor="ctr">
            <a:normAutofit/>
          </a:bodyPr>
          <a:lstStyle>
            <a:defPPr>
              <a:defRPr sz="1500" b="1">
                <a:solidFill>
                  <a:srgbClr val="16202B"/>
                </a:solidFill>
                <a:latin typeface="Arial"/>
                <a:ea typeface="Arial"/>
                <a:cs typeface="Arial"/>
              </a:defRPr>
            </a:defPPr>
          </a:lstStyle>
          <a:p>
            <a:pPr>
              <a:buNone/>
              <a:defRPr sz="1500" b="1">
                <a:solidFill>
                  <a:srgbClr val="16202B"/>
                </a:solidFill>
                <a:latin typeface="Arial"/>
                <a:ea typeface="Arial"/>
                <a:cs typeface="Arial"/>
              </a:defRPr>
            </a:pPr>
            <a:r>
              <a:rPr sz="1500" b="1">
                <a:solidFill>
                  <a:srgbClr val="16202B"/>
                </a:solidFill>
                <a:latin typeface="Arial"/>
                <a:ea typeface="Arial"/>
                <a:cs typeface="Arial"/>
              </a:rPr>
              <a:t>Personal cadence flags, item level counts, and evidence for merchant review.</a:t>
            </a:r>
          </a:p>
        </p:txBody>
      </p:sp>
      <p:sp>
        <p:nvSpPr>
          <p:cNvPr id="10" name="Rectangle 9">
            <a:extLst>
              <a:ext uri="{FF2B5EF4-FFF2-40B4-BE49-F238E27FC236}">
                <a16:creationId xmlns:a16="http://schemas.microsoft.com/office/drawing/2014/main" id="{ABDBDFEB-5CA2-404A-B780-D7C68B3AA97B}"/>
              </a:ext>
            </a:extLst>
          </p:cNvPr>
          <p:cNvSpPr>
            <a:spLocks noGrp="1"/>
          </p:cNvSpPr>
          <p:nvPr/>
        </p:nvSpPr>
        <p:spPr>
          <a:xfrm>
            <a:off x="7048500" y="3619500"/>
            <a:ext cx="3810000" cy="228600"/>
          </a:xfrm>
          <a:prstGeom prst="rect">
            <a:avLst/>
          </a:prstGeom>
          <a:noFill/>
          <a:ln w="0">
            <a:noFill/>
            <a:prstDash val="solid"/>
          </a:ln>
        </p:spPr>
        <p:txBody>
          <a:bodyPr wrap="square" lIns="0" tIns="0" rIns="0" bIns="0" anchor="ctr">
            <a:normAutofit/>
          </a:bodyPr>
          <a:lstStyle>
            <a:defPPr>
              <a:defRPr sz="1125" b="1">
                <a:solidFill>
                  <a:srgbClr val="315BCE"/>
                </a:solidFill>
                <a:latin typeface="Arial"/>
                <a:ea typeface="Arial"/>
                <a:cs typeface="Arial"/>
              </a:defRPr>
            </a:defPPr>
          </a:lstStyle>
          <a:p>
            <a:pPr>
              <a:buNone/>
              <a:defRPr sz="1125" b="1">
                <a:solidFill>
                  <a:srgbClr val="315BCE"/>
                </a:solidFill>
                <a:latin typeface="Arial"/>
                <a:ea typeface="Arial"/>
                <a:cs typeface="Arial"/>
              </a:defRPr>
            </a:pPr>
            <a:r>
              <a:rPr sz="1125" b="1">
                <a:solidFill>
                  <a:srgbClr val="315BCE"/>
                </a:solidFill>
                <a:latin typeface="Arial"/>
                <a:ea typeface="Arial"/>
                <a:cs typeface="Arial"/>
              </a:rPr>
              <a:t>EVIDENCE LIMITS</a:t>
            </a:r>
          </a:p>
        </p:txBody>
      </p:sp>
      <p:sp>
        <p:nvSpPr>
          <p:cNvPr id="11" name="Rectangle 10">
            <a:extLst>
              <a:ext uri="{FF2B5EF4-FFF2-40B4-BE49-F238E27FC236}">
                <a16:creationId xmlns:a16="http://schemas.microsoft.com/office/drawing/2014/main" id="{8F0BD07C-45E0-4B0D-A06B-72994952CD6E}"/>
              </a:ext>
            </a:extLst>
          </p:cNvPr>
          <p:cNvSpPr>
            <a:spLocks noGrp="1"/>
          </p:cNvSpPr>
          <p:nvPr/>
        </p:nvSpPr>
        <p:spPr>
          <a:xfrm>
            <a:off x="7048500" y="4000500"/>
            <a:ext cx="3810000" cy="838200"/>
          </a:xfrm>
          <a:prstGeom prst="rect">
            <a:avLst/>
          </a:prstGeom>
          <a:noFill/>
          <a:ln w="0">
            <a:noFill/>
            <a:prstDash val="solid"/>
          </a:ln>
        </p:spPr>
        <p:txBody>
          <a:bodyPr wrap="square" lIns="0" tIns="0" rIns="0" bIns="0" anchor="ctr">
            <a:normAutofit/>
          </a:bodyPr>
          <a:lstStyle>
            <a:defPPr>
              <a:defRPr sz="1500" b="1">
                <a:solidFill>
                  <a:srgbClr val="16202B"/>
                </a:solidFill>
                <a:latin typeface="Arial"/>
                <a:ea typeface="Arial"/>
                <a:cs typeface="Arial"/>
              </a:defRPr>
            </a:defPPr>
          </a:lstStyle>
          <a:p>
            <a:pPr>
              <a:buNone/>
              <a:defRPr sz="1500" b="1">
                <a:solidFill>
                  <a:srgbClr val="16202B"/>
                </a:solidFill>
                <a:latin typeface="Arial"/>
                <a:ea typeface="Arial"/>
                <a:cs typeface="Arial"/>
              </a:defRPr>
            </a:pPr>
            <a:r>
              <a:rPr sz="1500" b="1">
                <a:solidFill>
                  <a:srgbClr val="16202B"/>
                </a:solidFill>
                <a:latin typeface="Arial"/>
                <a:ea typeface="Arial"/>
                <a:cs typeface="Arial"/>
              </a:rPr>
              <a:t>Historical transactions; live merchant results and sales impact remain unmeasured.</a:t>
            </a:r>
          </a:p>
        </p:txBody>
      </p:sp>
      <p:sp>
        <p:nvSpPr>
          <p:cNvPr id="12" name="Rectangle 11">
            <a:extLst>
              <a:ext uri="{FF2B5EF4-FFF2-40B4-BE49-F238E27FC236}">
                <a16:creationId xmlns:a16="http://schemas.microsoft.com/office/drawing/2014/main" id="{58DD9B29-91B1-427C-8869-B73545693B24}"/>
              </a:ext>
            </a:extLst>
          </p:cNvPr>
          <p:cNvSpPr>
            <a:spLocks noGrp="1"/>
          </p:cNvSpPr>
          <p:nvPr/>
        </p:nvSpPr>
        <p:spPr>
          <a:xfrm>
            <a:off x="762000" y="5753100"/>
            <a:ext cx="10287000" cy="304800"/>
          </a:xfrm>
          <a:prstGeom prst="rect">
            <a:avLst/>
          </a:prstGeom>
          <a:noFill/>
          <a:ln w="0">
            <a:noFill/>
            <a:prstDash val="solid"/>
          </a:ln>
        </p:spPr>
        <p:txBody>
          <a:bodyPr wrap="square" lIns="0" tIns="0" rIns="0" bIns="0" anchor="ctr">
            <a:normAutofit/>
          </a:bodyPr>
          <a:lstStyle>
            <a:defPPr>
              <a:defRPr sz="1050" b="0">
                <a:solidFill>
                  <a:srgbClr val="536170"/>
                </a:solidFill>
                <a:latin typeface="Arial"/>
                <a:ea typeface="Arial"/>
                <a:cs typeface="Arial"/>
              </a:defRPr>
            </a:defPPr>
          </a:lstStyle>
          <a:p>
            <a:pPr>
              <a:buNone/>
              <a:defRPr sz="1050" b="0">
                <a:solidFill>
                  <a:srgbClr val="536170"/>
                </a:solidFill>
                <a:latin typeface="Arial"/>
                <a:ea typeface="Arial"/>
                <a:cs typeface="Arial"/>
              </a:defRPr>
            </a:pPr>
            <a:r>
              <a:rPr sz="1050" b="0">
                <a:solidFill>
                  <a:srgbClr val="536170"/>
                </a:solidFill>
                <a:latin typeface="Arial"/>
                <a:ea typeface="Arial"/>
                <a:cs typeface="Arial"/>
              </a:rPr>
              <a:t>Source: UCI Machine Learning Repository · Online Retail · Chen (2015) · DOI 10.24432/C5BW33 · CC BY 4.0</a:t>
            </a:r>
          </a:p>
        </p:txBody>
      </p:sp>
    </p:spTree>
    <p:extLst>
      <p:ext uri="{BB962C8B-B14F-4D97-AF65-F5344CB8AC3E}">
        <p14:creationId xmlns:p14="http://schemas.microsoft.com/office/powerpoint/2010/main" val="190204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6F55AA3-CDEE-4582-A2F4-CFE4437DEF6B}"/>
              </a:ext>
            </a:extLst>
          </p:cNvPr>
          <p:cNvSpPr>
            <a:spLocks noGrp="1"/>
          </p:cNvSpPr>
          <p:nvPr/>
        </p:nvSpPr>
        <p:spPr>
          <a:xfrm>
            <a:off x="685800" y="342900"/>
            <a:ext cx="7620000" cy="228600"/>
          </a:xfrm>
          <a:prstGeom prst="rect">
            <a:avLst/>
          </a:prstGeom>
          <a:noFill/>
          <a:ln w="0">
            <a:noFill/>
            <a:prstDash val="solid"/>
          </a:ln>
        </p:spPr>
        <p:txBody>
          <a:bodyPr wrap="square" lIns="0" tIns="0" rIns="0" bIns="0" anchor="ctr">
            <a:normAutofit/>
          </a:bodyPr>
          <a:lstStyle>
            <a:defPPr>
              <a:defRPr sz="1050" b="1">
                <a:solidFill>
                  <a:srgbClr val="315BCE"/>
                </a:solidFill>
                <a:latin typeface="Arial"/>
                <a:ea typeface="Arial"/>
                <a:cs typeface="Arial"/>
              </a:defRPr>
            </a:defPPr>
          </a:lstStyle>
          <a:p>
            <a:pPr>
              <a:buNone/>
              <a:defRPr sz="1050" b="1">
                <a:solidFill>
                  <a:srgbClr val="315BCE"/>
                </a:solidFill>
                <a:latin typeface="Arial"/>
                <a:ea typeface="Arial"/>
                <a:cs typeface="Arial"/>
              </a:defRPr>
            </a:pPr>
            <a:r>
              <a:rPr sz="1050" b="1">
                <a:solidFill>
                  <a:srgbClr val="315BCE"/>
                </a:solidFill>
                <a:latin typeface="Arial"/>
                <a:ea typeface="Arial"/>
                <a:cs typeface="Arial"/>
              </a:rPr>
              <a:t>RHYTHM  /  REINVENT COMMERCE</a:t>
            </a:r>
          </a:p>
        </p:txBody>
      </p:sp>
      <p:sp>
        <p:nvSpPr>
          <p:cNvPr id="2" name="Rectangle 1">
            <a:extLst>
              <a:ext uri="{FF2B5EF4-FFF2-40B4-BE49-F238E27FC236}">
                <a16:creationId xmlns:a16="http://schemas.microsoft.com/office/drawing/2014/main" id="{FD63F2CF-6AA5-4864-BECB-3F176C3D3268}"/>
              </a:ext>
            </a:extLst>
          </p:cNvPr>
          <p:cNvSpPr>
            <a:spLocks noGrp="1"/>
          </p:cNvSpPr>
          <p:nvPr/>
        </p:nvSpPr>
        <p:spPr>
          <a:xfrm>
            <a:off x="685800" y="819150"/>
            <a:ext cx="10820400" cy="685800"/>
          </a:xfrm>
          <a:prstGeom prst="rect">
            <a:avLst/>
          </a:prstGeom>
          <a:noFill/>
          <a:ln w="0">
            <a:noFill/>
            <a:prstDash val="solid"/>
          </a:ln>
        </p:spPr>
        <p:txBody>
          <a:bodyPr wrap="square" lIns="0" tIns="0" rIns="0" bIns="0" anchor="ctr">
            <a:normAutofit/>
          </a:bodyPr>
          <a:lstStyle>
            <a:defPPr>
              <a:defRPr sz="3000" b="1">
                <a:solidFill>
                  <a:srgbClr val="16202B"/>
                </a:solidFill>
                <a:latin typeface="Arial"/>
                <a:ea typeface="Arial"/>
                <a:cs typeface="Arial"/>
              </a:defRPr>
            </a:defPPr>
          </a:lstStyle>
          <a:p>
            <a:pPr>
              <a:buNone/>
              <a:defRPr sz="3000" b="1">
                <a:solidFill>
                  <a:srgbClr val="16202B"/>
                </a:solidFill>
                <a:latin typeface="Arial"/>
                <a:ea typeface="Arial"/>
                <a:cs typeface="Arial"/>
              </a:defRPr>
            </a:pPr>
            <a:r>
              <a:rPr sz="3000" b="1">
                <a:solidFill>
                  <a:srgbClr val="16202B"/>
                </a:solidFill>
                <a:latin typeface="Arial"/>
                <a:ea typeface="Arial"/>
                <a:cs typeface="Arial"/>
              </a:rPr>
              <a:t>Item watchlist for merchant review</a:t>
            </a:r>
          </a:p>
        </p:txBody>
      </p:sp>
      <p:sp>
        <p:nvSpPr>
          <p:cNvPr id="3" name="Rectangle 2">
            <a:extLst>
              <a:ext uri="{FF2B5EF4-FFF2-40B4-BE49-F238E27FC236}">
                <a16:creationId xmlns:a16="http://schemas.microsoft.com/office/drawing/2014/main" id="{C137C7E8-4BE6-410B-8D94-F1660933A5C8}"/>
              </a:ext>
            </a:extLst>
          </p:cNvPr>
          <p:cNvSpPr>
            <a:spLocks noGrp="1"/>
          </p:cNvSpPr>
          <p:nvPr/>
        </p:nvSpPr>
        <p:spPr>
          <a:xfrm>
            <a:off x="11049000" y="6324600"/>
            <a:ext cx="457200" cy="209550"/>
          </a:xfrm>
          <a:prstGeom prst="rect">
            <a:avLst/>
          </a:prstGeom>
          <a:noFill/>
          <a:ln w="0">
            <a:noFill/>
            <a:prstDash val="solid"/>
          </a:ln>
        </p:spPr>
        <p:txBody>
          <a:bodyPr wrap="square" lIns="0" tIns="0" rIns="0" bIns="0" anchor="ctr">
            <a:normAutofit/>
          </a:bodyPr>
          <a:lstStyle>
            <a:defPPr algn="r">
              <a:defRPr sz="1050" b="1">
                <a:solidFill>
                  <a:srgbClr val="536170"/>
                </a:solidFill>
                <a:latin typeface="Arial"/>
                <a:ea typeface="Arial"/>
                <a:cs typeface="Arial"/>
              </a:defRPr>
            </a:defPPr>
          </a:lstStyle>
          <a:p>
            <a:pPr algn="r">
              <a:buNone/>
              <a:defRPr sz="1050" b="1">
                <a:solidFill>
                  <a:srgbClr val="536170"/>
                </a:solidFill>
                <a:latin typeface="Arial"/>
                <a:ea typeface="Arial"/>
                <a:cs typeface="Arial"/>
              </a:defRPr>
            </a:pPr>
            <a:r>
              <a:rPr sz="1050" b="1">
                <a:solidFill>
                  <a:srgbClr val="536170"/>
                </a:solidFill>
                <a:latin typeface="Arial"/>
                <a:ea typeface="Arial"/>
                <a:cs typeface="Arial"/>
              </a:rPr>
              <a:t>06</a:t>
            </a:r>
          </a:p>
        </p:txBody>
      </p:sp>
      <p:sp>
        <p:nvSpPr>
          <p:cNvPr id="4" name="Rectangle 3">
            <a:extLst>
              <a:ext uri="{FF2B5EF4-FFF2-40B4-BE49-F238E27FC236}">
                <a16:creationId xmlns:a16="http://schemas.microsoft.com/office/drawing/2014/main" id="{633BCC82-9C56-4FE4-81B7-0A0B37AC06D1}"/>
              </a:ext>
            </a:extLst>
          </p:cNvPr>
          <p:cNvSpPr>
            <a:spLocks noGrp="1"/>
          </p:cNvSpPr>
          <p:nvPr/>
        </p:nvSpPr>
        <p:spPr>
          <a:xfrm>
            <a:off x="762000" y="1962150"/>
            <a:ext cx="3048000" cy="228600"/>
          </a:xfrm>
          <a:prstGeom prst="rect">
            <a:avLst/>
          </a:prstGeom>
          <a:noFill/>
          <a:ln w="0">
            <a:noFill/>
            <a:prstDash val="solid"/>
          </a:ln>
        </p:spPr>
        <p:txBody>
          <a:bodyPr wrap="square" lIns="0" tIns="0" rIns="0" bIns="0" anchor="ctr">
            <a:normAutofit/>
          </a:bodyPr>
          <a:lstStyle>
            <a:defPPr>
              <a:defRPr sz="1125" b="1">
                <a:solidFill>
                  <a:srgbClr val="315BCE"/>
                </a:solidFill>
                <a:latin typeface="Arial"/>
                <a:ea typeface="Arial"/>
                <a:cs typeface="Arial"/>
              </a:defRPr>
            </a:defPPr>
          </a:lstStyle>
          <a:p>
            <a:pPr>
              <a:buNone/>
              <a:defRPr sz="1125" b="1">
                <a:solidFill>
                  <a:srgbClr val="315BCE"/>
                </a:solidFill>
                <a:latin typeface="Arial"/>
                <a:ea typeface="Arial"/>
                <a:cs typeface="Arial"/>
              </a:defRPr>
            </a:pPr>
            <a:r>
              <a:rPr sz="1125" b="1">
                <a:solidFill>
                  <a:srgbClr val="315BCE"/>
                </a:solidFill>
                <a:latin typeface="Arial"/>
                <a:ea typeface="Arial"/>
                <a:cs typeface="Arial"/>
              </a:rPr>
              <a:t>ITEM SIGNAL</a:t>
            </a:r>
          </a:p>
        </p:txBody>
      </p:sp>
      <p:sp>
        <p:nvSpPr>
          <p:cNvPr id="5" name="Rectangle 4">
            <a:extLst>
              <a:ext uri="{FF2B5EF4-FFF2-40B4-BE49-F238E27FC236}">
                <a16:creationId xmlns:a16="http://schemas.microsoft.com/office/drawing/2014/main" id="{4D4A667A-998F-4224-BE30-9B4FF8B28FD5}"/>
              </a:ext>
            </a:extLst>
          </p:cNvPr>
          <p:cNvSpPr>
            <a:spLocks noGrp="1"/>
          </p:cNvSpPr>
          <p:nvPr/>
        </p:nvSpPr>
        <p:spPr>
          <a:xfrm>
            <a:off x="762000" y="2343150"/>
            <a:ext cx="4572000" cy="609600"/>
          </a:xfrm>
          <a:prstGeom prst="rect">
            <a:avLst/>
          </a:prstGeom>
          <a:noFill/>
          <a:ln w="0">
            <a:noFill/>
            <a:prstDash val="solid"/>
          </a:ln>
        </p:spPr>
        <p:txBody>
          <a:bodyPr wrap="square" lIns="0" tIns="0" rIns="0" bIns="0" anchor="ctr">
            <a:normAutofit fontScale="95238"/>
          </a:bodyPr>
          <a:lstStyle>
            <a:defPPr>
              <a:defRPr sz="2100" b="1">
                <a:solidFill>
                  <a:srgbClr val="16202B"/>
                </a:solidFill>
                <a:latin typeface="Arial"/>
                <a:ea typeface="Arial"/>
                <a:cs typeface="Arial"/>
              </a:defRPr>
            </a:defPPr>
          </a:lstStyle>
          <a:p>
            <a:pPr>
              <a:buNone/>
              <a:defRPr sz="2100" b="1">
                <a:solidFill>
                  <a:srgbClr val="16202B"/>
                </a:solidFill>
                <a:latin typeface="Arial"/>
                <a:ea typeface="Arial"/>
                <a:cs typeface="Arial"/>
              </a:defRPr>
            </a:pPr>
            <a:r>
              <a:rPr sz="2100" b="1">
                <a:solidFill>
                  <a:srgbClr val="16202B"/>
                </a:solidFill>
                <a:latin typeface="Arial"/>
                <a:ea typeface="Arial"/>
                <a:cs typeface="Arial"/>
              </a:rPr>
              <a:t>Rank repeat items with overdue shoppers.</a:t>
            </a:r>
          </a:p>
        </p:txBody>
      </p:sp>
      <p:sp>
        <p:nvSpPr>
          <p:cNvPr id="6" name="Rectangle 5">
            <a:extLst>
              <a:ext uri="{FF2B5EF4-FFF2-40B4-BE49-F238E27FC236}">
                <a16:creationId xmlns:a16="http://schemas.microsoft.com/office/drawing/2014/main" id="{57089AAE-3B60-4091-B031-57A8DA488353}"/>
              </a:ext>
            </a:extLst>
          </p:cNvPr>
          <p:cNvSpPr>
            <a:spLocks noGrp="1"/>
          </p:cNvSpPr>
          <p:nvPr/>
        </p:nvSpPr>
        <p:spPr>
          <a:xfrm>
            <a:off x="762000" y="3162300"/>
            <a:ext cx="4429125" cy="1028700"/>
          </a:xfrm>
          <a:prstGeom prst="rect">
            <a:avLst/>
          </a:prstGeom>
          <a:noFill/>
          <a:ln w="0">
            <a:noFill/>
            <a:prstDash val="solid"/>
          </a:ln>
        </p:spPr>
        <p:txBody>
          <a:bodyPr wrap="square" lIns="0" tIns="0" rIns="0" bIns="0" anchor="t">
            <a:normAutofit/>
          </a:bodyPr>
          <a:lstStyle>
            <a:defPPr>
              <a:defRPr sz="1725" b="0">
                <a:solidFill>
                  <a:srgbClr val="536170"/>
                </a:solidFill>
                <a:latin typeface="Arial"/>
                <a:ea typeface="Arial"/>
                <a:cs typeface="Arial"/>
              </a:defRPr>
            </a:defPPr>
          </a:lstStyle>
          <a:p>
            <a:pPr>
              <a:buNone/>
              <a:defRPr sz="1725" b="0">
                <a:solidFill>
                  <a:srgbClr val="536170"/>
                </a:solidFill>
                <a:latin typeface="Arial"/>
                <a:ea typeface="Arial"/>
                <a:cs typeface="Arial"/>
              </a:defRPr>
            </a:pPr>
            <a:r>
              <a:rPr sz="1725" b="0">
                <a:solidFill>
                  <a:srgbClr val="536170"/>
                </a:solidFill>
                <a:latin typeface="Arial"/>
                <a:ea typeface="Arial"/>
                <a:cs typeface="Arial"/>
              </a:rPr>
              <a:t>Show the typical repeat interval and median lateness. Open matching shoppers to inspect their purchase evidence.</a:t>
            </a:r>
          </a:p>
        </p:txBody>
      </p:sp>
      <p:sp>
        <p:nvSpPr>
          <p:cNvPr id="7" name="Rectangle 6">
            <a:extLst>
              <a:ext uri="{FF2B5EF4-FFF2-40B4-BE49-F238E27FC236}">
                <a16:creationId xmlns:a16="http://schemas.microsoft.com/office/drawing/2014/main" id="{FA8B0AEF-A310-4AC1-86F5-BF8C1C5B5641}"/>
              </a:ext>
            </a:extLst>
          </p:cNvPr>
          <p:cNvSpPr>
            <a:spLocks noGrp="1"/>
          </p:cNvSpPr>
          <p:nvPr/>
        </p:nvSpPr>
        <p:spPr>
          <a:xfrm>
            <a:off x="6191250" y="1962150"/>
            <a:ext cx="3429000" cy="228600"/>
          </a:xfrm>
          <a:prstGeom prst="rect">
            <a:avLst/>
          </a:prstGeom>
          <a:noFill/>
          <a:ln w="0">
            <a:noFill/>
            <a:prstDash val="solid"/>
          </a:ln>
        </p:spPr>
        <p:txBody>
          <a:bodyPr wrap="square" lIns="0" tIns="0" rIns="0" bIns="0" anchor="ctr">
            <a:normAutofit/>
          </a:bodyPr>
          <a:lstStyle>
            <a:defPPr>
              <a:defRPr sz="1125" b="1">
                <a:solidFill>
                  <a:srgbClr val="315BCE"/>
                </a:solidFill>
                <a:latin typeface="Arial"/>
                <a:ea typeface="Arial"/>
                <a:cs typeface="Arial"/>
              </a:defRPr>
            </a:defPPr>
          </a:lstStyle>
          <a:p>
            <a:pPr>
              <a:buNone/>
              <a:defRPr sz="1125" b="1">
                <a:solidFill>
                  <a:srgbClr val="315BCE"/>
                </a:solidFill>
                <a:latin typeface="Arial"/>
                <a:ea typeface="Arial"/>
                <a:cs typeface="Arial"/>
              </a:defRPr>
            </a:pPr>
            <a:r>
              <a:rPr sz="1125" b="1">
                <a:solidFill>
                  <a:srgbClr val="315BCE"/>
                </a:solidFill>
                <a:latin typeface="Arial"/>
                <a:ea typeface="Arial"/>
                <a:cs typeface="Arial"/>
              </a:rPr>
              <a:t>CURRENT STATUS</a:t>
            </a:r>
          </a:p>
        </p:txBody>
      </p:sp>
      <p:sp>
        <p:nvSpPr>
          <p:cNvPr id="8" name="Rectangle 7">
            <a:extLst>
              <a:ext uri="{FF2B5EF4-FFF2-40B4-BE49-F238E27FC236}">
                <a16:creationId xmlns:a16="http://schemas.microsoft.com/office/drawing/2014/main" id="{DD448F75-F183-4E5E-9645-1391027D2D52}"/>
              </a:ext>
            </a:extLst>
          </p:cNvPr>
          <p:cNvSpPr>
            <a:spLocks noGrp="1"/>
          </p:cNvSpPr>
          <p:nvPr/>
        </p:nvSpPr>
        <p:spPr>
          <a:xfrm>
            <a:off x="6191250" y="2343150"/>
            <a:ext cx="4953000" cy="857250"/>
          </a:xfrm>
          <a:prstGeom prst="rect">
            <a:avLst/>
          </a:prstGeom>
          <a:noFill/>
          <a:ln w="0">
            <a:noFill/>
            <a:prstDash val="solid"/>
          </a:ln>
        </p:spPr>
        <p:txBody>
          <a:bodyPr wrap="square" lIns="0" tIns="0" rIns="0" bIns="0" anchor="ctr">
            <a:normAutofit/>
          </a:bodyPr>
          <a:lstStyle>
            <a:defPPr>
              <a:defRPr sz="1875" b="1">
                <a:solidFill>
                  <a:srgbClr val="16202B"/>
                </a:solidFill>
                <a:latin typeface="Arial"/>
                <a:ea typeface="Arial"/>
                <a:cs typeface="Arial"/>
              </a:defRPr>
            </a:defPPr>
          </a:lstStyle>
          <a:p>
            <a:pPr>
              <a:buNone/>
              <a:defRPr sz="1875" b="1">
                <a:solidFill>
                  <a:srgbClr val="16202B"/>
                </a:solidFill>
                <a:latin typeface="Arial"/>
                <a:ea typeface="Arial"/>
                <a:cs typeface="Arial"/>
              </a:defRPr>
            </a:pPr>
            <a:r>
              <a:rPr sz="1875" b="1">
                <a:solidFill>
                  <a:srgbClr val="16202B"/>
                </a:solidFill>
                <a:latin typeface="Arial"/>
                <a:ea typeface="Arial"/>
                <a:cs typeface="Arial"/>
              </a:rPr>
              <a:t>A practical shortlist from historical purchase patterns. Merchants decide which shoppers merit follow-up.</a:t>
            </a:r>
          </a:p>
        </p:txBody>
      </p:sp>
      <p:sp>
        <p:nvSpPr>
          <p:cNvPr id="9" name="Straight Connector 8">
            <a:extLst>
              <a:ext uri="{FF2B5EF4-FFF2-40B4-BE49-F238E27FC236}">
                <a16:creationId xmlns:a16="http://schemas.microsoft.com/office/drawing/2014/main" id="{1D2F1664-EEE9-4D00-AAA0-E429BBA0F08A}"/>
              </a:ext>
            </a:extLst>
          </p:cNvPr>
          <p:cNvSpPr>
            <a:spLocks noGrp="1"/>
          </p:cNvSpPr>
          <p:nvPr/>
        </p:nvSpPr>
        <p:spPr>
          <a:xfrm>
            <a:off x="6191250" y="3505200"/>
            <a:ext cx="4953000" cy="0"/>
          </a:xfrm>
          <a:prstGeom prst="line">
            <a:avLst/>
          </a:prstGeom>
          <a:ln w="9525">
            <a:solidFill>
              <a:srgbClr val="CFD6E0"/>
            </a:solidFill>
            <a:prstDash val="solid"/>
          </a:ln>
        </p:spPr>
        <p:txBody>
          <a:bodyPr/>
          <a:lstStyle/>
          <a:p>
            <a:endParaRPr/>
          </a:p>
        </p:txBody>
      </p:sp>
      <p:sp>
        <p:nvSpPr>
          <p:cNvPr id="10" name="Rectangle 9">
            <a:extLst>
              <a:ext uri="{FF2B5EF4-FFF2-40B4-BE49-F238E27FC236}">
                <a16:creationId xmlns:a16="http://schemas.microsoft.com/office/drawing/2014/main" id="{D36AF5B4-63F2-4154-9C19-BF9D4B7B3D69}"/>
              </a:ext>
            </a:extLst>
          </p:cNvPr>
          <p:cNvSpPr>
            <a:spLocks noGrp="1"/>
          </p:cNvSpPr>
          <p:nvPr/>
        </p:nvSpPr>
        <p:spPr>
          <a:xfrm>
            <a:off x="6191250" y="3810000"/>
            <a:ext cx="3048000" cy="228600"/>
          </a:xfrm>
          <a:prstGeom prst="rect">
            <a:avLst/>
          </a:prstGeom>
          <a:noFill/>
          <a:ln w="0">
            <a:noFill/>
            <a:prstDash val="solid"/>
          </a:ln>
        </p:spPr>
        <p:txBody>
          <a:bodyPr wrap="square" lIns="0" tIns="0" rIns="0" bIns="0" anchor="ctr">
            <a:normAutofit/>
          </a:bodyPr>
          <a:lstStyle>
            <a:defPPr>
              <a:defRPr sz="1125" b="1">
                <a:solidFill>
                  <a:srgbClr val="287A63"/>
                </a:solidFill>
                <a:latin typeface="Arial"/>
                <a:ea typeface="Arial"/>
                <a:cs typeface="Arial"/>
              </a:defRPr>
            </a:defPPr>
          </a:lstStyle>
          <a:p>
            <a:pPr>
              <a:buNone/>
              <a:defRPr sz="1125" b="1">
                <a:solidFill>
                  <a:srgbClr val="287A63"/>
                </a:solidFill>
                <a:latin typeface="Arial"/>
                <a:ea typeface="Arial"/>
                <a:cs typeface="Arial"/>
              </a:defRPr>
            </a:pPr>
            <a:r>
              <a:rPr sz="1125" b="1">
                <a:solidFill>
                  <a:srgbClr val="287A63"/>
                </a:solidFill>
                <a:latin typeface="Arial"/>
                <a:ea typeface="Arial"/>
                <a:cs typeface="Arial"/>
              </a:rPr>
              <a:t>TECHNOLOGY</a:t>
            </a:r>
          </a:p>
        </p:txBody>
      </p:sp>
      <p:sp>
        <p:nvSpPr>
          <p:cNvPr id="11" name="Rectangle 10">
            <a:extLst>
              <a:ext uri="{FF2B5EF4-FFF2-40B4-BE49-F238E27FC236}">
                <a16:creationId xmlns:a16="http://schemas.microsoft.com/office/drawing/2014/main" id="{ADFAD776-CDE6-4BC7-A87E-19324F1E437D}"/>
              </a:ext>
            </a:extLst>
          </p:cNvPr>
          <p:cNvSpPr>
            <a:spLocks noGrp="1"/>
          </p:cNvSpPr>
          <p:nvPr/>
        </p:nvSpPr>
        <p:spPr>
          <a:xfrm>
            <a:off x="6191250" y="4171950"/>
            <a:ext cx="4953000" cy="723900"/>
          </a:xfrm>
          <a:prstGeom prst="rect">
            <a:avLst/>
          </a:prstGeom>
          <a:noFill/>
          <a:ln w="0">
            <a:noFill/>
            <a:prstDash val="solid"/>
          </a:ln>
        </p:spPr>
        <p:txBody>
          <a:bodyPr wrap="square" lIns="0" tIns="0" rIns="0" bIns="0" anchor="ctr">
            <a:normAutofit/>
          </a:bodyPr>
          <a:lstStyle>
            <a:defPPr>
              <a:defRPr sz="1500" b="1">
                <a:solidFill>
                  <a:srgbClr val="16202B"/>
                </a:solidFill>
                <a:latin typeface="Arial"/>
                <a:ea typeface="Arial"/>
                <a:cs typeface="Arial"/>
              </a:defRPr>
            </a:defPPr>
          </a:lstStyle>
          <a:p>
            <a:pPr>
              <a:buNone/>
              <a:defRPr sz="1500" b="1">
                <a:solidFill>
                  <a:srgbClr val="16202B"/>
                </a:solidFill>
                <a:latin typeface="Arial"/>
                <a:ea typeface="Arial"/>
                <a:cs typeface="Arial"/>
              </a:defRPr>
            </a:pPr>
            <a:r>
              <a:rPr sz="1500" b="1">
                <a:solidFill>
                  <a:srgbClr val="16202B"/>
                </a:solidFill>
                <a:latin typeface="Arial"/>
                <a:ea typeface="Arial"/>
                <a:cs typeface="Arial"/>
              </a:rPr>
              <a:t>Next.js · TypeScript · browser-side CSV analysis · Gemma through LM Studio</a:t>
            </a:r>
          </a:p>
        </p:txBody>
      </p:sp>
      <p:sp>
        <p:nvSpPr>
          <p:cNvPr id="12" name="Rectangle 11">
            <a:extLst>
              <a:ext uri="{FF2B5EF4-FFF2-40B4-BE49-F238E27FC236}">
                <a16:creationId xmlns:a16="http://schemas.microsoft.com/office/drawing/2014/main" id="{343CA87A-415F-4FBD-9C36-B9F8BD4CB4EA}"/>
              </a:ext>
            </a:extLst>
          </p:cNvPr>
          <p:cNvSpPr>
            <a:spLocks noGrp="1"/>
          </p:cNvSpPr>
          <p:nvPr/>
        </p:nvSpPr>
        <p:spPr>
          <a:xfrm>
            <a:off x="6191250" y="5105400"/>
            <a:ext cx="4953000" cy="666750"/>
          </a:xfrm>
          <a:prstGeom prst="rect">
            <a:avLst/>
          </a:prstGeom>
          <a:noFill/>
          <a:ln w="0">
            <a:noFill/>
            <a:prstDash val="solid"/>
          </a:ln>
        </p:spPr>
        <p:txBody>
          <a:bodyPr wrap="square" lIns="0" tIns="0" rIns="0" bIns="0" anchor="t">
            <a:normAutofit/>
          </a:bodyPr>
          <a:lstStyle>
            <a:defPPr>
              <a:defRPr sz="1275" b="0">
                <a:solidFill>
                  <a:srgbClr val="536170"/>
                </a:solidFill>
                <a:latin typeface="Arial"/>
                <a:ea typeface="Arial"/>
                <a:cs typeface="Arial"/>
              </a:defRPr>
            </a:defPPr>
          </a:lstStyle>
          <a:p>
            <a:pPr>
              <a:buNone/>
              <a:defRPr sz="1275" b="0">
                <a:solidFill>
                  <a:srgbClr val="536170"/>
                </a:solidFill>
                <a:latin typeface="Arial"/>
                <a:ea typeface="Arial"/>
                <a:cs typeface="Arial"/>
              </a:defRPr>
            </a:pPr>
            <a:endParaRPr sz="1275" b="0" dirty="0">
              <a:solidFill>
                <a:srgbClr val="536170"/>
              </a:solidFill>
              <a:latin typeface="Arial"/>
              <a:ea typeface="Arial"/>
              <a:cs typeface="Arial"/>
            </a:endParaRPr>
          </a:p>
        </p:txBody>
      </p:sp>
    </p:spTree>
    <p:extLst>
      <p:ext uri="{BB962C8B-B14F-4D97-AF65-F5344CB8AC3E}">
        <p14:creationId xmlns:p14="http://schemas.microsoft.com/office/powerpoint/2010/main" val="91244968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822</Words>
  <Application>Microsoft Office PowerPoint</Application>
  <DocSecurity>0</DocSecurity>
  <PresentationFormat>Widescreen</PresentationFormat>
  <Paragraphs>60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chaman cc</cp:lastModifiedBy>
  <cp:revision>1</cp:revision>
  <dcterms:created xsi:type="dcterms:W3CDTF">2026-10-17T16:47:24Z</dcterms:created>
  <dcterms:modified xsi:type="dcterms:W3CDTF">2026-10-18T08:36:06Z</dcterms:modified>
</cp:coreProperties>
</file>