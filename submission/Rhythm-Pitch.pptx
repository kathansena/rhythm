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de5021ee54e4808" /><Relationship Type="http://schemas.openxmlformats.org/officeDocument/2006/relationships/extended-properties" Target="/docProps/app.xml" Id="R9bb489674ce248a4" /><Relationship Type="http://schemas.openxmlformats.org/officeDocument/2006/relationships/officeDocument" Target="/ppt/presentation.xml" Id="R7e890646ea8548f9" /></Relationships>
</file>

<file path=ppt/presentation.xml><?xml version="1.0" encoding="utf-8"?>
<p:presentation xmlns:p="http://schemas.openxmlformats.org/presentationml/2006/main">
  <p:sldMasterIdLst>
    <p:sldMasterId xmlns:r="http://schemas.openxmlformats.org/officeDocument/2006/relationships" id="2147483648" r:id="Rd6084721a5264e57"/>
  </p:sldMasterIdLst>
  <p:notesMasterIdLst>
    <p:notesMasterId xmlns:r="http://schemas.openxmlformats.org/officeDocument/2006/relationships" r:id="R0e01c2cd7b1d4d39"/>
  </p:notesMasterIdLst>
  <p:sldIdLst>
    <p:sldId xmlns:r="http://schemas.openxmlformats.org/officeDocument/2006/relationships" id="256" r:id="R052abb1f297a4645"/>
    <p:sldId xmlns:r="http://schemas.openxmlformats.org/officeDocument/2006/relationships" id="257" r:id="R8d9930a401534e34"/>
    <p:sldId xmlns:r="http://schemas.openxmlformats.org/officeDocument/2006/relationships" id="258" r:id="Ra6e500e7a6794cba"/>
    <p:sldId xmlns:r="http://schemas.openxmlformats.org/officeDocument/2006/relationships" id="259" r:id="R12c944d793854fe3"/>
    <p:sldId xmlns:r="http://schemas.openxmlformats.org/officeDocument/2006/relationships" id="260" r:id="R98ecc06399594e29"/>
    <p:sldId xmlns:r="http://schemas.openxmlformats.org/officeDocument/2006/relationships" id="261" r:id="R802ee591ebd9408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08112b32c4246ed" /><Relationship Type="http://schemas.openxmlformats.org/officeDocument/2006/relationships/slideMaster" Target="/ppt/slideMasters/slideMaster1.xml" Id="Rd6084721a5264e57" /><Relationship Type="http://schemas.openxmlformats.org/officeDocument/2006/relationships/notesMaster" Target="/ppt/notesMasters/notesMaster1.xml" Id="R0e01c2cd7b1d4d39" /><Relationship Type="http://schemas.openxmlformats.org/officeDocument/2006/relationships/presProps" Target="/ppt/presProps.xml" Id="R50581951e4e64a05" /><Relationship Type="http://schemas.openxmlformats.org/officeDocument/2006/relationships/tableStyles" Target="/ppt/tableStyles.xml" Id="Rf4ff97a5de99453b" /><Relationship Type="http://schemas.openxmlformats.org/officeDocument/2006/relationships/slide" Target="/ppt/slides/slide1.xml" Id="R052abb1f297a4645" /><Relationship Type="http://schemas.openxmlformats.org/officeDocument/2006/relationships/slide" Target="/ppt/slides/slide2.xml" Id="R8d9930a401534e34" /><Relationship Type="http://schemas.openxmlformats.org/officeDocument/2006/relationships/slide" Target="/ppt/slides/slide3.xml" Id="Ra6e500e7a6794cba" /><Relationship Type="http://schemas.openxmlformats.org/officeDocument/2006/relationships/slide" Target="/ppt/slides/slide4.xml" Id="R12c944d793854fe3" /><Relationship Type="http://schemas.openxmlformats.org/officeDocument/2006/relationships/slide" Target="/ppt/slides/slide5.xml" Id="R98ecc06399594e29" /><Relationship Type="http://schemas.openxmlformats.org/officeDocument/2006/relationships/slide" Target="/ppt/slides/slide6.xml" Id="R802ee591ebd9408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d82899b756747f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a9902e16af140ad" /><Relationship Type="http://schemas.openxmlformats.org/officeDocument/2006/relationships/notesMaster" Target="/ppt/notesMasters/notesMaster1.xml" Id="Ra10e15bb68244e32" /></Relationships>
</file>

<file path=ppt/notesSlides/_rels/notesSlide2.xml.rels>&#65279;<?xml version="1.0" encoding="utf-8"?><Relationships xmlns="http://schemas.openxmlformats.org/package/2006/relationships"><Relationship Type="http://schemas.openxmlformats.org/officeDocument/2006/relationships/slide" Target="/ppt/slides/slide2.xml" Id="R05233a1387a849ae" /><Relationship Type="http://schemas.openxmlformats.org/officeDocument/2006/relationships/notesMaster" Target="/ppt/notesMasters/notesMaster1.xml" Id="R6576f1c8175243ef" /></Relationships>
</file>

<file path=ppt/notesSlides/_rels/notesSlide3.xml.rels>&#65279;<?xml version="1.0" encoding="utf-8"?><Relationships xmlns="http://schemas.openxmlformats.org/package/2006/relationships"><Relationship Type="http://schemas.openxmlformats.org/officeDocument/2006/relationships/slide" Target="/ppt/slides/slide3.xml" Id="R85b4a168a9db4ff9" /><Relationship Type="http://schemas.openxmlformats.org/officeDocument/2006/relationships/notesMaster" Target="/ppt/notesMasters/notesMaster1.xml" Id="Rd90b5ce13e0d4c5c" /></Relationships>
</file>

<file path=ppt/notesSlides/_rels/notesSlide4.xml.rels>&#65279;<?xml version="1.0" encoding="utf-8"?><Relationships xmlns="http://schemas.openxmlformats.org/package/2006/relationships"><Relationship Type="http://schemas.openxmlformats.org/officeDocument/2006/relationships/slide" Target="/ppt/slides/slide4.xml" Id="R12acefeba13542f3" /><Relationship Type="http://schemas.openxmlformats.org/officeDocument/2006/relationships/notesMaster" Target="/ppt/notesMasters/notesMaster1.xml" Id="R932fe9d089224b2c" /></Relationships>
</file>

<file path=ppt/notesSlides/_rels/notesSlide5.xml.rels>&#65279;<?xml version="1.0" encoding="utf-8"?><Relationships xmlns="http://schemas.openxmlformats.org/package/2006/relationships"><Relationship Type="http://schemas.openxmlformats.org/officeDocument/2006/relationships/slide" Target="/ppt/slides/slide5.xml" Id="R7fea1a226d0547ae" /><Relationship Type="http://schemas.openxmlformats.org/officeDocument/2006/relationships/notesMaster" Target="/ppt/notesMasters/notesMaster1.xml" Id="Re552a992f8604dc0" /></Relationships>
</file>

<file path=ppt/notesSlides/_rels/notesSlide6.xml.rels>&#65279;<?xml version="1.0" encoding="utf-8"?><Relationships xmlns="http://schemas.openxmlformats.org/package/2006/relationships"><Relationship Type="http://schemas.openxmlformats.org/officeDocument/2006/relationships/slide" Target="/ppt/slides/slide6.xml" Id="R68ceedda008c4b4a" /><Relationship Type="http://schemas.openxmlformats.org/officeDocument/2006/relationships/notesMaster" Target="/ppt/notesMasters/notesMaster1.xml" Id="Rd97d64cb8aa2404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Rhythm is a customer retention prototype for independent retailers. Track 3: Reinvent Commerce. The presentation describes the current prototype and its limits.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intended user is an independent retailer or retention marketer. The problem framing is the product hypothesis: personal purchase intervals may be more useful for review than a single generic inactivity window. It is not a claim that this method has been proven to improve retention.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CSV processing is performed on the client. No uploaded file is stored by the app. The optional draft request contains item name and timing evidence, not customer identifiers or contact details. A local LM Studio endpoint is used in the current configuration.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Implementation detail: median gap is calculated between distinct calendar days with purchases. Rhythm rounds the median cadence to a whole day, applies the 1.6 multiplier and ceiling, and uses a 14-day minimum. Four distinct purchase days are required. This is a transparent review heuristic, not a statistically validated churn forecast.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Chen, Daqing. Online Retail, UCI Machine Learning Repository (2015), DOI 10.24432/C5BW33, https://archive.ics.uci.edu/dataset/352/online%2Bretail. The bundled extract retains UK transaction records with positive quantity and price, customer IDs, and non-cancellation invoices; it keeps the 250 customers with most distinct purchase days. Original customer IDs are replaced with salted stable pseudonyms; item labels and transaction values/dates remain from the source. The data is historical and is not current merchant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hackathon brief asks for AMD hardware or infrastructure to make a meaningful contribution. This prototype is configured for local Gemma through LM Studio, and the developer has an AMD Radeon RX 9070 XT. The GPU has not been confirmed to perform model inference. Before submission, verify LM Studio uses Radeon acceleration and show evidence in the demo video. If the run uses CPU only, do not claim AMD GPU acceleration. Hackathon: https://lablab.ai/ai-hackathons/amd-developer-hackathon-act-iii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b4cfad8d3a24f37"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c0a05e9959f4491e"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38588b9a6521429e"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92901a00c41d43df"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85cf564ccc614024"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958d182cf9914a1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AC7A411-4292-4427-8648-D564F76F24B7}"/>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2F1ABEF1-C4B3-42C8-9315-4B7697FA937B}"/>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70CA90E0-8AB5-4E17-9030-0667E411562A}"/>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8814647-0480-41A8-BC7C-73B2784467E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59E772F1-61AF-4E7C-BAA9-8666287065CB}"/>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7875D994-E4F4-49EA-BA87-0C237157338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DEE6739-4052-45FD-A23B-25B705B8964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E73D1A4B-ACBC-4328-A03C-C0CEE93E62E3}"/>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1B0E924-4DFE-4FDD-9932-80989B44E10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47F2AA0-A255-4225-9D6A-E3BA11619EBB}"/>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49050b279ec4762" /><Relationship Type="http://schemas.openxmlformats.org/officeDocument/2006/relationships/slideLayout" Target="/ppt/slideLayouts/slideLayout1.xml" Id="Rf769397a913448a6" /><Relationship Type="http://schemas.openxmlformats.org/officeDocument/2006/relationships/slideLayout" Target="/ppt/slideLayouts/slideLayout2.xml" Id="Ra10866555c6f49a7" /><Relationship Type="http://schemas.openxmlformats.org/officeDocument/2006/relationships/slideLayout" Target="/ppt/slideLayouts/slideLayout3.xml" Id="Rbbb3c0212578452e" /><Relationship Type="http://schemas.openxmlformats.org/officeDocument/2006/relationships/slideLayout" Target="/ppt/slideLayouts/slideLayout4.xml" Id="R6fb9507e640d4a5e" /><Relationship Type="http://schemas.openxmlformats.org/officeDocument/2006/relationships/slideLayout" Target="/ppt/slideLayouts/slideLayout5.xml" Id="Raa0055f10e18414e" /><Relationship Type="http://schemas.openxmlformats.org/officeDocument/2006/relationships/slideLayout" Target="/ppt/slideLayouts/slideLayout6.xml" Id="R17fd685915754ed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769397a913448a6"/>
    <p:sldLayoutId xmlns:r="http://schemas.openxmlformats.org/officeDocument/2006/relationships" id="2147483650" r:id="Ra10866555c6f49a7"/>
    <p:sldLayoutId xmlns:r="http://schemas.openxmlformats.org/officeDocument/2006/relationships" id="2147483651" r:id="Rbbb3c0212578452e"/>
    <p:sldLayoutId xmlns:r="http://schemas.openxmlformats.org/officeDocument/2006/relationships" id="2147483652" r:id="R6fb9507e640d4a5e"/>
    <p:sldLayoutId xmlns:r="http://schemas.openxmlformats.org/officeDocument/2006/relationships" id="2147483653" r:id="Raa0055f10e18414e"/>
    <p:sldLayoutId xmlns:r="http://schemas.openxmlformats.org/officeDocument/2006/relationships" id="2147483654" r:id="R17fd685915754ed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6e603499f76b4088" /><Relationship Type="http://schemas.openxmlformats.org/officeDocument/2006/relationships/notesSlide" Target="/ppt/notesSlides/notesSlide1.xml" Id="R1814e3fe0f25445a"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282c67f982074ace" /><Relationship Type="http://schemas.openxmlformats.org/officeDocument/2006/relationships/notesSlide" Target="/ppt/notesSlides/notesSlide2.xml" Id="R6f5b7a23c53b4240"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a8685e18ed134e4e" /><Relationship Type="http://schemas.openxmlformats.org/officeDocument/2006/relationships/notesSlide" Target="/ppt/notesSlides/notesSlide3.xml" Id="R83e203c14db94a31"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1f2e239651d7459a" /><Relationship Type="http://schemas.openxmlformats.org/officeDocument/2006/relationships/notesSlide" Target="/ppt/notesSlides/notesSlide4.xml" Id="R76317e0c48754303"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729595f8077c4b05" /><Relationship Type="http://schemas.openxmlformats.org/officeDocument/2006/relationships/notesSlide" Target="/ppt/notesSlides/notesSlide5.xml" Id="R246897d42b934c6f"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783fff2883a44db2" /><Relationship Type="http://schemas.openxmlformats.org/officeDocument/2006/relationships/notesSlide" Target="/ppt/notesSlides/notesSlide6.xml" Id="R38b26ef05db34826" /></Relationships>
</file>

<file path=ppt/slides/slide1.xml><?xml version="1.0" encoding="utf-8"?>
<p:sld xmlns:p="http://schemas.openxmlformats.org/presentationml/2006/main">
  <p:cSld>
    <p:bg>
      <p:bgPr>
        <a:solidFill xmlns:a="http://schemas.openxmlformats.org/drawingml/2006/main">
          <a:srgbClr val="16202B"/>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146DC76-CD0D-4C9B-A817-B532F2E7DED5}"/>
              </a:ext>
            </a:extLst>
          </p:cNvPr>
          <p:cNvSpPr>
            <a:spLocks xmlns:a="http://schemas.openxmlformats.org/drawingml/2006/main" noGrp="1"/>
          </p:cNvSpPr>
          <p:nvPr/>
        </p:nvSpPr>
        <p:spPr>
          <a:xfrm xmlns:a="http://schemas.openxmlformats.org/drawingml/2006/main">
            <a:off x="762000" y="590550"/>
            <a:ext cx="8001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defRPr sz="1125" b="1">
                <a:solidFill>
                  <a:srgbClr val="AFC2FF"/>
                </a:solidFill>
                <a:latin typeface="Arial"/>
                <a:ea typeface="Arial"/>
                <a:cs typeface="Arial"/>
              </a:defRPr>
            </a:defPPr>
          </a:lstStyle>
          <a:p xmlns:a="http://schemas.openxmlformats.org/drawingml/2006/main">
            <a:pPr>
              <a:defRPr sz="1125" b="1">
                <a:solidFill>
                  <a:srgbClr val="AFC2FF"/>
                </a:solidFill>
                <a:latin typeface="Arial"/>
                <a:ea typeface="Arial"/>
                <a:cs typeface="Arial"/>
              </a:defRPr>
            </a:pPr>
            <a:r>
              <a:rPr sz="1125" b="1">
                <a:solidFill>
                  <a:srgbClr val="AFC2FF"/>
                </a:solidFill>
                <a:latin typeface="Arial"/>
                <a:ea typeface="Arial"/>
                <a:cs typeface="Arial"/>
              </a:rPr>
              <a:t>REINVENT COMMERCE  /  TRACK 03</a:t>
            </a:r>
          </a:p>
        </p:txBody>
      </p:sp>
      <p:sp>
        <p:nvSpPr>
          <p:cNvPr id="2" name="">
            <a:extLst xmlns:a="http://schemas.openxmlformats.org/drawingml/2006/main">
              <a:ext uri="{FF2B5EF4-FFF2-40B4-BE49-F238E27FC236}">
                <a16:creationId xmlns:a16="http://schemas.microsoft.com/office/drawing/2014/main" id="{7E6FFDD1-86CF-4A63-8594-C0135862C55D}"/>
              </a:ext>
            </a:extLst>
          </p:cNvPr>
          <p:cNvSpPr>
            <a:spLocks xmlns:a="http://schemas.openxmlformats.org/drawingml/2006/main" noGrp="1"/>
          </p:cNvSpPr>
          <p:nvPr/>
        </p:nvSpPr>
        <p:spPr>
          <a:xfrm xmlns:a="http://schemas.openxmlformats.org/drawingml/2006/main">
            <a:off x="723900" y="1828800"/>
            <a:ext cx="752475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defRPr sz="6450" b="1">
                <a:solidFill>
                  <a:srgbClr val="FFFFFF"/>
                </a:solidFill>
                <a:latin typeface="Arial"/>
                <a:ea typeface="Arial"/>
                <a:cs typeface="Arial"/>
              </a:defRPr>
            </a:defPPr>
          </a:lstStyle>
          <a:p xmlns:a="http://schemas.openxmlformats.org/drawingml/2006/main">
            <a:pPr>
              <a:defRPr sz="6450" b="1">
                <a:solidFill>
                  <a:srgbClr val="FFFFFF"/>
                </a:solidFill>
                <a:latin typeface="Arial"/>
                <a:ea typeface="Arial"/>
                <a:cs typeface="Arial"/>
              </a:defRPr>
            </a:pPr>
            <a:r>
              <a:rPr sz="6450" b="1">
                <a:solidFill>
                  <a:srgbClr val="FFFFFF"/>
                </a:solidFill>
                <a:latin typeface="Arial"/>
                <a:ea typeface="Arial"/>
                <a:cs typeface="Arial"/>
              </a:rPr>
              <a:t>Rhythm</a:t>
            </a:r>
          </a:p>
        </p:txBody>
      </p:sp>
      <p:sp>
        <p:nvSpPr>
          <p:cNvPr id="3" name="">
            <a:extLst xmlns:a="http://schemas.openxmlformats.org/drawingml/2006/main">
              <a:ext uri="{FF2B5EF4-FFF2-40B4-BE49-F238E27FC236}">
                <a16:creationId xmlns:a16="http://schemas.microsoft.com/office/drawing/2014/main" id="{42349FA6-E904-49B4-9B17-D866BB04A032}"/>
              </a:ext>
            </a:extLst>
          </p:cNvPr>
          <p:cNvSpPr>
            <a:spLocks xmlns:a="http://schemas.openxmlformats.org/drawingml/2006/main" noGrp="1"/>
          </p:cNvSpPr>
          <p:nvPr/>
        </p:nvSpPr>
        <p:spPr>
          <a:xfrm xmlns:a="http://schemas.openxmlformats.org/drawingml/2006/main">
            <a:off x="781050" y="3067050"/>
            <a:ext cx="8286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defRPr sz="2400" b="0">
                <a:solidFill>
                  <a:srgbClr val="E5EAF3"/>
                </a:solidFill>
                <a:latin typeface="Arial"/>
                <a:ea typeface="Arial"/>
                <a:cs typeface="Arial"/>
              </a:defRPr>
            </a:defPPr>
          </a:lstStyle>
          <a:p xmlns:a="http://schemas.openxmlformats.org/drawingml/2006/main">
            <a:pPr>
              <a:defRPr sz="2400" b="0">
                <a:solidFill>
                  <a:srgbClr val="E5EAF3"/>
                </a:solidFill>
                <a:latin typeface="Arial"/>
                <a:ea typeface="Arial"/>
                <a:cs typeface="Arial"/>
              </a:defRPr>
            </a:pPr>
            <a:r>
              <a:rPr sz="2400" b="0">
                <a:solidFill>
                  <a:srgbClr val="E5EAF3"/>
                </a:solidFill>
                <a:latin typeface="Arial"/>
                <a:ea typeface="Arial"/>
                <a:cs typeface="Arial"/>
              </a:rPr>
              <a:t>A personal purchase clock for customer retention</a:t>
            </a:r>
          </a:p>
        </p:txBody>
      </p:sp>
      <p:sp>
        <p:nvSpPr>
          <p:cNvPr id="4" name="">
            <a:extLst xmlns:a="http://schemas.openxmlformats.org/drawingml/2006/main">
              <a:ext uri="{FF2B5EF4-FFF2-40B4-BE49-F238E27FC236}">
                <a16:creationId xmlns:a16="http://schemas.microsoft.com/office/drawing/2014/main" id="{1876AC8C-FFB8-4EFA-B7B4-917316435CF9}"/>
              </a:ext>
            </a:extLst>
          </p:cNvPr>
          <p:cNvSpPr>
            <a:spLocks xmlns:a="http://schemas.openxmlformats.org/drawingml/2006/main" noGrp="1"/>
          </p:cNvSpPr>
          <p:nvPr/>
        </p:nvSpPr>
        <p:spPr>
          <a:xfrm xmlns:a="http://schemas.openxmlformats.org/drawingml/2006/main">
            <a:off x="781050" y="4143375"/>
            <a:ext cx="10477500" cy="0"/>
          </a:xfrm>
          <a:prstGeom xmlns:a="http://schemas.openxmlformats.org/drawingml/2006/main" prst="line">
            <a:avLst/>
          </a:prstGeom>
          <a:ln xmlns:a="http://schemas.openxmlformats.org/drawingml/2006/main" w="9525">
            <a:solidFill>
              <a:srgbClr val="536170"/>
            </a:solidFill>
            <a:prstDash val="solid"/>
          </a:ln>
        </p:spPr>
      </p:sp>
      <p:sp>
        <p:nvSpPr>
          <p:cNvPr id="5" name="">
            <a:extLst xmlns:a="http://schemas.openxmlformats.org/drawingml/2006/main">
              <a:ext uri="{FF2B5EF4-FFF2-40B4-BE49-F238E27FC236}">
                <a16:creationId xmlns:a16="http://schemas.microsoft.com/office/drawing/2014/main" id="{C6D25DBD-9A41-4B68-819E-B46D5134FDC0}"/>
              </a:ext>
            </a:extLst>
          </p:cNvPr>
          <p:cNvSpPr>
            <a:spLocks xmlns:a="http://schemas.openxmlformats.org/drawingml/2006/main" noGrp="1"/>
          </p:cNvSpPr>
          <p:nvPr/>
        </p:nvSpPr>
        <p:spPr>
          <a:xfrm xmlns:a="http://schemas.openxmlformats.org/drawingml/2006/main">
            <a:off x="781050" y="4476750"/>
            <a:ext cx="89535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defRPr sz="1875" b="0">
                <a:solidFill>
                  <a:srgbClr val="FFFFFF"/>
                </a:solidFill>
                <a:latin typeface="Arial"/>
                <a:ea typeface="Arial"/>
                <a:cs typeface="Arial"/>
              </a:defRPr>
            </a:defPPr>
          </a:lstStyle>
          <a:p xmlns:a="http://schemas.openxmlformats.org/drawingml/2006/main">
            <a:pPr>
              <a:defRPr sz="1875" b="0">
                <a:solidFill>
                  <a:srgbClr val="FFFFFF"/>
                </a:solidFill>
                <a:latin typeface="Arial"/>
                <a:ea typeface="Arial"/>
                <a:cs typeface="Arial"/>
              </a:defRPr>
            </a:pPr>
            <a:r>
              <a:rPr sz="1875" b="0">
                <a:solidFill>
                  <a:srgbClr val="FFFFFF"/>
                </a:solidFill>
                <a:latin typeface="Arial"/>
                <a:ea typeface="Arial"/>
                <a:cs typeface="Arial"/>
              </a:rPr>
              <a:t>Notice when a regular shopper’s routine changes. Give a merchant evidence for a thoughtful next step.</a:t>
            </a:r>
          </a:p>
        </p:txBody>
      </p:sp>
      <p:sp>
        <p:nvSpPr>
          <p:cNvPr id="6" name="">
            <a:extLst xmlns:a="http://schemas.openxmlformats.org/drawingml/2006/main">
              <a:ext uri="{FF2B5EF4-FFF2-40B4-BE49-F238E27FC236}">
                <a16:creationId xmlns:a16="http://schemas.microsoft.com/office/drawing/2014/main" id="{284F0D83-EADD-42CE-9452-E020F97EA197}"/>
              </a:ext>
            </a:extLst>
          </p:cNvPr>
          <p:cNvSpPr>
            <a:spLocks xmlns:a="http://schemas.openxmlformats.org/drawingml/2006/main" noGrp="1"/>
          </p:cNvSpPr>
          <p:nvPr/>
        </p:nvSpPr>
        <p:spPr>
          <a:xfrm xmlns:a="http://schemas.openxmlformats.org/drawingml/2006/main">
            <a:off x="781050" y="6057900"/>
            <a:ext cx="7239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defRPr sz="1200" b="1">
                <a:solidFill>
                  <a:srgbClr val="AFC2FF"/>
                </a:solidFill>
                <a:latin typeface="Arial"/>
                <a:ea typeface="Arial"/>
                <a:cs typeface="Arial"/>
              </a:defRPr>
            </a:defPPr>
          </a:lstStyle>
          <a:p xmlns:a="http://schemas.openxmlformats.org/drawingml/2006/main">
            <a:pPr>
              <a:defRPr sz="1200" b="1">
                <a:solidFill>
                  <a:srgbClr val="AFC2FF"/>
                </a:solidFill>
                <a:latin typeface="Arial"/>
                <a:ea typeface="Arial"/>
                <a:cs typeface="Arial"/>
              </a:defRPr>
            </a:pPr>
            <a:r>
              <a:rPr sz="1200" b="1">
                <a:solidFill>
                  <a:srgbClr val="AFC2FF"/>
                </a:solidFill>
                <a:latin typeface="Arial"/>
                <a:ea typeface="Arial"/>
                <a:cs typeface="Arial"/>
              </a:rPr>
              <a:t>Prototype by KathanSena</a:t>
            </a:r>
          </a:p>
        </p:txBody>
      </p:sp>
    </p:spTree>
    <p:extLst>
      <p:ext uri="{BB962C8B-B14F-4D97-AF65-F5344CB8AC3E}">
        <p14:creationId xmlns:p14="http://schemas.microsoft.com/office/powerpoint/2010/main" val="724127096"/>
      </p:ext>
    </p:extLst>
  </p:cSld>
</p:sld>
</file>

<file path=ppt/slides/slide2.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79F8BC5D-4484-498D-8A0B-15B7A87E39BE}"/>
              </a:ext>
            </a:extLst>
          </p:cNvPr>
          <p:cNvSpPr>
            <a:spLocks xmlns:a="http://schemas.openxmlformats.org/drawingml/2006/main" noGrp="1"/>
          </p:cNvSpPr>
          <p:nvPr/>
        </p:nvSpPr>
        <p:spPr>
          <a:xfrm xmlns:a="http://schemas.openxmlformats.org/drawingml/2006/main">
            <a:off x="685800" y="342900"/>
            <a:ext cx="7620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defRPr sz="1050" b="1">
                <a:solidFill>
                  <a:srgbClr val="315BCE"/>
                </a:solidFill>
                <a:latin typeface="Arial"/>
                <a:ea typeface="Arial"/>
                <a:cs typeface="Arial"/>
              </a:defRPr>
            </a:defPPr>
          </a:lstStyle>
          <a:p xmlns:a="http://schemas.openxmlformats.org/drawingml/2006/main">
            <a:pPr>
              <a:defRPr sz="1050" b="1">
                <a:solidFill>
                  <a:srgbClr val="315BCE"/>
                </a:solidFill>
                <a:latin typeface="Arial"/>
                <a:ea typeface="Arial"/>
                <a:cs typeface="Arial"/>
              </a:defRPr>
            </a:pPr>
            <a:r>
              <a:rPr sz="1050" b="1">
                <a:solidFill>
                  <a:srgbClr val="315BCE"/>
                </a:solidFill>
                <a:latin typeface="Arial"/>
                <a:ea typeface="Arial"/>
                <a:cs typeface="Arial"/>
              </a:rPr>
              <a:t>RHYTHM  /  REINVENT COMMERCE</a:t>
            </a:r>
          </a:p>
        </p:txBody>
      </p:sp>
      <p:sp>
        <p:nvSpPr>
          <p:cNvPr id="2" name="">
            <a:extLst xmlns:a="http://schemas.openxmlformats.org/drawingml/2006/main">
              <a:ext uri="{FF2B5EF4-FFF2-40B4-BE49-F238E27FC236}">
                <a16:creationId xmlns:a16="http://schemas.microsoft.com/office/drawing/2014/main" id="{52EA869A-6625-46D2-9EE1-1FF3E3A2EBD2}"/>
              </a:ext>
            </a:extLst>
          </p:cNvPr>
          <p:cNvSpPr>
            <a:spLocks xmlns:a="http://schemas.openxmlformats.org/drawingml/2006/main" noGrp="1"/>
          </p:cNvSpPr>
          <p:nvPr/>
        </p:nvSpPr>
        <p:spPr>
          <a:xfrm xmlns:a="http://schemas.openxmlformats.org/drawingml/2006/main">
            <a:off x="685800" y="819150"/>
            <a:ext cx="108204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defRPr sz="3000" b="1">
                <a:solidFill>
                  <a:srgbClr val="16202B"/>
                </a:solidFill>
                <a:latin typeface="Arial"/>
                <a:ea typeface="Arial"/>
                <a:cs typeface="Arial"/>
              </a:defRPr>
            </a:defPPr>
          </a:lstStyle>
          <a:p xmlns:a="http://schemas.openxmlformats.org/drawingml/2006/main">
            <a:pPr>
              <a:defRPr sz="3000" b="1">
                <a:solidFill>
                  <a:srgbClr val="16202B"/>
                </a:solidFill>
                <a:latin typeface="Arial"/>
                <a:ea typeface="Arial"/>
                <a:cs typeface="Arial"/>
              </a:defRPr>
            </a:pPr>
            <a:r>
              <a:rPr sz="3000" b="1">
                <a:solidFill>
                  <a:srgbClr val="16202B"/>
                </a:solidFill>
                <a:latin typeface="Arial"/>
                <a:ea typeface="Arial"/>
                <a:cs typeface="Arial"/>
              </a:rPr>
              <a:t>Repeat buying has a personal rhythm</a:t>
            </a:r>
          </a:p>
        </p:txBody>
      </p:sp>
      <p:sp>
        <p:nvSpPr>
          <p:cNvPr id="3" name="">
            <a:extLst xmlns:a="http://schemas.openxmlformats.org/drawingml/2006/main">
              <a:ext uri="{FF2B5EF4-FFF2-40B4-BE49-F238E27FC236}">
                <a16:creationId xmlns:a16="http://schemas.microsoft.com/office/drawing/2014/main" id="{16E9577A-991D-4E41-9B06-228EB95B0B12}"/>
              </a:ext>
            </a:extLst>
          </p:cNvPr>
          <p:cNvSpPr>
            <a:spLocks xmlns:a="http://schemas.openxmlformats.org/drawingml/2006/main" noGrp="1"/>
          </p:cNvSpPr>
          <p:nvPr/>
        </p:nvSpPr>
        <p:spPr>
          <a:xfrm xmlns:a="http://schemas.openxmlformats.org/drawingml/2006/main">
            <a:off x="11049000" y="63246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r">
              <a:defRPr sz="1050" b="1">
                <a:solidFill>
                  <a:srgbClr val="536170"/>
                </a:solidFill>
                <a:latin typeface="Arial"/>
                <a:ea typeface="Arial"/>
                <a:cs typeface="Arial"/>
              </a:defRPr>
            </a:defPPr>
          </a:lstStyle>
          <a:p xmlns:a="http://schemas.openxmlformats.org/drawingml/2006/main">
            <a:pPr algn="r">
              <a:defRPr sz="1050" b="1">
                <a:solidFill>
                  <a:srgbClr val="536170"/>
                </a:solidFill>
                <a:latin typeface="Arial"/>
                <a:ea typeface="Arial"/>
                <a:cs typeface="Arial"/>
              </a:defRPr>
            </a:pPr>
            <a:r>
              <a:rPr sz="1050" b="1">
                <a:solidFill>
                  <a:srgbClr val="536170"/>
                </a:solidFill>
                <a:latin typeface="Arial"/>
                <a:ea typeface="Arial"/>
                <a:cs typeface="Arial"/>
              </a:rPr>
              <a:t>02</a:t>
            </a:r>
          </a:p>
        </p:txBody>
      </p:sp>
      <p:sp>
        <p:nvSpPr>
          <p:cNvPr id="4" name="">
            <a:extLst xmlns:a="http://schemas.openxmlformats.org/drawingml/2006/main">
              <a:ext uri="{FF2B5EF4-FFF2-40B4-BE49-F238E27FC236}">
                <a16:creationId xmlns:a16="http://schemas.microsoft.com/office/drawing/2014/main" id="{08811DF6-48E4-44F6-B134-0C200EE4D667}"/>
              </a:ext>
            </a:extLst>
          </p:cNvPr>
          <p:cNvSpPr>
            <a:spLocks xmlns:a="http://schemas.openxmlformats.org/drawingml/2006/main" noGrp="1"/>
          </p:cNvSpPr>
          <p:nvPr/>
        </p:nvSpPr>
        <p:spPr>
          <a:xfrm xmlns:a="http://schemas.openxmlformats.org/drawingml/2006/main">
            <a:off x="742950" y="1952625"/>
            <a:ext cx="3143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defRPr sz="1125" b="1">
                <a:solidFill>
                  <a:srgbClr val="315BCE"/>
                </a:solidFill>
                <a:latin typeface="Arial"/>
                <a:ea typeface="Arial"/>
                <a:cs typeface="Arial"/>
              </a:defRPr>
            </a:defPPr>
          </a:lstStyle>
          <a:p xmlns:a="http://schemas.openxmlformats.org/drawingml/2006/main">
            <a:pPr>
              <a:defRPr sz="1125" b="1">
                <a:solidFill>
                  <a:srgbClr val="315BCE"/>
                </a:solidFill>
                <a:latin typeface="Arial"/>
                <a:ea typeface="Arial"/>
                <a:cs typeface="Arial"/>
              </a:defRPr>
            </a:pPr>
            <a:r>
              <a:rPr sz="1125" b="1">
                <a:solidFill>
                  <a:srgbClr val="315BCE"/>
                </a:solidFill>
                <a:latin typeface="Arial"/>
                <a:ea typeface="Arial"/>
                <a:cs typeface="Arial"/>
              </a:rPr>
              <a:t>THE MERCHANT</a:t>
            </a:r>
          </a:p>
        </p:txBody>
      </p:sp>
      <p:sp>
        <p:nvSpPr>
          <p:cNvPr id="5" name="">
            <a:extLst xmlns:a="http://schemas.openxmlformats.org/drawingml/2006/main">
              <a:ext uri="{FF2B5EF4-FFF2-40B4-BE49-F238E27FC236}">
                <a16:creationId xmlns:a16="http://schemas.microsoft.com/office/drawing/2014/main" id="{654BCE06-49FD-4D87-9FC3-87B0FFC228CA}"/>
              </a:ext>
            </a:extLst>
          </p:cNvPr>
          <p:cNvSpPr>
            <a:spLocks xmlns:a="http://schemas.openxmlformats.org/drawingml/2006/main" noGrp="1"/>
          </p:cNvSpPr>
          <p:nvPr/>
        </p:nvSpPr>
        <p:spPr>
          <a:xfrm xmlns:a="http://schemas.openxmlformats.org/drawingml/2006/main">
            <a:off x="742950" y="2343150"/>
            <a:ext cx="447675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defRPr sz="2175" b="1">
                <a:solidFill>
                  <a:srgbClr val="16202B"/>
                </a:solidFill>
                <a:latin typeface="Arial"/>
                <a:ea typeface="Arial"/>
                <a:cs typeface="Arial"/>
              </a:defRPr>
            </a:defPPr>
          </a:lstStyle>
          <a:p xmlns:a="http://schemas.openxmlformats.org/drawingml/2006/main">
            <a:pPr>
              <a:defRPr sz="2175" b="1">
                <a:solidFill>
                  <a:srgbClr val="16202B"/>
                </a:solidFill>
                <a:latin typeface="Arial"/>
                <a:ea typeface="Arial"/>
                <a:cs typeface="Arial"/>
              </a:defRPr>
            </a:pPr>
            <a:r>
              <a:rPr sz="2175" b="1">
                <a:solidFill>
                  <a:srgbClr val="16202B"/>
                </a:solidFill>
                <a:latin typeface="Arial"/>
                <a:ea typeface="Arial"/>
                <a:cs typeface="Arial"/>
              </a:rPr>
              <a:t>A small retailer has order history but limited time to inspect every repeat shopper.</a:t>
            </a:r>
          </a:p>
        </p:txBody>
      </p:sp>
      <p:sp>
        <p:nvSpPr>
          <p:cNvPr id="6" name="">
            <a:extLst xmlns:a="http://schemas.openxmlformats.org/drawingml/2006/main">
              <a:ext uri="{FF2B5EF4-FFF2-40B4-BE49-F238E27FC236}">
                <a16:creationId xmlns:a16="http://schemas.microsoft.com/office/drawing/2014/main" id="{176491E9-A123-4925-A180-36CE87D89C57}"/>
              </a:ext>
            </a:extLst>
          </p:cNvPr>
          <p:cNvSpPr>
            <a:spLocks xmlns:a="http://schemas.openxmlformats.org/drawingml/2006/main" noGrp="1"/>
          </p:cNvSpPr>
          <p:nvPr/>
        </p:nvSpPr>
        <p:spPr>
          <a:xfrm xmlns:a="http://schemas.openxmlformats.org/drawingml/2006/main">
            <a:off x="6572250" y="1952625"/>
            <a:ext cx="3143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defRPr sz="1125" b="1">
                <a:solidFill>
                  <a:srgbClr val="315BCE"/>
                </a:solidFill>
                <a:latin typeface="Arial"/>
                <a:ea typeface="Arial"/>
                <a:cs typeface="Arial"/>
              </a:defRPr>
            </a:defPPr>
          </a:lstStyle>
          <a:p xmlns:a="http://schemas.openxmlformats.org/drawingml/2006/main">
            <a:pPr>
              <a:defRPr sz="1125" b="1">
                <a:solidFill>
                  <a:srgbClr val="315BCE"/>
                </a:solidFill>
                <a:latin typeface="Arial"/>
                <a:ea typeface="Arial"/>
                <a:cs typeface="Arial"/>
              </a:defRPr>
            </a:pPr>
            <a:r>
              <a:rPr sz="1125" b="1">
                <a:solidFill>
                  <a:srgbClr val="315BCE"/>
                </a:solidFill>
                <a:latin typeface="Arial"/>
                <a:ea typeface="Arial"/>
                <a:cs typeface="Arial"/>
              </a:rPr>
              <a:t>THE GAP</a:t>
            </a:r>
          </a:p>
        </p:txBody>
      </p:sp>
      <p:sp>
        <p:nvSpPr>
          <p:cNvPr id="7" name="">
            <a:extLst xmlns:a="http://schemas.openxmlformats.org/drawingml/2006/main">
              <a:ext uri="{FF2B5EF4-FFF2-40B4-BE49-F238E27FC236}">
                <a16:creationId xmlns:a16="http://schemas.microsoft.com/office/drawing/2014/main" id="{0427C738-2252-4A84-AFF3-A8FB7275D5F5}"/>
              </a:ext>
            </a:extLst>
          </p:cNvPr>
          <p:cNvSpPr>
            <a:spLocks xmlns:a="http://schemas.openxmlformats.org/drawingml/2006/main" noGrp="1"/>
          </p:cNvSpPr>
          <p:nvPr/>
        </p:nvSpPr>
        <p:spPr>
          <a:xfrm xmlns:a="http://schemas.openxmlformats.org/drawingml/2006/main">
            <a:off x="6572250" y="2343150"/>
            <a:ext cx="4572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defRPr sz="2175" b="1">
                <a:solidFill>
                  <a:srgbClr val="16202B"/>
                </a:solidFill>
                <a:latin typeface="Arial"/>
                <a:ea typeface="Arial"/>
                <a:cs typeface="Arial"/>
              </a:defRPr>
            </a:defPPr>
          </a:lstStyle>
          <a:p xmlns:a="http://schemas.openxmlformats.org/drawingml/2006/main">
            <a:pPr>
              <a:defRPr sz="2175" b="1">
                <a:solidFill>
                  <a:srgbClr val="16202B"/>
                </a:solidFill>
                <a:latin typeface="Arial"/>
                <a:ea typeface="Arial"/>
                <a:cs typeface="Arial"/>
              </a:defRPr>
            </a:pPr>
            <a:r>
              <a:rPr sz="2175" b="1">
                <a:solidFill>
                  <a:srgbClr val="16202B"/>
                </a:solidFill>
                <a:latin typeface="Arial"/>
                <a:ea typeface="Arial"/>
                <a:cs typeface="Arial"/>
              </a:rPr>
              <a:t>A fixed “inactive for 30 days” rule treats weekly buyers and seasonal buyers alike.</a:t>
            </a:r>
          </a:p>
        </p:txBody>
      </p:sp>
      <p:sp>
        <p:nvSpPr>
          <p:cNvPr id="8" name="">
            <a:extLst xmlns:a="http://schemas.openxmlformats.org/drawingml/2006/main">
              <a:ext uri="{FF2B5EF4-FFF2-40B4-BE49-F238E27FC236}">
                <a16:creationId xmlns:a16="http://schemas.microsoft.com/office/drawing/2014/main" id="{9029EAE8-5A5C-4573-9457-3A53EA32226D}"/>
              </a:ext>
            </a:extLst>
          </p:cNvPr>
          <p:cNvSpPr>
            <a:spLocks xmlns:a="http://schemas.openxmlformats.org/drawingml/2006/main" noGrp="1"/>
          </p:cNvSpPr>
          <p:nvPr/>
        </p:nvSpPr>
        <p:spPr>
          <a:xfrm xmlns:a="http://schemas.openxmlformats.org/drawingml/2006/main">
            <a:off x="742950" y="4095750"/>
            <a:ext cx="10382250" cy="0"/>
          </a:xfrm>
          <a:prstGeom xmlns:a="http://schemas.openxmlformats.org/drawingml/2006/main" prst="line">
            <a:avLst/>
          </a:prstGeom>
          <a:ln xmlns:a="http://schemas.openxmlformats.org/drawingml/2006/main" w="9525">
            <a:solidFill>
              <a:srgbClr val="CFD6E0"/>
            </a:solidFill>
            <a:prstDash val="solid"/>
          </a:ln>
        </p:spPr>
      </p:sp>
      <p:sp>
        <p:nvSpPr>
          <p:cNvPr id="9" name="">
            <a:extLst xmlns:a="http://schemas.openxmlformats.org/drawingml/2006/main">
              <a:ext uri="{FF2B5EF4-FFF2-40B4-BE49-F238E27FC236}">
                <a16:creationId xmlns:a16="http://schemas.microsoft.com/office/drawing/2014/main" id="{9D049E6B-8EFB-49D5-81E5-68B33F88B4D5}"/>
              </a:ext>
            </a:extLst>
          </p:cNvPr>
          <p:cNvSpPr>
            <a:spLocks xmlns:a="http://schemas.openxmlformats.org/drawingml/2006/main" noGrp="1"/>
          </p:cNvSpPr>
          <p:nvPr/>
        </p:nvSpPr>
        <p:spPr>
          <a:xfrm xmlns:a="http://schemas.openxmlformats.org/drawingml/2006/main">
            <a:off x="742950" y="4495800"/>
            <a:ext cx="9906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defRPr sz="2100" b="0">
                <a:solidFill>
                  <a:srgbClr val="536170"/>
                </a:solidFill>
                <a:latin typeface="Arial"/>
                <a:ea typeface="Arial"/>
                <a:cs typeface="Arial"/>
              </a:defRPr>
            </a:defPPr>
          </a:lstStyle>
          <a:p xmlns:a="http://schemas.openxmlformats.org/drawingml/2006/main">
            <a:pPr>
              <a:defRPr sz="2100" b="0">
                <a:solidFill>
                  <a:srgbClr val="536170"/>
                </a:solidFill>
                <a:latin typeface="Arial"/>
                <a:ea typeface="Arial"/>
                <a:cs typeface="Arial"/>
              </a:defRPr>
            </a:pPr>
            <a:r>
              <a:rPr sz="2100" b="0">
                <a:solidFill>
                  <a:srgbClr val="536170"/>
                </a:solidFill>
                <a:latin typeface="Arial"/>
                <a:ea typeface="Arial"/>
                <a:cs typeface="Arial"/>
              </a:rPr>
              <a:t>Rhythm asks a narrower question: has this shopper gone beyond their own observed repeat pattern?</a:t>
            </a:r>
          </a:p>
        </p:txBody>
      </p:sp>
    </p:spTree>
    <p:extLst>
      <p:ext uri="{BB962C8B-B14F-4D97-AF65-F5344CB8AC3E}">
        <p14:creationId xmlns:p14="http://schemas.microsoft.com/office/powerpoint/2010/main" val="1655094780"/>
      </p:ext>
    </p:extLst>
  </p:cSld>
</p:sld>
</file>

<file path=ppt/slides/slide3.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33D32411-2343-4655-9572-9413E2B17698}"/>
              </a:ext>
            </a:extLst>
          </p:cNvPr>
          <p:cNvSpPr>
            <a:spLocks xmlns:a="http://schemas.openxmlformats.org/drawingml/2006/main" noGrp="1"/>
          </p:cNvSpPr>
          <p:nvPr/>
        </p:nvSpPr>
        <p:spPr>
          <a:xfrm xmlns:a="http://schemas.openxmlformats.org/drawingml/2006/main">
            <a:off x="685800" y="342900"/>
            <a:ext cx="7620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defRPr sz="1050" b="1">
                <a:solidFill>
                  <a:srgbClr val="315BCE"/>
                </a:solidFill>
                <a:latin typeface="Arial"/>
                <a:ea typeface="Arial"/>
                <a:cs typeface="Arial"/>
              </a:defRPr>
            </a:defPPr>
          </a:lstStyle>
          <a:p xmlns:a="http://schemas.openxmlformats.org/drawingml/2006/main">
            <a:pPr>
              <a:defRPr sz="1050" b="1">
                <a:solidFill>
                  <a:srgbClr val="315BCE"/>
                </a:solidFill>
                <a:latin typeface="Arial"/>
                <a:ea typeface="Arial"/>
                <a:cs typeface="Arial"/>
              </a:defRPr>
            </a:pPr>
            <a:r>
              <a:rPr sz="1050" b="1">
                <a:solidFill>
                  <a:srgbClr val="315BCE"/>
                </a:solidFill>
                <a:latin typeface="Arial"/>
                <a:ea typeface="Arial"/>
                <a:cs typeface="Arial"/>
              </a:rPr>
              <a:t>RHYTHM  /  REINVENT COMMERCE</a:t>
            </a:r>
          </a:p>
        </p:txBody>
      </p:sp>
      <p:sp>
        <p:nvSpPr>
          <p:cNvPr id="2" name="">
            <a:extLst xmlns:a="http://schemas.openxmlformats.org/drawingml/2006/main">
              <a:ext uri="{FF2B5EF4-FFF2-40B4-BE49-F238E27FC236}">
                <a16:creationId xmlns:a16="http://schemas.microsoft.com/office/drawing/2014/main" id="{9CE59DFB-28BE-4096-8A76-9F0D1424579D}"/>
              </a:ext>
            </a:extLst>
          </p:cNvPr>
          <p:cNvSpPr>
            <a:spLocks xmlns:a="http://schemas.openxmlformats.org/drawingml/2006/main" noGrp="1"/>
          </p:cNvSpPr>
          <p:nvPr/>
        </p:nvSpPr>
        <p:spPr>
          <a:xfrm xmlns:a="http://schemas.openxmlformats.org/drawingml/2006/main">
            <a:off x="685800" y="819150"/>
            <a:ext cx="108204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defRPr sz="3000" b="1">
                <a:solidFill>
                  <a:srgbClr val="16202B"/>
                </a:solidFill>
                <a:latin typeface="Arial"/>
                <a:ea typeface="Arial"/>
                <a:cs typeface="Arial"/>
              </a:defRPr>
            </a:defPPr>
          </a:lstStyle>
          <a:p xmlns:a="http://schemas.openxmlformats.org/drawingml/2006/main">
            <a:pPr>
              <a:defRPr sz="3000" b="1">
                <a:solidFill>
                  <a:srgbClr val="16202B"/>
                </a:solidFill>
                <a:latin typeface="Arial"/>
                <a:ea typeface="Arial"/>
                <a:cs typeface="Arial"/>
              </a:defRPr>
            </a:pPr>
            <a:r>
              <a:rPr sz="3000" b="1">
                <a:solidFill>
                  <a:srgbClr val="16202B"/>
                </a:solidFill>
                <a:latin typeface="Arial"/>
                <a:ea typeface="Arial"/>
                <a:cs typeface="Arial"/>
              </a:rPr>
              <a:t>From transaction history to a reviewed action</a:t>
            </a:r>
          </a:p>
        </p:txBody>
      </p:sp>
      <p:sp>
        <p:nvSpPr>
          <p:cNvPr id="3" name="">
            <a:extLst xmlns:a="http://schemas.openxmlformats.org/drawingml/2006/main">
              <a:ext uri="{FF2B5EF4-FFF2-40B4-BE49-F238E27FC236}">
                <a16:creationId xmlns:a16="http://schemas.microsoft.com/office/drawing/2014/main" id="{D9911209-3E9D-4217-BC4A-D4E3FCB6BC58}"/>
              </a:ext>
            </a:extLst>
          </p:cNvPr>
          <p:cNvSpPr>
            <a:spLocks xmlns:a="http://schemas.openxmlformats.org/drawingml/2006/main" noGrp="1"/>
          </p:cNvSpPr>
          <p:nvPr/>
        </p:nvSpPr>
        <p:spPr>
          <a:xfrm xmlns:a="http://schemas.openxmlformats.org/drawingml/2006/main">
            <a:off x="11049000" y="63246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r">
              <a:defRPr sz="1050" b="1">
                <a:solidFill>
                  <a:srgbClr val="536170"/>
                </a:solidFill>
                <a:latin typeface="Arial"/>
                <a:ea typeface="Arial"/>
                <a:cs typeface="Arial"/>
              </a:defRPr>
            </a:defPPr>
          </a:lstStyle>
          <a:p xmlns:a="http://schemas.openxmlformats.org/drawingml/2006/main">
            <a:pPr algn="r">
              <a:defRPr sz="1050" b="1">
                <a:solidFill>
                  <a:srgbClr val="536170"/>
                </a:solidFill>
                <a:latin typeface="Arial"/>
                <a:ea typeface="Arial"/>
                <a:cs typeface="Arial"/>
              </a:defRPr>
            </a:pPr>
            <a:r>
              <a:rPr sz="1050" b="1">
                <a:solidFill>
                  <a:srgbClr val="536170"/>
                </a:solidFill>
                <a:latin typeface="Arial"/>
                <a:ea typeface="Arial"/>
                <a:cs typeface="Arial"/>
              </a:rPr>
              <a:t>03</a:t>
            </a:r>
          </a:p>
        </p:txBody>
      </p:sp>
      <p:sp>
        <p:nvSpPr>
          <p:cNvPr id="4" name="">
            <a:extLst xmlns:a="http://schemas.openxmlformats.org/drawingml/2006/main">
              <a:ext uri="{FF2B5EF4-FFF2-40B4-BE49-F238E27FC236}">
                <a16:creationId xmlns:a16="http://schemas.microsoft.com/office/drawing/2014/main" id="{A9480323-AC64-46EC-A2C9-983BB7455941}"/>
              </a:ext>
            </a:extLst>
          </p:cNvPr>
          <p:cNvSpPr>
            <a:spLocks xmlns:a="http://schemas.openxmlformats.org/drawingml/2006/main" noGrp="1"/>
          </p:cNvSpPr>
          <p:nvPr/>
        </p:nvSpPr>
        <p:spPr>
          <a:xfrm xmlns:a="http://schemas.openxmlformats.org/drawingml/2006/main">
            <a:off x="762000" y="2133600"/>
            <a:ext cx="3048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defRPr sz="1800" b="1">
                <a:solidFill>
                  <a:srgbClr val="315BCE"/>
                </a:solidFill>
                <a:latin typeface="Arial"/>
                <a:ea typeface="Arial"/>
                <a:cs typeface="Arial"/>
              </a:defRPr>
            </a:defPPr>
          </a:lstStyle>
          <a:p xmlns:a="http://schemas.openxmlformats.org/drawingml/2006/main">
            <a:pPr>
              <a:defRPr sz="1800" b="1">
                <a:solidFill>
                  <a:srgbClr val="315BCE"/>
                </a:solidFill>
                <a:latin typeface="Arial"/>
                <a:ea typeface="Arial"/>
                <a:cs typeface="Arial"/>
              </a:defRPr>
            </a:pPr>
            <a:r>
              <a:rPr sz="1800" b="1">
                <a:solidFill>
                  <a:srgbClr val="315BCE"/>
                </a:solidFill>
                <a:latin typeface="Arial"/>
                <a:ea typeface="Arial"/>
                <a:cs typeface="Arial"/>
              </a:rPr>
              <a:t>1  Find a changed cadence</a:t>
            </a:r>
          </a:p>
        </p:txBody>
      </p:sp>
      <p:sp>
        <p:nvSpPr>
          <p:cNvPr id="5" name="">
            <a:extLst xmlns:a="http://schemas.openxmlformats.org/drawingml/2006/main">
              <a:ext uri="{FF2B5EF4-FFF2-40B4-BE49-F238E27FC236}">
                <a16:creationId xmlns:a16="http://schemas.microsoft.com/office/drawing/2014/main" id="{137659FD-28DB-46C0-9FB5-C53F1C03070C}"/>
              </a:ext>
            </a:extLst>
          </p:cNvPr>
          <p:cNvSpPr>
            <a:spLocks xmlns:a="http://schemas.openxmlformats.org/drawingml/2006/main" noGrp="1"/>
          </p:cNvSpPr>
          <p:nvPr/>
        </p:nvSpPr>
        <p:spPr>
          <a:xfrm xmlns:a="http://schemas.openxmlformats.org/drawingml/2006/main">
            <a:off x="762000" y="2895600"/>
            <a:ext cx="3048000" cy="0"/>
          </a:xfrm>
          <a:prstGeom xmlns:a="http://schemas.openxmlformats.org/drawingml/2006/main" prst="line">
            <a:avLst/>
          </a:prstGeom>
          <a:ln xmlns:a="http://schemas.openxmlformats.org/drawingml/2006/main" w="9525">
            <a:solidFill>
              <a:srgbClr val="315BCE"/>
            </a:solidFill>
            <a:prstDash val="solid"/>
          </a:ln>
        </p:spPr>
      </p:sp>
      <p:sp>
        <p:nvSpPr>
          <p:cNvPr id="6" name="">
            <a:extLst xmlns:a="http://schemas.openxmlformats.org/drawingml/2006/main">
              <a:ext uri="{FF2B5EF4-FFF2-40B4-BE49-F238E27FC236}">
                <a16:creationId xmlns:a16="http://schemas.microsoft.com/office/drawing/2014/main" id="{48E4B5B7-6B50-40F1-94B6-F15FFE00AEC3}"/>
              </a:ext>
            </a:extLst>
          </p:cNvPr>
          <p:cNvSpPr>
            <a:spLocks xmlns:a="http://schemas.openxmlformats.org/drawingml/2006/main" noGrp="1"/>
          </p:cNvSpPr>
          <p:nvPr/>
        </p:nvSpPr>
        <p:spPr>
          <a:xfrm xmlns:a="http://schemas.openxmlformats.org/drawingml/2006/main">
            <a:off x="762000" y="3181350"/>
            <a:ext cx="3048000"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defRPr sz="1650" b="0">
                <a:solidFill>
                  <a:srgbClr val="16202B"/>
                </a:solidFill>
                <a:latin typeface="Arial"/>
                <a:ea typeface="Arial"/>
                <a:cs typeface="Arial"/>
              </a:defRPr>
            </a:defPPr>
          </a:lstStyle>
          <a:p xmlns:a="http://schemas.openxmlformats.org/drawingml/2006/main">
            <a:pPr>
              <a:defRPr sz="1650" b="0">
                <a:solidFill>
                  <a:srgbClr val="16202B"/>
                </a:solidFill>
                <a:latin typeface="Arial"/>
                <a:ea typeface="Arial"/>
                <a:cs typeface="Arial"/>
              </a:defRPr>
            </a:pPr>
            <a:r>
              <a:rPr sz="1650" b="0">
                <a:solidFill>
                  <a:srgbClr val="16202B"/>
                </a:solidFill>
                <a:latin typeface="Arial"/>
                <a:ea typeface="Arial"/>
                <a:cs typeface="Arial"/>
              </a:rPr>
              <a:t>Analyze a sales CSV in the browser. The attention list surfaces repeat shoppers beyond their own threshold.</a:t>
            </a:r>
          </a:p>
        </p:txBody>
      </p:sp>
      <p:sp>
        <p:nvSpPr>
          <p:cNvPr id="7" name="">
            <a:extLst xmlns:a="http://schemas.openxmlformats.org/drawingml/2006/main">
              <a:ext uri="{FF2B5EF4-FFF2-40B4-BE49-F238E27FC236}">
                <a16:creationId xmlns:a16="http://schemas.microsoft.com/office/drawing/2014/main" id="{8C8CCA25-FD70-4005-9F49-EC188E7CEA94}"/>
              </a:ext>
            </a:extLst>
          </p:cNvPr>
          <p:cNvSpPr>
            <a:spLocks xmlns:a="http://schemas.openxmlformats.org/drawingml/2006/main" noGrp="1"/>
          </p:cNvSpPr>
          <p:nvPr/>
        </p:nvSpPr>
        <p:spPr>
          <a:xfrm xmlns:a="http://schemas.openxmlformats.org/drawingml/2006/main">
            <a:off x="4524375" y="2133600"/>
            <a:ext cx="3048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defRPr sz="1800" b="1">
                <a:solidFill>
                  <a:srgbClr val="315BCE"/>
                </a:solidFill>
                <a:latin typeface="Arial"/>
                <a:ea typeface="Arial"/>
                <a:cs typeface="Arial"/>
              </a:defRPr>
            </a:defPPr>
          </a:lstStyle>
          <a:p xmlns:a="http://schemas.openxmlformats.org/drawingml/2006/main">
            <a:pPr>
              <a:defRPr sz="1800" b="1">
                <a:solidFill>
                  <a:srgbClr val="315BCE"/>
                </a:solidFill>
                <a:latin typeface="Arial"/>
                <a:ea typeface="Arial"/>
                <a:cs typeface="Arial"/>
              </a:defRPr>
            </a:pPr>
            <a:r>
              <a:rPr sz="1800" b="1">
                <a:solidFill>
                  <a:srgbClr val="315BCE"/>
                </a:solidFill>
                <a:latin typeface="Arial"/>
                <a:ea typeface="Arial"/>
                <a:cs typeface="Arial"/>
              </a:rPr>
              <a:t>2  Inspect the evidence</a:t>
            </a:r>
          </a:p>
        </p:txBody>
      </p:sp>
      <p:sp>
        <p:nvSpPr>
          <p:cNvPr id="8" name="">
            <a:extLst xmlns:a="http://schemas.openxmlformats.org/drawingml/2006/main">
              <a:ext uri="{FF2B5EF4-FFF2-40B4-BE49-F238E27FC236}">
                <a16:creationId xmlns:a16="http://schemas.microsoft.com/office/drawing/2014/main" id="{2FD6422C-4100-4C6F-BD42-A4884315C52E}"/>
              </a:ext>
            </a:extLst>
          </p:cNvPr>
          <p:cNvSpPr>
            <a:spLocks xmlns:a="http://schemas.openxmlformats.org/drawingml/2006/main" noGrp="1"/>
          </p:cNvSpPr>
          <p:nvPr/>
        </p:nvSpPr>
        <p:spPr>
          <a:xfrm xmlns:a="http://schemas.openxmlformats.org/drawingml/2006/main">
            <a:off x="4524375" y="2895600"/>
            <a:ext cx="3048000" cy="0"/>
          </a:xfrm>
          <a:prstGeom xmlns:a="http://schemas.openxmlformats.org/drawingml/2006/main" prst="line">
            <a:avLst/>
          </a:prstGeom>
          <a:ln xmlns:a="http://schemas.openxmlformats.org/drawingml/2006/main" w="9525">
            <a:solidFill>
              <a:srgbClr val="315BCE"/>
            </a:solidFill>
            <a:prstDash val="solid"/>
          </a:ln>
        </p:spPr>
      </p:sp>
      <p:sp>
        <p:nvSpPr>
          <p:cNvPr id="9" name="">
            <a:extLst xmlns:a="http://schemas.openxmlformats.org/drawingml/2006/main">
              <a:ext uri="{FF2B5EF4-FFF2-40B4-BE49-F238E27FC236}">
                <a16:creationId xmlns:a16="http://schemas.microsoft.com/office/drawing/2014/main" id="{C7E259CB-B1F2-4D44-94BE-ABA33B9EDE15}"/>
              </a:ext>
            </a:extLst>
          </p:cNvPr>
          <p:cNvSpPr>
            <a:spLocks xmlns:a="http://schemas.openxmlformats.org/drawingml/2006/main" noGrp="1"/>
          </p:cNvSpPr>
          <p:nvPr/>
        </p:nvSpPr>
        <p:spPr>
          <a:xfrm xmlns:a="http://schemas.openxmlformats.org/drawingml/2006/main">
            <a:off x="4524375" y="3181350"/>
            <a:ext cx="3048000"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defRPr sz="1650" b="0">
                <a:solidFill>
                  <a:srgbClr val="16202B"/>
                </a:solidFill>
                <a:latin typeface="Arial"/>
                <a:ea typeface="Arial"/>
                <a:cs typeface="Arial"/>
              </a:defRPr>
            </a:defPPr>
          </a:lstStyle>
          <a:p xmlns:a="http://schemas.openxmlformats.org/drawingml/2006/main">
            <a:pPr>
              <a:defRPr sz="1650" b="0">
                <a:solidFill>
                  <a:srgbClr val="16202B"/>
                </a:solidFill>
                <a:latin typeface="Arial"/>
                <a:ea typeface="Arial"/>
                <a:cs typeface="Arial"/>
              </a:defRPr>
            </a:pPr>
            <a:r>
              <a:rPr sz="1650" b="0">
                <a:solidFill>
                  <a:srgbClr val="16202B"/>
                </a:solidFill>
                <a:latin typeface="Arial"/>
                <a:ea typeface="Arial"/>
                <a:cs typeface="Arial"/>
              </a:rPr>
              <a:t>Review the shopper’s last order, usual gap, time elapsed, and most repeated item. IDs stay masked in the interface.</a:t>
            </a:r>
          </a:p>
        </p:txBody>
      </p:sp>
      <p:sp>
        <p:nvSpPr>
          <p:cNvPr id="10" name="">
            <a:extLst xmlns:a="http://schemas.openxmlformats.org/drawingml/2006/main">
              <a:ext uri="{FF2B5EF4-FFF2-40B4-BE49-F238E27FC236}">
                <a16:creationId xmlns:a16="http://schemas.microsoft.com/office/drawing/2014/main" id="{306A24E8-0CD3-4D78-9949-7EF77B298B69}"/>
              </a:ext>
            </a:extLst>
          </p:cNvPr>
          <p:cNvSpPr>
            <a:spLocks xmlns:a="http://schemas.openxmlformats.org/drawingml/2006/main" noGrp="1"/>
          </p:cNvSpPr>
          <p:nvPr/>
        </p:nvSpPr>
        <p:spPr>
          <a:xfrm xmlns:a="http://schemas.openxmlformats.org/drawingml/2006/main">
            <a:off x="8286750" y="2133600"/>
            <a:ext cx="3048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defRPr sz="1800" b="1">
                <a:solidFill>
                  <a:srgbClr val="315BCE"/>
                </a:solidFill>
                <a:latin typeface="Arial"/>
                <a:ea typeface="Arial"/>
                <a:cs typeface="Arial"/>
              </a:defRPr>
            </a:defPPr>
          </a:lstStyle>
          <a:p xmlns:a="http://schemas.openxmlformats.org/drawingml/2006/main">
            <a:pPr>
              <a:defRPr sz="1800" b="1">
                <a:solidFill>
                  <a:srgbClr val="315BCE"/>
                </a:solidFill>
                <a:latin typeface="Arial"/>
                <a:ea typeface="Arial"/>
                <a:cs typeface="Arial"/>
              </a:defRPr>
            </a:pPr>
            <a:r>
              <a:rPr sz="1800" b="1">
                <a:solidFill>
                  <a:srgbClr val="315BCE"/>
                </a:solidFill>
                <a:latin typeface="Arial"/>
                <a:ea typeface="Arial"/>
                <a:cs typeface="Arial"/>
              </a:rPr>
              <a:t>3  Draft with a human</a:t>
            </a:r>
          </a:p>
        </p:txBody>
      </p:sp>
      <p:sp>
        <p:nvSpPr>
          <p:cNvPr id="11" name="">
            <a:extLst xmlns:a="http://schemas.openxmlformats.org/drawingml/2006/main">
              <a:ext uri="{FF2B5EF4-FFF2-40B4-BE49-F238E27FC236}">
                <a16:creationId xmlns:a16="http://schemas.microsoft.com/office/drawing/2014/main" id="{45C1022B-66AD-4C79-BBA6-FD3CD062EF69}"/>
              </a:ext>
            </a:extLst>
          </p:cNvPr>
          <p:cNvSpPr>
            <a:spLocks xmlns:a="http://schemas.openxmlformats.org/drawingml/2006/main" noGrp="1"/>
          </p:cNvSpPr>
          <p:nvPr/>
        </p:nvSpPr>
        <p:spPr>
          <a:xfrm xmlns:a="http://schemas.openxmlformats.org/drawingml/2006/main">
            <a:off x="8286750" y="2895600"/>
            <a:ext cx="3048000" cy="0"/>
          </a:xfrm>
          <a:prstGeom xmlns:a="http://schemas.openxmlformats.org/drawingml/2006/main" prst="line">
            <a:avLst/>
          </a:prstGeom>
          <a:ln xmlns:a="http://schemas.openxmlformats.org/drawingml/2006/main" w="9525">
            <a:solidFill>
              <a:srgbClr val="315BCE"/>
            </a:solidFill>
            <a:prstDash val="solid"/>
          </a:ln>
        </p:spPr>
      </p:sp>
      <p:sp>
        <p:nvSpPr>
          <p:cNvPr id="12" name="">
            <a:extLst xmlns:a="http://schemas.openxmlformats.org/drawingml/2006/main">
              <a:ext uri="{FF2B5EF4-FFF2-40B4-BE49-F238E27FC236}">
                <a16:creationId xmlns:a16="http://schemas.microsoft.com/office/drawing/2014/main" id="{1A78F9FA-40D0-48DD-AD5F-0CBB3EA16B88}"/>
              </a:ext>
            </a:extLst>
          </p:cNvPr>
          <p:cNvSpPr>
            <a:spLocks xmlns:a="http://schemas.openxmlformats.org/drawingml/2006/main" noGrp="1"/>
          </p:cNvSpPr>
          <p:nvPr/>
        </p:nvSpPr>
        <p:spPr>
          <a:xfrm xmlns:a="http://schemas.openxmlformats.org/drawingml/2006/main">
            <a:off x="8286750" y="3181350"/>
            <a:ext cx="3048000"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defRPr sz="1650" b="0">
                <a:solidFill>
                  <a:srgbClr val="16202B"/>
                </a:solidFill>
                <a:latin typeface="Arial"/>
                <a:ea typeface="Arial"/>
                <a:cs typeface="Arial"/>
              </a:defRPr>
            </a:defPPr>
          </a:lstStyle>
          <a:p xmlns:a="http://schemas.openxmlformats.org/drawingml/2006/main">
            <a:pPr>
              <a:defRPr sz="1650" b="0">
                <a:solidFill>
                  <a:srgbClr val="16202B"/>
                </a:solidFill>
                <a:latin typeface="Arial"/>
                <a:ea typeface="Arial"/>
                <a:cs typeface="Arial"/>
              </a:defRPr>
            </a:pPr>
            <a:r>
              <a:rPr sz="1650" b="0">
                <a:solidFill>
                  <a:srgbClr val="16202B"/>
                </a:solidFill>
                <a:latin typeface="Arial"/>
                <a:ea typeface="Arial"/>
                <a:cs typeface="Arial"/>
              </a:rPr>
              <a:t>Optionally ask Gemma for a low-pressure reorder reminder. A person reviews it. Rhythm never sends messages.</a:t>
            </a:r>
          </a:p>
        </p:txBody>
      </p:sp>
      <p:sp>
        <p:nvSpPr>
          <p:cNvPr id="13" name="">
            <a:extLst xmlns:a="http://schemas.openxmlformats.org/drawingml/2006/main">
              <a:ext uri="{FF2B5EF4-FFF2-40B4-BE49-F238E27FC236}">
                <a16:creationId xmlns:a16="http://schemas.microsoft.com/office/drawing/2014/main" id="{4E358F0D-4231-4ADA-B052-D2E94CBD9973}"/>
              </a:ext>
            </a:extLst>
          </p:cNvPr>
          <p:cNvSpPr>
            <a:spLocks xmlns:a="http://schemas.openxmlformats.org/drawingml/2006/main" noGrp="1"/>
          </p:cNvSpPr>
          <p:nvPr/>
        </p:nvSpPr>
        <p:spPr>
          <a:xfrm xmlns:a="http://schemas.openxmlformats.org/drawingml/2006/main">
            <a:off x="762000" y="5334000"/>
            <a:ext cx="10096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defRPr sz="1800" b="1">
                <a:solidFill>
                  <a:srgbClr val="536170"/>
                </a:solidFill>
                <a:latin typeface="Arial"/>
                <a:ea typeface="Arial"/>
                <a:cs typeface="Arial"/>
              </a:defRPr>
            </a:defPPr>
          </a:lstStyle>
          <a:p xmlns:a="http://schemas.openxmlformats.org/drawingml/2006/main">
            <a:pPr>
              <a:defRPr sz="1800" b="1">
                <a:solidFill>
                  <a:srgbClr val="536170"/>
                </a:solidFill>
                <a:latin typeface="Arial"/>
                <a:ea typeface="Arial"/>
                <a:cs typeface="Arial"/>
              </a:defRPr>
            </a:pPr>
            <a:r>
              <a:rPr sz="1800" b="1">
                <a:solidFill>
                  <a:srgbClr val="536170"/>
                </a:solidFill>
                <a:latin typeface="Arial"/>
                <a:ea typeface="Arial"/>
                <a:cs typeface="Arial"/>
              </a:rPr>
              <a:t>The model writes wording. A deterministic rule creates the review signal.</a:t>
            </a:r>
          </a:p>
        </p:txBody>
      </p:sp>
    </p:spTree>
    <p:extLst>
      <p:ext uri="{BB962C8B-B14F-4D97-AF65-F5344CB8AC3E}">
        <p14:creationId xmlns:p14="http://schemas.microsoft.com/office/powerpoint/2010/main" val="1906074735"/>
      </p:ext>
    </p:extLst>
  </p:cSld>
</p:sld>
</file>

<file path=ppt/slides/slide4.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DAB3DA18-CB60-4AC1-A71F-F369022885B0}"/>
              </a:ext>
            </a:extLst>
          </p:cNvPr>
          <p:cNvSpPr>
            <a:spLocks xmlns:a="http://schemas.openxmlformats.org/drawingml/2006/main" noGrp="1"/>
          </p:cNvSpPr>
          <p:nvPr/>
        </p:nvSpPr>
        <p:spPr>
          <a:xfrm xmlns:a="http://schemas.openxmlformats.org/drawingml/2006/main">
            <a:off x="685800" y="342900"/>
            <a:ext cx="7620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defRPr sz="1050" b="1">
                <a:solidFill>
                  <a:srgbClr val="315BCE"/>
                </a:solidFill>
                <a:latin typeface="Arial"/>
                <a:ea typeface="Arial"/>
                <a:cs typeface="Arial"/>
              </a:defRPr>
            </a:defPPr>
          </a:lstStyle>
          <a:p xmlns:a="http://schemas.openxmlformats.org/drawingml/2006/main">
            <a:pPr>
              <a:defRPr sz="1050" b="1">
                <a:solidFill>
                  <a:srgbClr val="315BCE"/>
                </a:solidFill>
                <a:latin typeface="Arial"/>
                <a:ea typeface="Arial"/>
                <a:cs typeface="Arial"/>
              </a:defRPr>
            </a:pPr>
            <a:r>
              <a:rPr sz="1050" b="1">
                <a:solidFill>
                  <a:srgbClr val="315BCE"/>
                </a:solidFill>
                <a:latin typeface="Arial"/>
                <a:ea typeface="Arial"/>
                <a:cs typeface="Arial"/>
              </a:rPr>
              <a:t>RHYTHM  /  REINVENT COMMERCE</a:t>
            </a:r>
          </a:p>
        </p:txBody>
      </p:sp>
      <p:sp>
        <p:nvSpPr>
          <p:cNvPr id="2" name="">
            <a:extLst xmlns:a="http://schemas.openxmlformats.org/drawingml/2006/main">
              <a:ext uri="{FF2B5EF4-FFF2-40B4-BE49-F238E27FC236}">
                <a16:creationId xmlns:a16="http://schemas.microsoft.com/office/drawing/2014/main" id="{DA608729-6613-422D-A41A-D008DE6B971B}"/>
              </a:ext>
            </a:extLst>
          </p:cNvPr>
          <p:cNvSpPr>
            <a:spLocks xmlns:a="http://schemas.openxmlformats.org/drawingml/2006/main" noGrp="1"/>
          </p:cNvSpPr>
          <p:nvPr/>
        </p:nvSpPr>
        <p:spPr>
          <a:xfrm xmlns:a="http://schemas.openxmlformats.org/drawingml/2006/main">
            <a:off x="685800" y="819150"/>
            <a:ext cx="108204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defRPr sz="3000" b="1">
                <a:solidFill>
                  <a:srgbClr val="16202B"/>
                </a:solidFill>
                <a:latin typeface="Arial"/>
                <a:ea typeface="Arial"/>
                <a:cs typeface="Arial"/>
              </a:defRPr>
            </a:defPPr>
          </a:lstStyle>
          <a:p xmlns:a="http://schemas.openxmlformats.org/drawingml/2006/main">
            <a:pPr>
              <a:defRPr sz="3000" b="1">
                <a:solidFill>
                  <a:srgbClr val="16202B"/>
                </a:solidFill>
                <a:latin typeface="Arial"/>
                <a:ea typeface="Arial"/>
                <a:cs typeface="Arial"/>
              </a:defRPr>
            </a:pPr>
            <a:r>
              <a:rPr sz="3000" b="1">
                <a:solidFill>
                  <a:srgbClr val="16202B"/>
                </a:solidFill>
                <a:latin typeface="Arial"/>
                <a:ea typeface="Arial"/>
                <a:cs typeface="Arial"/>
              </a:rPr>
              <a:t>A transparent personal cadence rule</a:t>
            </a:r>
          </a:p>
        </p:txBody>
      </p:sp>
      <p:sp>
        <p:nvSpPr>
          <p:cNvPr id="3" name="">
            <a:extLst xmlns:a="http://schemas.openxmlformats.org/drawingml/2006/main">
              <a:ext uri="{FF2B5EF4-FFF2-40B4-BE49-F238E27FC236}">
                <a16:creationId xmlns:a16="http://schemas.microsoft.com/office/drawing/2014/main" id="{9AF7AFBB-6CC4-4FC2-91C0-ED7D91AA97D5}"/>
              </a:ext>
            </a:extLst>
          </p:cNvPr>
          <p:cNvSpPr>
            <a:spLocks xmlns:a="http://schemas.openxmlformats.org/drawingml/2006/main" noGrp="1"/>
          </p:cNvSpPr>
          <p:nvPr/>
        </p:nvSpPr>
        <p:spPr>
          <a:xfrm xmlns:a="http://schemas.openxmlformats.org/drawingml/2006/main">
            <a:off x="11049000" y="63246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r">
              <a:defRPr sz="1050" b="1">
                <a:solidFill>
                  <a:srgbClr val="536170"/>
                </a:solidFill>
                <a:latin typeface="Arial"/>
                <a:ea typeface="Arial"/>
                <a:cs typeface="Arial"/>
              </a:defRPr>
            </a:defPPr>
          </a:lstStyle>
          <a:p xmlns:a="http://schemas.openxmlformats.org/drawingml/2006/main">
            <a:pPr algn="r">
              <a:defRPr sz="1050" b="1">
                <a:solidFill>
                  <a:srgbClr val="536170"/>
                </a:solidFill>
                <a:latin typeface="Arial"/>
                <a:ea typeface="Arial"/>
                <a:cs typeface="Arial"/>
              </a:defRPr>
            </a:pPr>
            <a:r>
              <a:rPr sz="1050" b="1">
                <a:solidFill>
                  <a:srgbClr val="536170"/>
                </a:solidFill>
                <a:latin typeface="Arial"/>
                <a:ea typeface="Arial"/>
                <a:cs typeface="Arial"/>
              </a:rPr>
              <a:t>04</a:t>
            </a:r>
          </a:p>
        </p:txBody>
      </p:sp>
      <p:sp>
        <p:nvSpPr>
          <p:cNvPr id="4" name="">
            <a:extLst xmlns:a="http://schemas.openxmlformats.org/drawingml/2006/main">
              <a:ext uri="{FF2B5EF4-FFF2-40B4-BE49-F238E27FC236}">
                <a16:creationId xmlns:a16="http://schemas.microsoft.com/office/drawing/2014/main" id="{94223111-A8DC-484A-9172-CB26BECA4563}"/>
              </a:ext>
            </a:extLst>
          </p:cNvPr>
          <p:cNvSpPr>
            <a:spLocks xmlns:a="http://schemas.openxmlformats.org/drawingml/2006/main" noGrp="1"/>
          </p:cNvSpPr>
          <p:nvPr/>
        </p:nvSpPr>
        <p:spPr>
          <a:xfrm xmlns:a="http://schemas.openxmlformats.org/drawingml/2006/main">
            <a:off x="762000" y="2038350"/>
            <a:ext cx="2381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defRPr sz="1125" b="1">
                <a:solidFill>
                  <a:srgbClr val="315BCE"/>
                </a:solidFill>
                <a:latin typeface="Arial"/>
                <a:ea typeface="Arial"/>
                <a:cs typeface="Arial"/>
              </a:defRPr>
            </a:defPPr>
          </a:lstStyle>
          <a:p xmlns:a="http://schemas.openxmlformats.org/drawingml/2006/main">
            <a:pPr>
              <a:defRPr sz="1125" b="1">
                <a:solidFill>
                  <a:srgbClr val="315BCE"/>
                </a:solidFill>
                <a:latin typeface="Arial"/>
                <a:ea typeface="Arial"/>
                <a:cs typeface="Arial"/>
              </a:defRPr>
            </a:pPr>
            <a:r>
              <a:rPr sz="1125" b="1">
                <a:solidFill>
                  <a:srgbClr val="315BCE"/>
                </a:solidFill>
                <a:latin typeface="Arial"/>
                <a:ea typeface="Arial"/>
                <a:cs typeface="Arial"/>
              </a:rPr>
              <a:t>ELIGIBILITY</a:t>
            </a:r>
          </a:p>
        </p:txBody>
      </p:sp>
      <p:sp>
        <p:nvSpPr>
          <p:cNvPr id="5" name="">
            <a:extLst xmlns:a="http://schemas.openxmlformats.org/drawingml/2006/main">
              <a:ext uri="{FF2B5EF4-FFF2-40B4-BE49-F238E27FC236}">
                <a16:creationId xmlns:a16="http://schemas.microsoft.com/office/drawing/2014/main" id="{9BC93365-EAC2-42B5-8697-EEB31AD40825}"/>
              </a:ext>
            </a:extLst>
          </p:cNvPr>
          <p:cNvSpPr>
            <a:spLocks xmlns:a="http://schemas.openxmlformats.org/drawingml/2006/main" noGrp="1"/>
          </p:cNvSpPr>
          <p:nvPr/>
        </p:nvSpPr>
        <p:spPr>
          <a:xfrm xmlns:a="http://schemas.openxmlformats.org/drawingml/2006/main">
            <a:off x="762000" y="2400300"/>
            <a:ext cx="4476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99009"/>
          </a:bodyPr>
          <a:lstStyle xmlns:a="http://schemas.openxmlformats.org/drawingml/2006/main">
            <a:defPPr>
              <a:defRPr sz="2100" b="1">
                <a:solidFill>
                  <a:srgbClr val="16202B"/>
                </a:solidFill>
                <a:latin typeface="Arial"/>
                <a:ea typeface="Arial"/>
                <a:cs typeface="Arial"/>
              </a:defRPr>
            </a:defPPr>
          </a:lstStyle>
          <a:p xmlns:a="http://schemas.openxmlformats.org/drawingml/2006/main">
            <a:pPr>
              <a:defRPr sz="2100" b="1">
                <a:solidFill>
                  <a:srgbClr val="16202B"/>
                </a:solidFill>
                <a:latin typeface="Arial"/>
                <a:ea typeface="Arial"/>
                <a:cs typeface="Arial"/>
              </a:defRPr>
            </a:pPr>
            <a:r>
              <a:rPr sz="2100" b="1">
                <a:solidFill>
                  <a:srgbClr val="16202B"/>
                </a:solidFill>
                <a:latin typeface="Arial"/>
                <a:ea typeface="Arial"/>
                <a:cs typeface="Arial"/>
              </a:rPr>
              <a:t>At least four distinct purchase days</a:t>
            </a:r>
          </a:p>
        </p:txBody>
      </p:sp>
      <p:sp>
        <p:nvSpPr>
          <p:cNvPr id="6" name="">
            <a:extLst xmlns:a="http://schemas.openxmlformats.org/drawingml/2006/main">
              <a:ext uri="{FF2B5EF4-FFF2-40B4-BE49-F238E27FC236}">
                <a16:creationId xmlns:a16="http://schemas.microsoft.com/office/drawing/2014/main" id="{DBC3F546-AA76-443A-97FB-0ECF0BC9CC35}"/>
              </a:ext>
            </a:extLst>
          </p:cNvPr>
          <p:cNvSpPr>
            <a:spLocks xmlns:a="http://schemas.openxmlformats.org/drawingml/2006/main" noGrp="1"/>
          </p:cNvSpPr>
          <p:nvPr/>
        </p:nvSpPr>
        <p:spPr>
          <a:xfrm xmlns:a="http://schemas.openxmlformats.org/drawingml/2006/main">
            <a:off x="762000" y="3314700"/>
            <a:ext cx="2381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defRPr sz="1125" b="1">
                <a:solidFill>
                  <a:srgbClr val="315BCE"/>
                </a:solidFill>
                <a:latin typeface="Arial"/>
                <a:ea typeface="Arial"/>
                <a:cs typeface="Arial"/>
              </a:defRPr>
            </a:defPPr>
          </a:lstStyle>
          <a:p xmlns:a="http://schemas.openxmlformats.org/drawingml/2006/main">
            <a:pPr>
              <a:defRPr sz="1125" b="1">
                <a:solidFill>
                  <a:srgbClr val="315BCE"/>
                </a:solidFill>
                <a:latin typeface="Arial"/>
                <a:ea typeface="Arial"/>
                <a:cs typeface="Arial"/>
              </a:defRPr>
            </a:pPr>
            <a:r>
              <a:rPr sz="1125" b="1">
                <a:solidFill>
                  <a:srgbClr val="315BCE"/>
                </a:solidFill>
                <a:latin typeface="Arial"/>
                <a:ea typeface="Arial"/>
                <a:cs typeface="Arial"/>
              </a:rPr>
              <a:t>THRESHOLD</a:t>
            </a:r>
          </a:p>
        </p:txBody>
      </p:sp>
      <p:sp>
        <p:nvSpPr>
          <p:cNvPr id="7" name="">
            <a:extLst xmlns:a="http://schemas.openxmlformats.org/drawingml/2006/main">
              <a:ext uri="{FF2B5EF4-FFF2-40B4-BE49-F238E27FC236}">
                <a16:creationId xmlns:a16="http://schemas.microsoft.com/office/drawing/2014/main" id="{E8C19C73-52C1-44C1-82C3-FEDF66A7FBEE}"/>
              </a:ext>
            </a:extLst>
          </p:cNvPr>
          <p:cNvSpPr>
            <a:spLocks xmlns:a="http://schemas.openxmlformats.org/drawingml/2006/main" noGrp="1"/>
          </p:cNvSpPr>
          <p:nvPr/>
        </p:nvSpPr>
        <p:spPr>
          <a:xfrm xmlns:a="http://schemas.openxmlformats.org/drawingml/2006/main">
            <a:off x="762000" y="3695700"/>
            <a:ext cx="6191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defRPr sz="2325" b="1">
                <a:solidFill>
                  <a:srgbClr val="16202B"/>
                </a:solidFill>
                <a:latin typeface="Arial"/>
                <a:ea typeface="Arial"/>
                <a:cs typeface="Arial"/>
              </a:defRPr>
            </a:defPPr>
          </a:lstStyle>
          <a:p xmlns:a="http://schemas.openxmlformats.org/drawingml/2006/main">
            <a:pPr>
              <a:defRPr sz="2325" b="1">
                <a:solidFill>
                  <a:srgbClr val="16202B"/>
                </a:solidFill>
                <a:latin typeface="Arial"/>
                <a:ea typeface="Arial"/>
                <a:cs typeface="Arial"/>
              </a:defRPr>
            </a:pPr>
            <a:r>
              <a:rPr sz="2325" b="1">
                <a:solidFill>
                  <a:srgbClr val="16202B"/>
                </a:solidFill>
                <a:latin typeface="Arial"/>
                <a:ea typeface="Arial"/>
                <a:cs typeface="Arial"/>
              </a:rPr>
              <a:t>max(14 days, 1.6 × median gap)</a:t>
            </a:r>
          </a:p>
        </p:txBody>
      </p:sp>
      <p:sp>
        <p:nvSpPr>
          <p:cNvPr id="8" name="">
            <a:extLst xmlns:a="http://schemas.openxmlformats.org/drawingml/2006/main">
              <a:ext uri="{FF2B5EF4-FFF2-40B4-BE49-F238E27FC236}">
                <a16:creationId xmlns:a16="http://schemas.microsoft.com/office/drawing/2014/main" id="{FACAA184-844D-48C9-8D59-FD80A09E6E98}"/>
              </a:ext>
            </a:extLst>
          </p:cNvPr>
          <p:cNvSpPr>
            <a:spLocks xmlns:a="http://schemas.openxmlformats.org/drawingml/2006/main" noGrp="1"/>
          </p:cNvSpPr>
          <p:nvPr/>
        </p:nvSpPr>
        <p:spPr>
          <a:xfrm xmlns:a="http://schemas.openxmlformats.org/drawingml/2006/main">
            <a:off x="762000" y="4629150"/>
            <a:ext cx="10191750" cy="0"/>
          </a:xfrm>
          <a:prstGeom xmlns:a="http://schemas.openxmlformats.org/drawingml/2006/main" prst="line">
            <a:avLst/>
          </a:prstGeom>
          <a:ln xmlns:a="http://schemas.openxmlformats.org/drawingml/2006/main" w="9525">
            <a:solidFill>
              <a:srgbClr val="CFD6E0"/>
            </a:solidFill>
            <a:prstDash val="solid"/>
          </a:ln>
        </p:spPr>
      </p:sp>
      <p:sp>
        <p:nvSpPr>
          <p:cNvPr id="9" name="">
            <a:extLst xmlns:a="http://schemas.openxmlformats.org/drawingml/2006/main">
              <a:ext uri="{FF2B5EF4-FFF2-40B4-BE49-F238E27FC236}">
                <a16:creationId xmlns:a16="http://schemas.microsoft.com/office/drawing/2014/main" id="{008F7886-1FF6-4D32-B97E-D0997A23ED00}"/>
              </a:ext>
            </a:extLst>
          </p:cNvPr>
          <p:cNvSpPr>
            <a:spLocks xmlns:a="http://schemas.openxmlformats.org/drawingml/2006/main" noGrp="1"/>
          </p:cNvSpPr>
          <p:nvPr/>
        </p:nvSpPr>
        <p:spPr>
          <a:xfrm xmlns:a="http://schemas.openxmlformats.org/drawingml/2006/main">
            <a:off x="762000" y="4914900"/>
            <a:ext cx="7429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defRPr sz="1800" b="0">
                <a:solidFill>
                  <a:srgbClr val="536170"/>
                </a:solidFill>
                <a:latin typeface="Arial"/>
                <a:ea typeface="Arial"/>
                <a:cs typeface="Arial"/>
              </a:defRPr>
            </a:defPPr>
          </a:lstStyle>
          <a:p xmlns:a="http://schemas.openxmlformats.org/drawingml/2006/main">
            <a:pPr>
              <a:defRPr sz="1800" b="0">
                <a:solidFill>
                  <a:srgbClr val="536170"/>
                </a:solidFill>
                <a:latin typeface="Arial"/>
                <a:ea typeface="Arial"/>
                <a:cs typeface="Arial"/>
              </a:defRPr>
            </a:pPr>
            <a:r>
              <a:rPr sz="1800" b="0">
                <a:solidFill>
                  <a:srgbClr val="536170"/>
                </a:solidFill>
                <a:latin typeface="Arial"/>
                <a:ea typeface="Arial"/>
                <a:cs typeface="Arial"/>
              </a:rPr>
              <a:t>Flag for human review only when days since the last order exceed that threshold.</a:t>
            </a:r>
          </a:p>
        </p:txBody>
      </p:sp>
      <p:sp>
        <p:nvSpPr>
          <p:cNvPr id="10" name="">
            <a:extLst xmlns:a="http://schemas.openxmlformats.org/drawingml/2006/main">
              <a:ext uri="{FF2B5EF4-FFF2-40B4-BE49-F238E27FC236}">
                <a16:creationId xmlns:a16="http://schemas.microsoft.com/office/drawing/2014/main" id="{BC1A3787-F738-45AB-BF0C-1F0819856C1B}"/>
              </a:ext>
            </a:extLst>
          </p:cNvPr>
          <p:cNvSpPr>
            <a:spLocks xmlns:a="http://schemas.openxmlformats.org/drawingml/2006/main" noGrp="1"/>
          </p:cNvSpPr>
          <p:nvPr/>
        </p:nvSpPr>
        <p:spPr>
          <a:xfrm xmlns:a="http://schemas.openxmlformats.org/drawingml/2006/main">
            <a:off x="8477250" y="3467100"/>
            <a:ext cx="2571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defRPr sz="1200" b="1">
                <a:solidFill>
                  <a:srgbClr val="287A63"/>
                </a:solidFill>
                <a:latin typeface="Arial"/>
                <a:ea typeface="Arial"/>
                <a:cs typeface="Arial"/>
              </a:defRPr>
            </a:defPPr>
          </a:lstStyle>
          <a:p xmlns:a="http://schemas.openxmlformats.org/drawingml/2006/main">
            <a:pPr>
              <a:defRPr sz="1200" b="1">
                <a:solidFill>
                  <a:srgbClr val="287A63"/>
                </a:solidFill>
                <a:latin typeface="Arial"/>
                <a:ea typeface="Arial"/>
                <a:cs typeface="Arial"/>
              </a:defRPr>
            </a:pPr>
            <a:r>
              <a:rPr sz="1200" b="1">
                <a:solidFill>
                  <a:srgbClr val="287A63"/>
                </a:solidFill>
                <a:latin typeface="Arial"/>
                <a:ea typeface="Arial"/>
                <a:cs typeface="Arial"/>
              </a:rPr>
              <a:t>NOT A CHURN PREDICTION</a:t>
            </a:r>
          </a:p>
        </p:txBody>
      </p:sp>
      <p:sp>
        <p:nvSpPr>
          <p:cNvPr id="11" name="">
            <a:extLst xmlns:a="http://schemas.openxmlformats.org/drawingml/2006/main">
              <a:ext uri="{FF2B5EF4-FFF2-40B4-BE49-F238E27FC236}">
                <a16:creationId xmlns:a16="http://schemas.microsoft.com/office/drawing/2014/main" id="{68EBA251-EC24-4D8F-8B8B-7C7A1B6E6FBE}"/>
              </a:ext>
            </a:extLst>
          </p:cNvPr>
          <p:cNvSpPr>
            <a:spLocks xmlns:a="http://schemas.openxmlformats.org/drawingml/2006/main" noGrp="1"/>
          </p:cNvSpPr>
          <p:nvPr/>
        </p:nvSpPr>
        <p:spPr>
          <a:xfrm xmlns:a="http://schemas.openxmlformats.org/drawingml/2006/main">
            <a:off x="8477250" y="3829050"/>
            <a:ext cx="257175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defRPr sz="1425" b="0">
                <a:solidFill>
                  <a:srgbClr val="536170"/>
                </a:solidFill>
                <a:latin typeface="Arial"/>
                <a:ea typeface="Arial"/>
                <a:cs typeface="Arial"/>
              </a:defRPr>
            </a:defPPr>
          </a:lstStyle>
          <a:p xmlns:a="http://schemas.openxmlformats.org/drawingml/2006/main">
            <a:pPr>
              <a:defRPr sz="1425" b="0">
                <a:solidFill>
                  <a:srgbClr val="536170"/>
                </a:solidFill>
                <a:latin typeface="Arial"/>
                <a:ea typeface="Arial"/>
                <a:cs typeface="Arial"/>
              </a:defRPr>
            </a:pPr>
            <a:r>
              <a:rPr sz="1425" b="0">
                <a:solidFill>
                  <a:srgbClr val="536170"/>
                </a:solidFill>
                <a:latin typeface="Arial"/>
                <a:ea typeface="Arial"/>
                <a:cs typeface="Arial"/>
              </a:rPr>
              <a:t>The signal says the interval changed. It does not explain why.</a:t>
            </a:r>
          </a:p>
        </p:txBody>
      </p:sp>
    </p:spTree>
    <p:extLst>
      <p:ext uri="{BB962C8B-B14F-4D97-AF65-F5344CB8AC3E}">
        <p14:creationId xmlns:p14="http://schemas.microsoft.com/office/powerpoint/2010/main" val="1986843593"/>
      </p:ext>
    </p:extLst>
  </p:cSld>
</p:sld>
</file>

<file path=ppt/slides/slide5.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3D54FB5-B2F5-446F-B247-7B8943F0F847}"/>
              </a:ext>
            </a:extLst>
          </p:cNvPr>
          <p:cNvSpPr>
            <a:spLocks xmlns:a="http://schemas.openxmlformats.org/drawingml/2006/main" noGrp="1"/>
          </p:cNvSpPr>
          <p:nvPr/>
        </p:nvSpPr>
        <p:spPr>
          <a:xfrm xmlns:a="http://schemas.openxmlformats.org/drawingml/2006/main">
            <a:off x="685800" y="342900"/>
            <a:ext cx="7620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defRPr sz="1050" b="1">
                <a:solidFill>
                  <a:srgbClr val="315BCE"/>
                </a:solidFill>
                <a:latin typeface="Arial"/>
                <a:ea typeface="Arial"/>
                <a:cs typeface="Arial"/>
              </a:defRPr>
            </a:defPPr>
          </a:lstStyle>
          <a:p xmlns:a="http://schemas.openxmlformats.org/drawingml/2006/main">
            <a:pPr>
              <a:defRPr sz="1050" b="1">
                <a:solidFill>
                  <a:srgbClr val="315BCE"/>
                </a:solidFill>
                <a:latin typeface="Arial"/>
                <a:ea typeface="Arial"/>
                <a:cs typeface="Arial"/>
              </a:defRPr>
            </a:pPr>
            <a:r>
              <a:rPr sz="1050" b="1">
                <a:solidFill>
                  <a:srgbClr val="315BCE"/>
                </a:solidFill>
                <a:latin typeface="Arial"/>
                <a:ea typeface="Arial"/>
                <a:cs typeface="Arial"/>
              </a:rPr>
              <a:t>RHYTHM  /  REINVENT COMMERCE</a:t>
            </a:r>
          </a:p>
        </p:txBody>
      </p:sp>
      <p:sp>
        <p:nvSpPr>
          <p:cNvPr id="2" name="">
            <a:extLst xmlns:a="http://schemas.openxmlformats.org/drawingml/2006/main">
              <a:ext uri="{FF2B5EF4-FFF2-40B4-BE49-F238E27FC236}">
                <a16:creationId xmlns:a16="http://schemas.microsoft.com/office/drawing/2014/main" id="{2AFE4CE1-DDDE-4F4A-A7B1-C2F328914151}"/>
              </a:ext>
            </a:extLst>
          </p:cNvPr>
          <p:cNvSpPr>
            <a:spLocks xmlns:a="http://schemas.openxmlformats.org/drawingml/2006/main" noGrp="1"/>
          </p:cNvSpPr>
          <p:nvPr/>
        </p:nvSpPr>
        <p:spPr>
          <a:xfrm xmlns:a="http://schemas.openxmlformats.org/drawingml/2006/main">
            <a:off x="685800" y="819150"/>
            <a:ext cx="108204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defRPr sz="3000" b="1">
                <a:solidFill>
                  <a:srgbClr val="16202B"/>
                </a:solidFill>
                <a:latin typeface="Arial"/>
                <a:ea typeface="Arial"/>
                <a:cs typeface="Arial"/>
              </a:defRPr>
            </a:defPPr>
          </a:lstStyle>
          <a:p xmlns:a="http://schemas.openxmlformats.org/drawingml/2006/main">
            <a:pPr>
              <a:defRPr sz="3000" b="1">
                <a:solidFill>
                  <a:srgbClr val="16202B"/>
                </a:solidFill>
                <a:latin typeface="Arial"/>
                <a:ea typeface="Arial"/>
                <a:cs typeface="Arial"/>
              </a:defRPr>
            </a:pPr>
            <a:r>
              <a:rPr sz="3000" b="1">
                <a:solidFill>
                  <a:srgbClr val="16202B"/>
                </a:solidFill>
                <a:latin typeface="Arial"/>
                <a:ea typeface="Arial"/>
                <a:cs typeface="Arial"/>
              </a:rPr>
              <a:t>A real dataset, with clear limits</a:t>
            </a:r>
          </a:p>
        </p:txBody>
      </p:sp>
      <p:sp>
        <p:nvSpPr>
          <p:cNvPr id="3" name="">
            <a:extLst xmlns:a="http://schemas.openxmlformats.org/drawingml/2006/main">
              <a:ext uri="{FF2B5EF4-FFF2-40B4-BE49-F238E27FC236}">
                <a16:creationId xmlns:a16="http://schemas.microsoft.com/office/drawing/2014/main" id="{751B8772-385B-4D5D-913E-5A2167A884F1}"/>
              </a:ext>
            </a:extLst>
          </p:cNvPr>
          <p:cNvSpPr>
            <a:spLocks xmlns:a="http://schemas.openxmlformats.org/drawingml/2006/main" noGrp="1"/>
          </p:cNvSpPr>
          <p:nvPr/>
        </p:nvSpPr>
        <p:spPr>
          <a:xfrm xmlns:a="http://schemas.openxmlformats.org/drawingml/2006/main">
            <a:off x="11049000" y="63246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r">
              <a:defRPr sz="1050" b="1">
                <a:solidFill>
                  <a:srgbClr val="536170"/>
                </a:solidFill>
                <a:latin typeface="Arial"/>
                <a:ea typeface="Arial"/>
                <a:cs typeface="Arial"/>
              </a:defRPr>
            </a:defPPr>
          </a:lstStyle>
          <a:p xmlns:a="http://schemas.openxmlformats.org/drawingml/2006/main">
            <a:pPr algn="r">
              <a:defRPr sz="1050" b="1">
                <a:solidFill>
                  <a:srgbClr val="536170"/>
                </a:solidFill>
                <a:latin typeface="Arial"/>
                <a:ea typeface="Arial"/>
                <a:cs typeface="Arial"/>
              </a:defRPr>
            </a:pPr>
            <a:r>
              <a:rPr sz="1050" b="1">
                <a:solidFill>
                  <a:srgbClr val="536170"/>
                </a:solidFill>
                <a:latin typeface="Arial"/>
                <a:ea typeface="Arial"/>
                <a:cs typeface="Arial"/>
              </a:rPr>
              <a:t>05</a:t>
            </a:r>
          </a:p>
        </p:txBody>
      </p:sp>
      <p:sp>
        <p:nvSpPr>
          <p:cNvPr id="4" name="">
            <a:extLst xmlns:a="http://schemas.openxmlformats.org/drawingml/2006/main">
              <a:ext uri="{FF2B5EF4-FFF2-40B4-BE49-F238E27FC236}">
                <a16:creationId xmlns:a16="http://schemas.microsoft.com/office/drawing/2014/main" id="{13F9B63F-F70A-438B-9DE0-207C22FC975F}"/>
              </a:ext>
            </a:extLst>
          </p:cNvPr>
          <p:cNvSpPr>
            <a:spLocks xmlns:a="http://schemas.openxmlformats.org/drawingml/2006/main" noGrp="1"/>
          </p:cNvSpPr>
          <p:nvPr/>
        </p:nvSpPr>
        <p:spPr>
          <a:xfrm xmlns:a="http://schemas.openxmlformats.org/drawingml/2006/main">
            <a:off x="762000" y="2000250"/>
            <a:ext cx="476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defRPr sz="1125" b="1">
                <a:solidFill>
                  <a:srgbClr val="315BCE"/>
                </a:solidFill>
                <a:latin typeface="Arial"/>
                <a:ea typeface="Arial"/>
                <a:cs typeface="Arial"/>
              </a:defRPr>
            </a:defPPr>
          </a:lstStyle>
          <a:p xmlns:a="http://schemas.openxmlformats.org/drawingml/2006/main">
            <a:pPr>
              <a:defRPr sz="1125" b="1">
                <a:solidFill>
                  <a:srgbClr val="315BCE"/>
                </a:solidFill>
                <a:latin typeface="Arial"/>
                <a:ea typeface="Arial"/>
                <a:cs typeface="Arial"/>
              </a:defRPr>
            </a:pPr>
            <a:r>
              <a:rPr sz="1125" b="1">
                <a:solidFill>
                  <a:srgbClr val="315BCE"/>
                </a:solidFill>
                <a:latin typeface="Arial"/>
                <a:ea typeface="Arial"/>
                <a:cs typeface="Arial"/>
              </a:rPr>
              <a:t>UCI ONLINE RETAIL</a:t>
            </a:r>
          </a:p>
        </p:txBody>
      </p:sp>
      <p:sp>
        <p:nvSpPr>
          <p:cNvPr id="5" name="">
            <a:extLst xmlns:a="http://schemas.openxmlformats.org/drawingml/2006/main">
              <a:ext uri="{FF2B5EF4-FFF2-40B4-BE49-F238E27FC236}">
                <a16:creationId xmlns:a16="http://schemas.microsoft.com/office/drawing/2014/main" id="{258CCC7A-01B3-45BD-9081-DF937903D0B4}"/>
              </a:ext>
            </a:extLst>
          </p:cNvPr>
          <p:cNvSpPr>
            <a:spLocks xmlns:a="http://schemas.openxmlformats.org/drawingml/2006/main" noGrp="1"/>
          </p:cNvSpPr>
          <p:nvPr/>
        </p:nvSpPr>
        <p:spPr>
          <a:xfrm xmlns:a="http://schemas.openxmlformats.org/drawingml/2006/main">
            <a:off x="762000" y="2381250"/>
            <a:ext cx="5334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defRPr sz="1875" b="1">
                <a:solidFill>
                  <a:srgbClr val="16202B"/>
                </a:solidFill>
                <a:latin typeface="Arial"/>
                <a:ea typeface="Arial"/>
                <a:cs typeface="Arial"/>
              </a:defRPr>
            </a:defPPr>
          </a:lstStyle>
          <a:p xmlns:a="http://schemas.openxmlformats.org/drawingml/2006/main">
            <a:pPr>
              <a:defRPr sz="1875" b="1">
                <a:solidFill>
                  <a:srgbClr val="16202B"/>
                </a:solidFill>
                <a:latin typeface="Arial"/>
                <a:ea typeface="Arial"/>
                <a:cs typeface="Arial"/>
              </a:defRPr>
            </a:pPr>
            <a:r>
              <a:rPr sz="1875" b="1">
                <a:solidFill>
                  <a:srgbClr val="16202B"/>
                </a:solidFill>
                <a:latin typeface="Arial"/>
                <a:ea typeface="Arial"/>
                <a:cs typeface="Arial"/>
              </a:rPr>
              <a:t>A reproducible extract of UK transactions from 2010–2011</a:t>
            </a:r>
          </a:p>
        </p:txBody>
      </p:sp>
      <p:sp>
        <p:nvSpPr>
          <p:cNvPr id="6" name="">
            <a:extLst xmlns:a="http://schemas.openxmlformats.org/drawingml/2006/main">
              <a:ext uri="{FF2B5EF4-FFF2-40B4-BE49-F238E27FC236}">
                <a16:creationId xmlns:a16="http://schemas.microsoft.com/office/drawing/2014/main" id="{289549D4-2E6A-4B01-AA76-5A477F2E2285}"/>
              </a:ext>
            </a:extLst>
          </p:cNvPr>
          <p:cNvSpPr>
            <a:spLocks xmlns:a="http://schemas.openxmlformats.org/drawingml/2006/main" noGrp="1"/>
          </p:cNvSpPr>
          <p:nvPr/>
        </p:nvSpPr>
        <p:spPr>
          <a:xfrm xmlns:a="http://schemas.openxmlformats.org/drawingml/2006/main">
            <a:off x="762000" y="3390900"/>
            <a:ext cx="53340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defRPr sz="1650" b="0">
                <a:solidFill>
                  <a:srgbClr val="536170"/>
                </a:solidFill>
                <a:latin typeface="Arial"/>
                <a:ea typeface="Arial"/>
                <a:cs typeface="Arial"/>
              </a:defRPr>
            </a:defPPr>
          </a:lstStyle>
          <a:p xmlns:a="http://schemas.openxmlformats.org/drawingml/2006/main">
            <a:pPr>
              <a:defRPr sz="1650" b="0">
                <a:solidFill>
                  <a:srgbClr val="536170"/>
                </a:solidFill>
                <a:latin typeface="Arial"/>
                <a:ea typeface="Arial"/>
                <a:cs typeface="Arial"/>
              </a:defRPr>
            </a:pPr>
            <a:r>
              <a:rPr sz="1650" b="0">
                <a:solidFill>
                  <a:srgbClr val="536170"/>
                </a:solidFill>
                <a:latin typeface="Arial"/>
                <a:ea typeface="Arial"/>
                <a:cs typeface="Arial"/>
              </a:rPr>
              <a:t>The working prototype loads the sample, builds the attention queue, shows the evidence for a selected shopper, and accepts a merchant CSV.</a:t>
            </a:r>
          </a:p>
        </p:txBody>
      </p:sp>
      <p:sp>
        <p:nvSpPr>
          <p:cNvPr id="7" name="">
            <a:extLst xmlns:a="http://schemas.openxmlformats.org/drawingml/2006/main">
              <a:ext uri="{FF2B5EF4-FFF2-40B4-BE49-F238E27FC236}">
                <a16:creationId xmlns:a16="http://schemas.microsoft.com/office/drawing/2014/main" id="{BF42A78F-847A-452A-B895-BA84CA6D017B}"/>
              </a:ext>
            </a:extLst>
          </p:cNvPr>
          <p:cNvSpPr>
            <a:spLocks xmlns:a="http://schemas.openxmlformats.org/drawingml/2006/main" noGrp="1"/>
          </p:cNvSpPr>
          <p:nvPr/>
        </p:nvSpPr>
        <p:spPr>
          <a:xfrm xmlns:a="http://schemas.openxmlformats.org/drawingml/2006/main">
            <a:off x="6572250" y="2019300"/>
            <a:ext cx="9525" cy="0"/>
          </a:xfrm>
          <a:prstGeom xmlns:a="http://schemas.openxmlformats.org/drawingml/2006/main" prst="line">
            <a:avLst/>
          </a:prstGeom>
          <a:ln xmlns:a="http://schemas.openxmlformats.org/drawingml/2006/main" w="9525">
            <a:solidFill>
              <a:srgbClr val="CFD6E0"/>
            </a:solidFill>
            <a:prstDash val="solid"/>
          </a:ln>
        </p:spPr>
      </p:sp>
      <p:sp>
        <p:nvSpPr>
          <p:cNvPr id="8" name="">
            <a:extLst xmlns:a="http://schemas.openxmlformats.org/drawingml/2006/main">
              <a:ext uri="{FF2B5EF4-FFF2-40B4-BE49-F238E27FC236}">
                <a16:creationId xmlns:a16="http://schemas.microsoft.com/office/drawing/2014/main" id="{F2426AB7-F4B1-47E3-8F02-4F396AC116AD}"/>
              </a:ext>
            </a:extLst>
          </p:cNvPr>
          <p:cNvSpPr>
            <a:spLocks xmlns:a="http://schemas.openxmlformats.org/drawingml/2006/main" noGrp="1"/>
          </p:cNvSpPr>
          <p:nvPr/>
        </p:nvSpPr>
        <p:spPr>
          <a:xfrm xmlns:a="http://schemas.openxmlformats.org/drawingml/2006/main">
            <a:off x="7048500" y="2019300"/>
            <a:ext cx="3810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defRPr sz="1125" b="1">
                <a:solidFill>
                  <a:srgbClr val="287A63"/>
                </a:solidFill>
                <a:latin typeface="Arial"/>
                <a:ea typeface="Arial"/>
                <a:cs typeface="Arial"/>
              </a:defRPr>
            </a:defPPr>
          </a:lstStyle>
          <a:p xmlns:a="http://schemas.openxmlformats.org/drawingml/2006/main">
            <a:pPr>
              <a:defRPr sz="1125" b="1">
                <a:solidFill>
                  <a:srgbClr val="287A63"/>
                </a:solidFill>
                <a:latin typeface="Arial"/>
                <a:ea typeface="Arial"/>
                <a:cs typeface="Arial"/>
              </a:defRPr>
            </a:pPr>
            <a:r>
              <a:rPr sz="1125" b="1">
                <a:solidFill>
                  <a:srgbClr val="287A63"/>
                </a:solidFill>
                <a:latin typeface="Arial"/>
                <a:ea typeface="Arial"/>
                <a:cs typeface="Arial"/>
              </a:rPr>
              <a:t>WHAT IT SHOWS</a:t>
            </a:r>
          </a:p>
        </p:txBody>
      </p:sp>
      <p:sp>
        <p:nvSpPr>
          <p:cNvPr id="9" name="">
            <a:extLst xmlns:a="http://schemas.openxmlformats.org/drawingml/2006/main">
              <a:ext uri="{FF2B5EF4-FFF2-40B4-BE49-F238E27FC236}">
                <a16:creationId xmlns:a16="http://schemas.microsoft.com/office/drawing/2014/main" id="{9DABB3E0-5552-410D-886A-FE7F1518F422}"/>
              </a:ext>
            </a:extLst>
          </p:cNvPr>
          <p:cNvSpPr>
            <a:spLocks xmlns:a="http://schemas.openxmlformats.org/drawingml/2006/main" noGrp="1"/>
          </p:cNvSpPr>
          <p:nvPr/>
        </p:nvSpPr>
        <p:spPr>
          <a:xfrm xmlns:a="http://schemas.openxmlformats.org/drawingml/2006/main">
            <a:off x="7048500" y="2400300"/>
            <a:ext cx="38100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defRPr sz="1500" b="1">
                <a:solidFill>
                  <a:srgbClr val="16202B"/>
                </a:solidFill>
                <a:latin typeface="Arial"/>
                <a:ea typeface="Arial"/>
                <a:cs typeface="Arial"/>
              </a:defRPr>
            </a:defPPr>
          </a:lstStyle>
          <a:p xmlns:a="http://schemas.openxmlformats.org/drawingml/2006/main">
            <a:pPr>
              <a:defRPr sz="1500" b="1">
                <a:solidFill>
                  <a:srgbClr val="16202B"/>
                </a:solidFill>
                <a:latin typeface="Arial"/>
                <a:ea typeface="Arial"/>
                <a:cs typeface="Arial"/>
              </a:defRPr>
            </a:pPr>
            <a:r>
              <a:rPr sz="1500" b="1">
                <a:solidFill>
                  <a:srgbClr val="16202B"/>
                </a:solidFill>
                <a:latin typeface="Arial"/>
                <a:ea typeface="Arial"/>
                <a:cs typeface="Arial"/>
              </a:rPr>
              <a:t>Historical purchase behavior and an explainable review signal.</a:t>
            </a:r>
          </a:p>
        </p:txBody>
      </p:sp>
      <p:sp>
        <p:nvSpPr>
          <p:cNvPr id="10" name="">
            <a:extLst xmlns:a="http://schemas.openxmlformats.org/drawingml/2006/main">
              <a:ext uri="{FF2B5EF4-FFF2-40B4-BE49-F238E27FC236}">
                <a16:creationId xmlns:a16="http://schemas.microsoft.com/office/drawing/2014/main" id="{ABDBDFEB-5CA2-404A-B780-D7C68B3AA97B}"/>
              </a:ext>
            </a:extLst>
          </p:cNvPr>
          <p:cNvSpPr>
            <a:spLocks xmlns:a="http://schemas.openxmlformats.org/drawingml/2006/main" noGrp="1"/>
          </p:cNvSpPr>
          <p:nvPr/>
        </p:nvSpPr>
        <p:spPr>
          <a:xfrm xmlns:a="http://schemas.openxmlformats.org/drawingml/2006/main">
            <a:off x="7048500" y="3619500"/>
            <a:ext cx="3810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defRPr sz="1125" b="1">
                <a:solidFill>
                  <a:srgbClr val="315BCE"/>
                </a:solidFill>
                <a:latin typeface="Arial"/>
                <a:ea typeface="Arial"/>
                <a:cs typeface="Arial"/>
              </a:defRPr>
            </a:defPPr>
          </a:lstStyle>
          <a:p xmlns:a="http://schemas.openxmlformats.org/drawingml/2006/main">
            <a:pPr>
              <a:defRPr sz="1125" b="1">
                <a:solidFill>
                  <a:srgbClr val="315BCE"/>
                </a:solidFill>
                <a:latin typeface="Arial"/>
                <a:ea typeface="Arial"/>
                <a:cs typeface="Arial"/>
              </a:defRPr>
            </a:pPr>
            <a:r>
              <a:rPr sz="1125" b="1">
                <a:solidFill>
                  <a:srgbClr val="315BCE"/>
                </a:solidFill>
                <a:latin typeface="Arial"/>
                <a:ea typeface="Arial"/>
                <a:cs typeface="Arial"/>
              </a:rPr>
              <a:t>WHAT IT DOES NOT SHOW</a:t>
            </a:r>
          </a:p>
        </p:txBody>
      </p:sp>
      <p:sp>
        <p:nvSpPr>
          <p:cNvPr id="11" name="">
            <a:extLst xmlns:a="http://schemas.openxmlformats.org/drawingml/2006/main">
              <a:ext uri="{FF2B5EF4-FFF2-40B4-BE49-F238E27FC236}">
                <a16:creationId xmlns:a16="http://schemas.microsoft.com/office/drawing/2014/main" id="{8F0BD07C-45E0-4B0D-A06B-72994952CD6E}"/>
              </a:ext>
            </a:extLst>
          </p:cNvPr>
          <p:cNvSpPr>
            <a:spLocks xmlns:a="http://schemas.openxmlformats.org/drawingml/2006/main" noGrp="1"/>
          </p:cNvSpPr>
          <p:nvPr/>
        </p:nvSpPr>
        <p:spPr>
          <a:xfrm xmlns:a="http://schemas.openxmlformats.org/drawingml/2006/main">
            <a:off x="7048500" y="4000500"/>
            <a:ext cx="38100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defRPr sz="1500" b="1">
                <a:solidFill>
                  <a:srgbClr val="16202B"/>
                </a:solidFill>
                <a:latin typeface="Arial"/>
                <a:ea typeface="Arial"/>
                <a:cs typeface="Arial"/>
              </a:defRPr>
            </a:defPPr>
          </a:lstStyle>
          <a:p xmlns:a="http://schemas.openxmlformats.org/drawingml/2006/main">
            <a:pPr>
              <a:defRPr sz="1500" b="1">
                <a:solidFill>
                  <a:srgbClr val="16202B"/>
                </a:solidFill>
                <a:latin typeface="Arial"/>
                <a:ea typeface="Arial"/>
                <a:cs typeface="Arial"/>
              </a:defRPr>
            </a:pPr>
            <a:r>
              <a:rPr sz="1500" b="1">
                <a:solidFill>
                  <a:srgbClr val="16202B"/>
                </a:solidFill>
                <a:latin typeface="Arial"/>
                <a:ea typeface="Arial"/>
                <a:cs typeface="Arial"/>
              </a:rPr>
              <a:t>Live merchant results or proof that a message increases sales.</a:t>
            </a:r>
          </a:p>
        </p:txBody>
      </p:sp>
      <p:sp>
        <p:nvSpPr>
          <p:cNvPr id="12" name="">
            <a:extLst xmlns:a="http://schemas.openxmlformats.org/drawingml/2006/main">
              <a:ext uri="{FF2B5EF4-FFF2-40B4-BE49-F238E27FC236}">
                <a16:creationId xmlns:a16="http://schemas.microsoft.com/office/drawing/2014/main" id="{58DD9B29-91B1-427C-8869-B73545693B24}"/>
              </a:ext>
            </a:extLst>
          </p:cNvPr>
          <p:cNvSpPr>
            <a:spLocks xmlns:a="http://schemas.openxmlformats.org/drawingml/2006/main" noGrp="1"/>
          </p:cNvSpPr>
          <p:nvPr/>
        </p:nvSpPr>
        <p:spPr>
          <a:xfrm xmlns:a="http://schemas.openxmlformats.org/drawingml/2006/main">
            <a:off x="762000" y="5753100"/>
            <a:ext cx="10287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defRPr sz="1050" b="0">
                <a:solidFill>
                  <a:srgbClr val="536170"/>
                </a:solidFill>
                <a:latin typeface="Arial"/>
                <a:ea typeface="Arial"/>
                <a:cs typeface="Arial"/>
              </a:defRPr>
            </a:defPPr>
          </a:lstStyle>
          <a:p xmlns:a="http://schemas.openxmlformats.org/drawingml/2006/main">
            <a:pPr>
              <a:defRPr sz="1050" b="0">
                <a:solidFill>
                  <a:srgbClr val="536170"/>
                </a:solidFill>
                <a:latin typeface="Arial"/>
                <a:ea typeface="Arial"/>
                <a:cs typeface="Arial"/>
              </a:defRPr>
            </a:pPr>
            <a:r>
              <a:rPr sz="1050" b="0">
                <a:solidFill>
                  <a:srgbClr val="536170"/>
                </a:solidFill>
                <a:latin typeface="Arial"/>
                <a:ea typeface="Arial"/>
                <a:cs typeface="Arial"/>
              </a:rPr>
              <a:t>Source: UCI Machine Learning Repository · Online Retail · Chen (2015) · DOI 10.24432/C5BW33 · CC BY 4.0</a:t>
            </a:r>
          </a:p>
        </p:txBody>
      </p:sp>
    </p:spTree>
    <p:extLst>
      <p:ext uri="{BB962C8B-B14F-4D97-AF65-F5344CB8AC3E}">
        <p14:creationId xmlns:p14="http://schemas.microsoft.com/office/powerpoint/2010/main" val="190204441"/>
      </p:ext>
    </p:extLst>
  </p:cSld>
</p:sld>
</file>

<file path=ppt/slides/slide6.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6F55AA3-CDEE-4582-A2F4-CFE4437DEF6B}"/>
              </a:ext>
            </a:extLst>
          </p:cNvPr>
          <p:cNvSpPr>
            <a:spLocks xmlns:a="http://schemas.openxmlformats.org/drawingml/2006/main" noGrp="1"/>
          </p:cNvSpPr>
          <p:nvPr/>
        </p:nvSpPr>
        <p:spPr>
          <a:xfrm xmlns:a="http://schemas.openxmlformats.org/drawingml/2006/main">
            <a:off x="685800" y="342900"/>
            <a:ext cx="7620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defRPr sz="1050" b="1">
                <a:solidFill>
                  <a:srgbClr val="315BCE"/>
                </a:solidFill>
                <a:latin typeface="Arial"/>
                <a:ea typeface="Arial"/>
                <a:cs typeface="Arial"/>
              </a:defRPr>
            </a:defPPr>
          </a:lstStyle>
          <a:p xmlns:a="http://schemas.openxmlformats.org/drawingml/2006/main">
            <a:pPr>
              <a:defRPr sz="1050" b="1">
                <a:solidFill>
                  <a:srgbClr val="315BCE"/>
                </a:solidFill>
                <a:latin typeface="Arial"/>
                <a:ea typeface="Arial"/>
                <a:cs typeface="Arial"/>
              </a:defRPr>
            </a:pPr>
            <a:r>
              <a:rPr sz="1050" b="1">
                <a:solidFill>
                  <a:srgbClr val="315BCE"/>
                </a:solidFill>
                <a:latin typeface="Arial"/>
                <a:ea typeface="Arial"/>
                <a:cs typeface="Arial"/>
              </a:rPr>
              <a:t>RHYTHM  /  REINVENT COMMERCE</a:t>
            </a:r>
          </a:p>
        </p:txBody>
      </p:sp>
      <p:sp>
        <p:nvSpPr>
          <p:cNvPr id="2" name="">
            <a:extLst xmlns:a="http://schemas.openxmlformats.org/drawingml/2006/main">
              <a:ext uri="{FF2B5EF4-FFF2-40B4-BE49-F238E27FC236}">
                <a16:creationId xmlns:a16="http://schemas.microsoft.com/office/drawing/2014/main" id="{FD63F2CF-6AA5-4864-BECB-3F176C3D3268}"/>
              </a:ext>
            </a:extLst>
          </p:cNvPr>
          <p:cNvSpPr>
            <a:spLocks xmlns:a="http://schemas.openxmlformats.org/drawingml/2006/main" noGrp="1"/>
          </p:cNvSpPr>
          <p:nvPr/>
        </p:nvSpPr>
        <p:spPr>
          <a:xfrm xmlns:a="http://schemas.openxmlformats.org/drawingml/2006/main">
            <a:off x="685800" y="819150"/>
            <a:ext cx="108204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defRPr sz="3000" b="1">
                <a:solidFill>
                  <a:srgbClr val="16202B"/>
                </a:solidFill>
                <a:latin typeface="Arial"/>
                <a:ea typeface="Arial"/>
                <a:cs typeface="Arial"/>
              </a:defRPr>
            </a:defPPr>
          </a:lstStyle>
          <a:p xmlns:a="http://schemas.openxmlformats.org/drawingml/2006/main">
            <a:pPr>
              <a:defRPr sz="3000" b="1">
                <a:solidFill>
                  <a:srgbClr val="16202B"/>
                </a:solidFill>
                <a:latin typeface="Arial"/>
                <a:ea typeface="Arial"/>
                <a:cs typeface="Arial"/>
              </a:defRPr>
            </a:pPr>
            <a:r>
              <a:rPr sz="3000" b="1">
                <a:solidFill>
                  <a:srgbClr val="16202B"/>
                </a:solidFill>
                <a:latin typeface="Arial"/>
                <a:ea typeface="Arial"/>
                <a:cs typeface="Arial"/>
              </a:rPr>
              <a:t>Measure the intervention before claiming impact</a:t>
            </a:r>
          </a:p>
        </p:txBody>
      </p:sp>
      <p:sp>
        <p:nvSpPr>
          <p:cNvPr id="3" name="">
            <a:extLst xmlns:a="http://schemas.openxmlformats.org/drawingml/2006/main">
              <a:ext uri="{FF2B5EF4-FFF2-40B4-BE49-F238E27FC236}">
                <a16:creationId xmlns:a16="http://schemas.microsoft.com/office/drawing/2014/main" id="{C137C7E8-4BE6-410B-8D94-F1660933A5C8}"/>
              </a:ext>
            </a:extLst>
          </p:cNvPr>
          <p:cNvSpPr>
            <a:spLocks xmlns:a="http://schemas.openxmlformats.org/drawingml/2006/main" noGrp="1"/>
          </p:cNvSpPr>
          <p:nvPr/>
        </p:nvSpPr>
        <p:spPr>
          <a:xfrm xmlns:a="http://schemas.openxmlformats.org/drawingml/2006/main">
            <a:off x="11049000" y="63246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r">
              <a:defRPr sz="1050" b="1">
                <a:solidFill>
                  <a:srgbClr val="536170"/>
                </a:solidFill>
                <a:latin typeface="Arial"/>
                <a:ea typeface="Arial"/>
                <a:cs typeface="Arial"/>
              </a:defRPr>
            </a:defPPr>
          </a:lstStyle>
          <a:p xmlns:a="http://schemas.openxmlformats.org/drawingml/2006/main">
            <a:pPr algn="r">
              <a:defRPr sz="1050" b="1">
                <a:solidFill>
                  <a:srgbClr val="536170"/>
                </a:solidFill>
                <a:latin typeface="Arial"/>
                <a:ea typeface="Arial"/>
                <a:cs typeface="Arial"/>
              </a:defRPr>
            </a:pPr>
            <a:r>
              <a:rPr sz="1050" b="1">
                <a:solidFill>
                  <a:srgbClr val="536170"/>
                </a:solidFill>
                <a:latin typeface="Arial"/>
                <a:ea typeface="Arial"/>
                <a:cs typeface="Arial"/>
              </a:rPr>
              <a:t>06</a:t>
            </a:r>
          </a:p>
        </p:txBody>
      </p:sp>
      <p:sp>
        <p:nvSpPr>
          <p:cNvPr id="4" name="">
            <a:extLst xmlns:a="http://schemas.openxmlformats.org/drawingml/2006/main">
              <a:ext uri="{FF2B5EF4-FFF2-40B4-BE49-F238E27FC236}">
                <a16:creationId xmlns:a16="http://schemas.microsoft.com/office/drawing/2014/main" id="{633BCC82-9C56-4FE4-81B7-0A0B37AC06D1}"/>
              </a:ext>
            </a:extLst>
          </p:cNvPr>
          <p:cNvSpPr>
            <a:spLocks xmlns:a="http://schemas.openxmlformats.org/drawingml/2006/main" noGrp="1"/>
          </p:cNvSpPr>
          <p:nvPr/>
        </p:nvSpPr>
        <p:spPr>
          <a:xfrm xmlns:a="http://schemas.openxmlformats.org/drawingml/2006/main">
            <a:off x="762000" y="196215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defRPr sz="1125" b="1">
                <a:solidFill>
                  <a:srgbClr val="315BCE"/>
                </a:solidFill>
                <a:latin typeface="Arial"/>
                <a:ea typeface="Arial"/>
                <a:cs typeface="Arial"/>
              </a:defRPr>
            </a:defPPr>
          </a:lstStyle>
          <a:p xmlns:a="http://schemas.openxmlformats.org/drawingml/2006/main">
            <a:pPr>
              <a:defRPr sz="1125" b="1">
                <a:solidFill>
                  <a:srgbClr val="315BCE"/>
                </a:solidFill>
                <a:latin typeface="Arial"/>
                <a:ea typeface="Arial"/>
                <a:cs typeface="Arial"/>
              </a:defRPr>
            </a:pPr>
            <a:r>
              <a:rPr sz="1125" b="1">
                <a:solidFill>
                  <a:srgbClr val="315BCE"/>
                </a:solidFill>
                <a:latin typeface="Arial"/>
                <a:ea typeface="Arial"/>
                <a:cs typeface="Arial"/>
              </a:rPr>
              <a:t>PILOT DESIGN</a:t>
            </a:r>
          </a:p>
        </p:txBody>
      </p:sp>
      <p:sp>
        <p:nvSpPr>
          <p:cNvPr id="5" name="">
            <a:extLst xmlns:a="http://schemas.openxmlformats.org/drawingml/2006/main">
              <a:ext uri="{FF2B5EF4-FFF2-40B4-BE49-F238E27FC236}">
                <a16:creationId xmlns:a16="http://schemas.microsoft.com/office/drawing/2014/main" id="{4D4A667A-998F-4224-BE30-9B4FF8B28FD5}"/>
              </a:ext>
            </a:extLst>
          </p:cNvPr>
          <p:cNvSpPr>
            <a:spLocks xmlns:a="http://schemas.openxmlformats.org/drawingml/2006/main" noGrp="1"/>
          </p:cNvSpPr>
          <p:nvPr/>
        </p:nvSpPr>
        <p:spPr>
          <a:xfrm xmlns:a="http://schemas.openxmlformats.org/drawingml/2006/main">
            <a:off x="762000" y="2343150"/>
            <a:ext cx="4572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95962"/>
          </a:bodyPr>
          <a:lstStyle xmlns:a="http://schemas.openxmlformats.org/drawingml/2006/main">
            <a:defPPr>
              <a:defRPr sz="2100" b="1">
                <a:solidFill>
                  <a:srgbClr val="16202B"/>
                </a:solidFill>
                <a:latin typeface="Arial"/>
                <a:ea typeface="Arial"/>
                <a:cs typeface="Arial"/>
              </a:defRPr>
            </a:defPPr>
          </a:lstStyle>
          <a:p xmlns:a="http://schemas.openxmlformats.org/drawingml/2006/main">
            <a:pPr>
              <a:defRPr sz="2100" b="1">
                <a:solidFill>
                  <a:srgbClr val="16202B"/>
                </a:solidFill>
                <a:latin typeface="Arial"/>
                <a:ea typeface="Arial"/>
                <a:cs typeface="Arial"/>
              </a:defRPr>
            </a:pPr>
            <a:r>
              <a:rPr sz="2100" b="1">
                <a:solidFill>
                  <a:srgbClr val="16202B"/>
                </a:solidFill>
                <a:latin typeface="Arial"/>
                <a:ea typeface="Arial"/>
                <a:cs typeface="Arial"/>
              </a:rPr>
              <a:t>Randomly hold out eligible shoppers.</a:t>
            </a:r>
          </a:p>
        </p:txBody>
      </p:sp>
      <p:sp>
        <p:nvSpPr>
          <p:cNvPr id="6" name="">
            <a:extLst xmlns:a="http://schemas.openxmlformats.org/drawingml/2006/main">
              <a:ext uri="{FF2B5EF4-FFF2-40B4-BE49-F238E27FC236}">
                <a16:creationId xmlns:a16="http://schemas.microsoft.com/office/drawing/2014/main" id="{57089AAE-3B60-4091-B031-57A8DA488353}"/>
              </a:ext>
            </a:extLst>
          </p:cNvPr>
          <p:cNvSpPr>
            <a:spLocks xmlns:a="http://schemas.openxmlformats.org/drawingml/2006/main" noGrp="1"/>
          </p:cNvSpPr>
          <p:nvPr/>
        </p:nvSpPr>
        <p:spPr>
          <a:xfrm xmlns:a="http://schemas.openxmlformats.org/drawingml/2006/main">
            <a:off x="762000" y="3162300"/>
            <a:ext cx="4429125"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defRPr sz="1725" b="0">
                <a:solidFill>
                  <a:srgbClr val="536170"/>
                </a:solidFill>
                <a:latin typeface="Arial"/>
                <a:ea typeface="Arial"/>
                <a:cs typeface="Arial"/>
              </a:defRPr>
            </a:defPPr>
          </a:lstStyle>
          <a:p xmlns:a="http://schemas.openxmlformats.org/drawingml/2006/main">
            <a:pPr>
              <a:defRPr sz="1725" b="0">
                <a:solidFill>
                  <a:srgbClr val="536170"/>
                </a:solidFill>
                <a:latin typeface="Arial"/>
                <a:ea typeface="Arial"/>
                <a:cs typeface="Arial"/>
              </a:defRPr>
            </a:pPr>
            <a:r>
              <a:rPr sz="1725" b="0">
                <a:solidFill>
                  <a:srgbClr val="536170"/>
                </a:solidFill>
                <a:latin typeface="Arial"/>
                <a:ea typeface="Arial"/>
                <a:cs typeface="Arial"/>
              </a:rPr>
              <a:t>Compare 30-day repeat purchase and gross margin between contacted and holdout groups.</a:t>
            </a:r>
          </a:p>
        </p:txBody>
      </p:sp>
      <p:sp>
        <p:nvSpPr>
          <p:cNvPr id="7" name="">
            <a:extLst xmlns:a="http://schemas.openxmlformats.org/drawingml/2006/main">
              <a:ext uri="{FF2B5EF4-FFF2-40B4-BE49-F238E27FC236}">
                <a16:creationId xmlns:a16="http://schemas.microsoft.com/office/drawing/2014/main" id="{FA8B0AEF-A310-4AC1-86F5-BF8C1C5B5641}"/>
              </a:ext>
            </a:extLst>
          </p:cNvPr>
          <p:cNvSpPr>
            <a:spLocks xmlns:a="http://schemas.openxmlformats.org/drawingml/2006/main" noGrp="1"/>
          </p:cNvSpPr>
          <p:nvPr/>
        </p:nvSpPr>
        <p:spPr>
          <a:xfrm xmlns:a="http://schemas.openxmlformats.org/drawingml/2006/main">
            <a:off x="6191250" y="19621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defRPr sz="1125" b="1">
                <a:solidFill>
                  <a:srgbClr val="315BCE"/>
                </a:solidFill>
                <a:latin typeface="Arial"/>
                <a:ea typeface="Arial"/>
                <a:cs typeface="Arial"/>
              </a:defRPr>
            </a:defPPr>
          </a:lstStyle>
          <a:p xmlns:a="http://schemas.openxmlformats.org/drawingml/2006/main">
            <a:pPr>
              <a:defRPr sz="1125" b="1">
                <a:solidFill>
                  <a:srgbClr val="315BCE"/>
                </a:solidFill>
                <a:latin typeface="Arial"/>
                <a:ea typeface="Arial"/>
                <a:cs typeface="Arial"/>
              </a:defRPr>
            </a:pPr>
            <a:r>
              <a:rPr sz="1125" b="1">
                <a:solidFill>
                  <a:srgbClr val="315BCE"/>
                </a:solidFill>
                <a:latin typeface="Arial"/>
                <a:ea typeface="Arial"/>
                <a:cs typeface="Arial"/>
              </a:rPr>
              <a:t>CURRENT STATUS</a:t>
            </a:r>
          </a:p>
        </p:txBody>
      </p:sp>
      <p:sp>
        <p:nvSpPr>
          <p:cNvPr id="8" name="">
            <a:extLst xmlns:a="http://schemas.openxmlformats.org/drawingml/2006/main">
              <a:ext uri="{FF2B5EF4-FFF2-40B4-BE49-F238E27FC236}">
                <a16:creationId xmlns:a16="http://schemas.microsoft.com/office/drawing/2014/main" id="{DD448F75-F183-4E5E-9645-1391027D2D52}"/>
              </a:ext>
            </a:extLst>
          </p:cNvPr>
          <p:cNvSpPr>
            <a:spLocks xmlns:a="http://schemas.openxmlformats.org/drawingml/2006/main" noGrp="1"/>
          </p:cNvSpPr>
          <p:nvPr/>
        </p:nvSpPr>
        <p:spPr>
          <a:xfrm xmlns:a="http://schemas.openxmlformats.org/drawingml/2006/main">
            <a:off x="6191250" y="2343150"/>
            <a:ext cx="4953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defRPr sz="1875" b="1">
                <a:solidFill>
                  <a:srgbClr val="16202B"/>
                </a:solidFill>
                <a:latin typeface="Arial"/>
                <a:ea typeface="Arial"/>
                <a:cs typeface="Arial"/>
              </a:defRPr>
            </a:defPPr>
          </a:lstStyle>
          <a:p xmlns:a="http://schemas.openxmlformats.org/drawingml/2006/main">
            <a:pPr>
              <a:defRPr sz="1875" b="1">
                <a:solidFill>
                  <a:srgbClr val="16202B"/>
                </a:solidFill>
                <a:latin typeface="Arial"/>
                <a:ea typeface="Arial"/>
                <a:cs typeface="Arial"/>
              </a:defRPr>
            </a:pPr>
            <a:r>
              <a:rPr sz="1875" b="1">
                <a:solidFill>
                  <a:srgbClr val="16202B"/>
                </a:solidFill>
                <a:latin typeface="Arial"/>
                <a:ea typeface="Arial"/>
                <a:cs typeface="Arial"/>
              </a:rPr>
              <a:t>The prototype supports the workflow. Campaign results have not been measured.</a:t>
            </a:r>
          </a:p>
        </p:txBody>
      </p:sp>
      <p:sp>
        <p:nvSpPr>
          <p:cNvPr id="9" name="">
            <a:extLst xmlns:a="http://schemas.openxmlformats.org/drawingml/2006/main">
              <a:ext uri="{FF2B5EF4-FFF2-40B4-BE49-F238E27FC236}">
                <a16:creationId xmlns:a16="http://schemas.microsoft.com/office/drawing/2014/main" id="{1D2F1664-EEE9-4D00-AAA0-E429BBA0F08A}"/>
              </a:ext>
            </a:extLst>
          </p:cNvPr>
          <p:cNvSpPr>
            <a:spLocks xmlns:a="http://schemas.openxmlformats.org/drawingml/2006/main" noGrp="1"/>
          </p:cNvSpPr>
          <p:nvPr/>
        </p:nvSpPr>
        <p:spPr>
          <a:xfrm xmlns:a="http://schemas.openxmlformats.org/drawingml/2006/main">
            <a:off x="6191250" y="3505200"/>
            <a:ext cx="4953000" cy="0"/>
          </a:xfrm>
          <a:prstGeom xmlns:a="http://schemas.openxmlformats.org/drawingml/2006/main" prst="line">
            <a:avLst/>
          </a:prstGeom>
          <a:ln xmlns:a="http://schemas.openxmlformats.org/drawingml/2006/main" w="9525">
            <a:solidFill>
              <a:srgbClr val="CFD6E0"/>
            </a:solidFill>
            <a:prstDash val="solid"/>
          </a:ln>
        </p:spPr>
      </p:sp>
      <p:sp>
        <p:nvSpPr>
          <p:cNvPr id="10" name="">
            <a:extLst xmlns:a="http://schemas.openxmlformats.org/drawingml/2006/main">
              <a:ext uri="{FF2B5EF4-FFF2-40B4-BE49-F238E27FC236}">
                <a16:creationId xmlns:a16="http://schemas.microsoft.com/office/drawing/2014/main" id="{D36AF5B4-63F2-4154-9C19-BF9D4B7B3D69}"/>
              </a:ext>
            </a:extLst>
          </p:cNvPr>
          <p:cNvSpPr>
            <a:spLocks xmlns:a="http://schemas.openxmlformats.org/drawingml/2006/main" noGrp="1"/>
          </p:cNvSpPr>
          <p:nvPr/>
        </p:nvSpPr>
        <p:spPr>
          <a:xfrm xmlns:a="http://schemas.openxmlformats.org/drawingml/2006/main">
            <a:off x="6191250" y="38100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defRPr sz="1125" b="1">
                <a:solidFill>
                  <a:srgbClr val="287A63"/>
                </a:solidFill>
                <a:latin typeface="Arial"/>
                <a:ea typeface="Arial"/>
                <a:cs typeface="Arial"/>
              </a:defRPr>
            </a:defPPr>
          </a:lstStyle>
          <a:p xmlns:a="http://schemas.openxmlformats.org/drawingml/2006/main">
            <a:pPr>
              <a:defRPr sz="1125" b="1">
                <a:solidFill>
                  <a:srgbClr val="287A63"/>
                </a:solidFill>
                <a:latin typeface="Arial"/>
                <a:ea typeface="Arial"/>
                <a:cs typeface="Arial"/>
              </a:defRPr>
            </a:pPr>
            <a:r>
              <a:rPr sz="1125" b="1">
                <a:solidFill>
                  <a:srgbClr val="287A63"/>
                </a:solidFill>
                <a:latin typeface="Arial"/>
                <a:ea typeface="Arial"/>
                <a:cs typeface="Arial"/>
              </a:rPr>
              <a:t>TECHNOLOGY</a:t>
            </a:r>
          </a:p>
        </p:txBody>
      </p:sp>
      <p:sp>
        <p:nvSpPr>
          <p:cNvPr id="11" name="">
            <a:extLst xmlns:a="http://schemas.openxmlformats.org/drawingml/2006/main">
              <a:ext uri="{FF2B5EF4-FFF2-40B4-BE49-F238E27FC236}">
                <a16:creationId xmlns:a16="http://schemas.microsoft.com/office/drawing/2014/main" id="{ADFAD776-CDE6-4BC7-A87E-19324F1E437D}"/>
              </a:ext>
            </a:extLst>
          </p:cNvPr>
          <p:cNvSpPr>
            <a:spLocks xmlns:a="http://schemas.openxmlformats.org/drawingml/2006/main" noGrp="1"/>
          </p:cNvSpPr>
          <p:nvPr/>
        </p:nvSpPr>
        <p:spPr>
          <a:xfrm xmlns:a="http://schemas.openxmlformats.org/drawingml/2006/main">
            <a:off x="6191250" y="4171950"/>
            <a:ext cx="49530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defRPr sz="1500" b="1">
                <a:solidFill>
                  <a:srgbClr val="16202B"/>
                </a:solidFill>
                <a:latin typeface="Arial"/>
                <a:ea typeface="Arial"/>
                <a:cs typeface="Arial"/>
              </a:defRPr>
            </a:defPPr>
          </a:lstStyle>
          <a:p xmlns:a="http://schemas.openxmlformats.org/drawingml/2006/main">
            <a:pPr>
              <a:defRPr sz="1500" b="1">
                <a:solidFill>
                  <a:srgbClr val="16202B"/>
                </a:solidFill>
                <a:latin typeface="Arial"/>
                <a:ea typeface="Arial"/>
                <a:cs typeface="Arial"/>
              </a:defRPr>
            </a:pPr>
            <a:r>
              <a:rPr sz="1500" b="1">
                <a:solidFill>
                  <a:srgbClr val="16202B"/>
                </a:solidFill>
                <a:latin typeface="Arial"/>
                <a:ea typeface="Arial"/>
                <a:cs typeface="Arial"/>
              </a:rPr>
              <a:t>Next.js · TypeScript · browser-side CSV analysis · Gemma through LM Studio</a:t>
            </a:r>
          </a:p>
        </p:txBody>
      </p:sp>
      <p:sp>
        <p:nvSpPr>
          <p:cNvPr id="12" name="">
            <a:extLst xmlns:a="http://schemas.openxmlformats.org/drawingml/2006/main">
              <a:ext uri="{FF2B5EF4-FFF2-40B4-BE49-F238E27FC236}">
                <a16:creationId xmlns:a16="http://schemas.microsoft.com/office/drawing/2014/main" id="{343CA87A-415F-4FBD-9C36-B9F8BD4CB4EA}"/>
              </a:ext>
            </a:extLst>
          </p:cNvPr>
          <p:cNvSpPr>
            <a:spLocks xmlns:a="http://schemas.openxmlformats.org/drawingml/2006/main" noGrp="1"/>
          </p:cNvSpPr>
          <p:nvPr/>
        </p:nvSpPr>
        <p:spPr>
          <a:xfrm xmlns:a="http://schemas.openxmlformats.org/drawingml/2006/main">
            <a:off x="6191250" y="5105400"/>
            <a:ext cx="4953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defRPr sz="1275" b="0">
                <a:solidFill>
                  <a:srgbClr val="536170"/>
                </a:solidFill>
                <a:latin typeface="Arial"/>
                <a:ea typeface="Arial"/>
                <a:cs typeface="Arial"/>
              </a:defRPr>
            </a:defPPr>
          </a:lstStyle>
          <a:p xmlns:a="http://schemas.openxmlformats.org/drawingml/2006/main">
            <a:pPr>
              <a:defRPr sz="1275" b="0">
                <a:solidFill>
                  <a:srgbClr val="536170"/>
                </a:solidFill>
                <a:latin typeface="Arial"/>
                <a:ea typeface="Arial"/>
                <a:cs typeface="Arial"/>
              </a:defRPr>
            </a:pPr>
            <a:r>
              <a:rPr sz="1275" b="0">
                <a:solidFill>
                  <a:srgbClr val="536170"/>
                </a:solidFill>
                <a:latin typeface="Arial"/>
                <a:ea typeface="Arial"/>
                <a:cs typeface="Arial"/>
              </a:rPr>
              <a:t>AMD Radeon RX 9070 XT acceleration must be shown during the demo; GPU offload is not yet verified.</a:t>
            </a:r>
          </a:p>
        </p:txBody>
      </p:sp>
    </p:spTree>
    <p:extLst>
      <p:ext uri="{BB962C8B-B14F-4D97-AF65-F5344CB8AC3E}">
        <p14:creationId xmlns:p14="http://schemas.microsoft.com/office/powerpoint/2010/main" val="91244968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2026-10-14T20:28:50.7180000Z</dcterms:created>
  <dcterms:modified xsi:type="dcterms:W3CDTF">2026-10-14T20:28:50.7180000Z</dcterms:modified>
</coreProperties>
</file>