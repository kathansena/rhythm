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d15c4a492434b2c" /><Relationship Type="http://schemas.openxmlformats.org/officeDocument/2006/relationships/extended-properties" Target="/docProps/app.xml" Id="Rc12d8b0495344109" /><Relationship Type="http://schemas.openxmlformats.org/officeDocument/2006/relationships/officeDocument" Target="/ppt/presentation.xml" Id="R2805ab34b79741cd" /></Relationships>
</file>

<file path=ppt/presentation.xml><?xml version="1.0" encoding="utf-8"?>
<p:presentation xmlns:p="http://schemas.openxmlformats.org/presentationml/2006/main">
  <p:sldMasterIdLst>
    <p:sldMasterId xmlns:r="http://schemas.openxmlformats.org/officeDocument/2006/relationships" id="2147483648" r:id="R110d18ed53a2486a"/>
  </p:sldMasterIdLst>
  <p:notesMasterIdLst>
    <p:notesMasterId xmlns:r="http://schemas.openxmlformats.org/officeDocument/2006/relationships" r:id="R0c022deae39d458c"/>
  </p:notesMasterIdLst>
  <p:sldIdLst>
    <p:sldId xmlns:r="http://schemas.openxmlformats.org/officeDocument/2006/relationships" id="256" r:id="Rd8755d85c0d346e3"/>
    <p:sldId xmlns:r="http://schemas.openxmlformats.org/officeDocument/2006/relationships" id="257" r:id="Rbdd4fbb6ab01445f"/>
    <p:sldId xmlns:r="http://schemas.openxmlformats.org/officeDocument/2006/relationships" id="258" r:id="Ree381bd3eed34a27"/>
    <p:sldId xmlns:r="http://schemas.openxmlformats.org/officeDocument/2006/relationships" id="259" r:id="R15c8dea1b05d40eb"/>
    <p:sldId xmlns:r="http://schemas.openxmlformats.org/officeDocument/2006/relationships" id="260" r:id="R125747fb266c4f1c"/>
    <p:sldId xmlns:r="http://schemas.openxmlformats.org/officeDocument/2006/relationships" id="261" r:id="R0a461cef044c4805"/>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100c8f2eb3c4945" /><Relationship Type="http://schemas.openxmlformats.org/officeDocument/2006/relationships/slideMaster" Target="/ppt/slideMasters/slideMaster1.xml" Id="R110d18ed53a2486a" /><Relationship Type="http://schemas.openxmlformats.org/officeDocument/2006/relationships/notesMaster" Target="/ppt/notesMasters/notesMaster1.xml" Id="R0c022deae39d458c" /><Relationship Type="http://schemas.openxmlformats.org/officeDocument/2006/relationships/presProps" Target="/ppt/presProps.xml" Id="R177f831f28194d69" /><Relationship Type="http://schemas.openxmlformats.org/officeDocument/2006/relationships/viewProps" Target="/ppt/viewProps.xml" Id="R9e6f0e8850d94a76" /><Relationship Type="http://schemas.openxmlformats.org/officeDocument/2006/relationships/tableStyles" Target="/ppt/tableStyles.xml" Id="R777b021a87d047a0" /><Relationship Type="http://schemas.openxmlformats.org/officeDocument/2006/relationships/slide" Target="/ppt/slides/slide1.xml" Id="Rd8755d85c0d346e3" /><Relationship Type="http://schemas.openxmlformats.org/officeDocument/2006/relationships/slide" Target="/ppt/slides/slide2.xml" Id="Rbdd4fbb6ab01445f" /><Relationship Type="http://schemas.openxmlformats.org/officeDocument/2006/relationships/slide" Target="/ppt/slides/slide3.xml" Id="Ree381bd3eed34a27" /><Relationship Type="http://schemas.openxmlformats.org/officeDocument/2006/relationships/slide" Target="/ppt/slides/slide4.xml" Id="R15c8dea1b05d40eb" /><Relationship Type="http://schemas.openxmlformats.org/officeDocument/2006/relationships/slide" Target="/ppt/slides/slide5.xml" Id="R125747fb266c4f1c" /><Relationship Type="http://schemas.openxmlformats.org/officeDocument/2006/relationships/slide" Target="/ppt/slides/slide6.xml" Id="R0a461cef044c48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4362970f0c49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43941a49707414a" /><Relationship Type="http://schemas.openxmlformats.org/officeDocument/2006/relationships/notesMaster" Target="/ppt/notesMasters/notesMaster1.xml" Id="R5e0a6d67b2d845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ef60914e8b403f" /><Relationship Type="http://schemas.openxmlformats.org/officeDocument/2006/relationships/notesMaster" Target="/ppt/notesMasters/notesMaster1.xml" Id="Rfb7a47a5a92947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029c9e78d24d8b" /><Relationship Type="http://schemas.openxmlformats.org/officeDocument/2006/relationships/notesMaster" Target="/ppt/notesMasters/notesMaster1.xml" Id="Rf9397fc24d8c4a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3d48e32afec4f64" /><Relationship Type="http://schemas.openxmlformats.org/officeDocument/2006/relationships/notesMaster" Target="/ppt/notesMasters/notesMaster1.xml" Id="Re474bd3dac2a48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e9083eeac842a2" /><Relationship Type="http://schemas.openxmlformats.org/officeDocument/2006/relationships/notesMaster" Target="/ppt/notesMasters/notesMaster1.xml" Id="Rbdd4d53824b342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6f0f8dce7b694178" /><Relationship Type="http://schemas.openxmlformats.org/officeDocument/2006/relationships/notesMaster" Target="/ppt/notesMasters/notesMaster1.xml" Id="R8302f36805d043a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Rhythm is a customer retention prototype for independent retailers. Track 3: Reinvent Commerce. The presentation describes the current prototype and its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intended user is an independent retailer or retention marketer. The problem framing is the product hypothesis: personal purchase intervals may be more useful for review than a single generic inactivity window. It is not a claim that this method has been proven to improve retention.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 processes uploaded CSV files in the browser. Its deterministic rule creates the shopper review signal; Gemma through the configured OpenAI-compatible endpoint can draft follow-up wording. Drafts are checked and remain for merchant review. Customer IDs and contact details are not sent to the model, and Rhythm does not send messages.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detail: median gap is calculated between distinct calendar days with purchases. Rhythm rounds the median cadence to a whole day, applies the 1.6 multiplier and ceiling, and uses a 14-day minimum. Four distinct purchase days are required. This is a transparent review heuristic, not a statistically validated churn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bundled sample contains 297,626 transaction rows for 2,000 pseudonymized UK customers, selected from the Online Retail dataset published by the UCI Machine Learning Repository. The extract keeps records with customer IDs, positive quantity and price, and non-cancellation invoices. Original customer IDs are replaced with salted stable pseudonyms; product labels, transaction values and dates are from the source. The data covers 2010–2011 and is historical, not live merchant activity. Source: Chen, Daqing. Online Retail, UCI Machine Learning Repository (2015), DOI 10.24432/C5BW33, https://archive.ics.uci.edu/dataset/352/online%2Bretail. Licensed CC BY 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item watchlist groups overdue shoppers by the repeated item in their history. It ranks items by flagged shopper count and shows the median usual repeat interval and median days past the personal threshold; the review action filters matching shoppers. These figures describe historical transactions, not campaign outcomes. Optional drafts use Gemma through LM Studio or another configured OpenAI-compatible endpoint; only item names and timing evidence are sent. GPU offload on the AMD Radeon RX 9070 XT has not been verified. Hackathon: https://lablab.ai/ai-hackathons/amd-developer-hackathon-act-iii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66b7df5be5b49a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16b8bb5fef8458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f299f7109f54e2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99bf2fcb7e94f7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7429e7a31044cf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b93ead9413c4e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C7A411-4292-4427-8648-D564F76F24B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2F1ABEF1-C4B3-42C8-9315-4B7697FA937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0CA90E0-8AB5-4E17-9030-0667E411562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814647-0480-41A8-BC7C-73B2784467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59E772F1-61AF-4E7C-BAA9-8666287065C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875D994-E4F4-49EA-BA87-0C23715733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FDEE6739-4052-45FD-A23B-25B705B8964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E73D1A4B-ACBC-4328-A03C-C0CEE93E62E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B0E924-4DFE-4FDD-9932-80989B44E10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347F2AA0-A255-4225-9D6A-E3BA11619EB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b77c1986e347ab" /><Relationship Type="http://schemas.openxmlformats.org/officeDocument/2006/relationships/slideLayout" Target="/ppt/slideLayouts/slideLayout1.xml" Id="R25bd9aba16e64f0b" /><Relationship Type="http://schemas.openxmlformats.org/officeDocument/2006/relationships/slideLayout" Target="/ppt/slideLayouts/slideLayout2.xml" Id="Rc1e3e1e69f8e4166" /><Relationship Type="http://schemas.openxmlformats.org/officeDocument/2006/relationships/slideLayout" Target="/ppt/slideLayouts/slideLayout3.xml" Id="R2b73b15c97bf450a" /><Relationship Type="http://schemas.openxmlformats.org/officeDocument/2006/relationships/slideLayout" Target="/ppt/slideLayouts/slideLayout4.xml" Id="Rab4477ad272a48bd" /><Relationship Type="http://schemas.openxmlformats.org/officeDocument/2006/relationships/slideLayout" Target="/ppt/slideLayouts/slideLayout5.xml" Id="R6dae597fe6b04955" /><Relationship Type="http://schemas.openxmlformats.org/officeDocument/2006/relationships/slideLayout" Target="/ppt/slideLayouts/slideLayout6.xml" Id="R1ed92611764e40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bd9aba16e64f0b"/>
    <p:sldLayoutId xmlns:r="http://schemas.openxmlformats.org/officeDocument/2006/relationships" id="2147483650" r:id="Rc1e3e1e69f8e4166"/>
    <p:sldLayoutId xmlns:r="http://schemas.openxmlformats.org/officeDocument/2006/relationships" id="2147483651" r:id="R2b73b15c97bf450a"/>
    <p:sldLayoutId xmlns:r="http://schemas.openxmlformats.org/officeDocument/2006/relationships" id="2147483652" r:id="Rab4477ad272a48bd"/>
    <p:sldLayoutId xmlns:r="http://schemas.openxmlformats.org/officeDocument/2006/relationships" id="2147483653" r:id="R6dae597fe6b04955"/>
    <p:sldLayoutId xmlns:r="http://schemas.openxmlformats.org/officeDocument/2006/relationships" id="2147483654" r:id="R1ed92611764e40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8320ae922264f5f" /><Relationship Type="http://schemas.openxmlformats.org/officeDocument/2006/relationships/notesSlide" Target="/ppt/notesSlides/notesSlide1.xml" Id="Rd787bc8daad14f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7030c4a59d34c9b" /><Relationship Type="http://schemas.openxmlformats.org/officeDocument/2006/relationships/notesSlide" Target="/ppt/notesSlides/notesSlide2.xml" Id="Rc75db0fad2df45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81521e90d0d4d59" /><Relationship Type="http://schemas.openxmlformats.org/officeDocument/2006/relationships/notesSlide" Target="/ppt/notesSlides/notesSlide3.xml" Id="Rb11df1b17ce5404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6810be6458a40e6" /><Relationship Type="http://schemas.openxmlformats.org/officeDocument/2006/relationships/notesSlide" Target="/ppt/notesSlides/notesSlide4.xml" Id="R5e2c01db9e8c4d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7d14dbe45444719" /><Relationship Type="http://schemas.openxmlformats.org/officeDocument/2006/relationships/notesSlide" Target="/ppt/notesSlides/notesSlide5.xml" Id="Rea354cb0912b45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f8f966bbe9442b" /><Relationship Type="http://schemas.openxmlformats.org/officeDocument/2006/relationships/notesSlide" Target="/ppt/notesSlides/notesSlide6.xml" Id="Rc6d7a68347c8484f" /></Relationships>
</file>

<file path=ppt/slides/slide1.xml><?xml version="1.0" encoding="utf-8"?>
<p:sld xmlns:p="http://schemas.openxmlformats.org/presentationml/2006/main">
  <p:cSld>
    <p:bg>
      <p:bgPr>
        <a:solidFill xmlns:a="http://schemas.openxmlformats.org/drawingml/2006/main">
          <a:srgbClr val="16202B"/>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5146DC76-CD0D-4C9B-A817-B532F2E7DED5}"/>
              </a:ext>
            </a:extLst>
          </p:cNvPr>
          <p:cNvSpPr>
            <a:spLocks xmlns:a="http://schemas.openxmlformats.org/drawingml/2006/main" noGrp="1"/>
          </p:cNvSpPr>
          <p:nvPr/>
        </p:nvSpPr>
        <p:spPr>
          <a:xfrm xmlns:a="http://schemas.openxmlformats.org/drawingml/2006/main">
            <a:off x="762000" y="59055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AFC2FF"/>
                </a:solidFill>
                <a:latin typeface="Arial"/>
                <a:ea typeface="Arial"/>
                <a:cs typeface="Arial"/>
              </a:defRPr>
            </a:defPPr>
            <a:lvl1pPr>
              <a:defRPr sz="1125" b="1">
                <a:solidFill>
                  <a:srgbClr val="AFC2FF"/>
                </a:solidFill>
                <a:latin typeface="Arial"/>
                <a:ea typeface="Arial"/>
                <a:cs typeface="Arial"/>
              </a:defRPr>
            </a:lvl1pPr>
            <a:lvl2pPr>
              <a:defRPr sz="1125" b="1">
                <a:solidFill>
                  <a:srgbClr val="AFC2FF"/>
                </a:solidFill>
                <a:latin typeface="Arial"/>
                <a:ea typeface="Arial"/>
                <a:cs typeface="Arial"/>
              </a:defRPr>
            </a:lvl2pPr>
            <a:lvl3pPr>
              <a:defRPr sz="1125" b="1">
                <a:solidFill>
                  <a:srgbClr val="AFC2FF"/>
                </a:solidFill>
                <a:latin typeface="Arial"/>
                <a:ea typeface="Arial"/>
                <a:cs typeface="Arial"/>
              </a:defRPr>
            </a:lvl3pPr>
            <a:lvl4pPr>
              <a:defRPr sz="1125" b="1">
                <a:solidFill>
                  <a:srgbClr val="AFC2FF"/>
                </a:solidFill>
                <a:latin typeface="Arial"/>
                <a:ea typeface="Arial"/>
                <a:cs typeface="Arial"/>
              </a:defRPr>
            </a:lvl4pPr>
            <a:lvl5pPr>
              <a:defRPr sz="1125" b="1">
                <a:solidFill>
                  <a:srgbClr val="AFC2FF"/>
                </a:solidFill>
                <a:latin typeface="Arial"/>
                <a:ea typeface="Arial"/>
                <a:cs typeface="Arial"/>
              </a:defRPr>
            </a:lvl5pPr>
            <a:lvl6pPr>
              <a:defRPr sz="1125" b="1">
                <a:solidFill>
                  <a:srgbClr val="AFC2FF"/>
                </a:solidFill>
                <a:latin typeface="Arial"/>
                <a:ea typeface="Arial"/>
                <a:cs typeface="Arial"/>
              </a:defRPr>
            </a:lvl6pPr>
            <a:lvl7pPr>
              <a:defRPr sz="1125" b="1">
                <a:solidFill>
                  <a:srgbClr val="AFC2FF"/>
                </a:solidFill>
                <a:latin typeface="Arial"/>
                <a:ea typeface="Arial"/>
                <a:cs typeface="Arial"/>
              </a:defRPr>
            </a:lvl7pPr>
            <a:lvl8pPr>
              <a:defRPr sz="1125" b="1">
                <a:solidFill>
                  <a:srgbClr val="AFC2FF"/>
                </a:solidFill>
                <a:latin typeface="Arial"/>
                <a:ea typeface="Arial"/>
                <a:cs typeface="Arial"/>
              </a:defRPr>
            </a:lvl8pPr>
            <a:lvl9pPr>
              <a:defRPr sz="1125" b="1">
                <a:solidFill>
                  <a:srgbClr val="AFC2FF"/>
                </a:solidFill>
                <a:latin typeface="Arial"/>
                <a:ea typeface="Arial"/>
                <a:cs typeface="Arial"/>
              </a:defRPr>
            </a:lvl9pPr>
          </a:lstStyle>
          <a:p xmlns:a="http://schemas.openxmlformats.org/drawingml/2006/main">
            <a:pPr>
              <a:buNone/>
              <a:defRPr sz="1125" b="1">
                <a:solidFill>
                  <a:srgbClr val="AFC2FF"/>
                </a:solidFill>
                <a:latin typeface="Arial"/>
                <a:ea typeface="Arial"/>
                <a:cs typeface="Arial"/>
              </a:defRPr>
            </a:pPr>
            <a:r>
              <a:rPr sz="1125" b="1">
                <a:solidFill>
                  <a:srgbClr val="AFC2FF"/>
                </a:solidFill>
                <a:latin typeface="Arial"/>
                <a:ea typeface="Arial"/>
                <a:cs typeface="Arial"/>
              </a:rPr>
              <a:t>REINVENT COMMERCE  /  TRACK 03</a:t>
            </a:r>
          </a:p>
        </p:txBody>
      </p:sp>
      <p:sp>
        <p:nvSpPr>
          <p:cNvPr id="2" name="Rectangle 1">
            <a:extLst xmlns:a="http://schemas.openxmlformats.org/drawingml/2006/main">
              <a:ext uri="{FF2B5EF4-FFF2-40B4-BE49-F238E27FC236}">
                <a16:creationId xmlns:a16="http://schemas.microsoft.com/office/drawing/2014/main" id="{7E6FFDD1-86CF-4A63-8594-C0135862C55D}"/>
              </a:ext>
            </a:extLst>
          </p:cNvPr>
          <p:cNvSpPr>
            <a:spLocks xmlns:a="http://schemas.openxmlformats.org/drawingml/2006/main" noGrp="1"/>
          </p:cNvSpPr>
          <p:nvPr/>
        </p:nvSpPr>
        <p:spPr>
          <a:xfrm xmlns:a="http://schemas.openxmlformats.org/drawingml/2006/main">
            <a:off x="723900" y="1828800"/>
            <a:ext cx="7524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6450" b="1">
                <a:solidFill>
                  <a:srgbClr val="FFFFFF"/>
                </a:solidFill>
                <a:latin typeface="Arial"/>
                <a:ea typeface="Arial"/>
                <a:cs typeface="Arial"/>
              </a:defRPr>
            </a:defPPr>
            <a:lvl1pPr>
              <a:defRPr sz="6450" b="1">
                <a:solidFill>
                  <a:srgbClr val="FFFFFF"/>
                </a:solidFill>
                <a:latin typeface="Arial"/>
                <a:ea typeface="Arial"/>
                <a:cs typeface="Arial"/>
              </a:defRPr>
            </a:lvl1pPr>
            <a:lvl2pPr>
              <a:defRPr sz="6450" b="1">
                <a:solidFill>
                  <a:srgbClr val="FFFFFF"/>
                </a:solidFill>
                <a:latin typeface="Arial"/>
                <a:ea typeface="Arial"/>
                <a:cs typeface="Arial"/>
              </a:defRPr>
            </a:lvl2pPr>
            <a:lvl3pPr>
              <a:defRPr sz="6450" b="1">
                <a:solidFill>
                  <a:srgbClr val="FFFFFF"/>
                </a:solidFill>
                <a:latin typeface="Arial"/>
                <a:ea typeface="Arial"/>
                <a:cs typeface="Arial"/>
              </a:defRPr>
            </a:lvl3pPr>
            <a:lvl4pPr>
              <a:defRPr sz="6450" b="1">
                <a:solidFill>
                  <a:srgbClr val="FFFFFF"/>
                </a:solidFill>
                <a:latin typeface="Arial"/>
                <a:ea typeface="Arial"/>
                <a:cs typeface="Arial"/>
              </a:defRPr>
            </a:lvl4pPr>
            <a:lvl5pPr>
              <a:defRPr sz="6450" b="1">
                <a:solidFill>
                  <a:srgbClr val="FFFFFF"/>
                </a:solidFill>
                <a:latin typeface="Arial"/>
                <a:ea typeface="Arial"/>
                <a:cs typeface="Arial"/>
              </a:defRPr>
            </a:lvl5pPr>
            <a:lvl6pPr>
              <a:defRPr sz="6450" b="1">
                <a:solidFill>
                  <a:srgbClr val="FFFFFF"/>
                </a:solidFill>
                <a:latin typeface="Arial"/>
                <a:ea typeface="Arial"/>
                <a:cs typeface="Arial"/>
              </a:defRPr>
            </a:lvl6pPr>
            <a:lvl7pPr>
              <a:defRPr sz="6450" b="1">
                <a:solidFill>
                  <a:srgbClr val="FFFFFF"/>
                </a:solidFill>
                <a:latin typeface="Arial"/>
                <a:ea typeface="Arial"/>
                <a:cs typeface="Arial"/>
              </a:defRPr>
            </a:lvl7pPr>
            <a:lvl8pPr>
              <a:defRPr sz="6450" b="1">
                <a:solidFill>
                  <a:srgbClr val="FFFFFF"/>
                </a:solidFill>
                <a:latin typeface="Arial"/>
                <a:ea typeface="Arial"/>
                <a:cs typeface="Arial"/>
              </a:defRPr>
            </a:lvl8pPr>
            <a:lvl9pPr>
              <a:defRPr sz="6450" b="1">
                <a:solidFill>
                  <a:srgbClr val="FFFFFF"/>
                </a:solidFill>
                <a:latin typeface="Arial"/>
                <a:ea typeface="Arial"/>
                <a:cs typeface="Arial"/>
              </a:defRPr>
            </a:lvl9pPr>
          </a:lstStyle>
          <a:p xmlns:a="http://schemas.openxmlformats.org/drawingml/2006/main">
            <a:pPr>
              <a:buNone/>
              <a:defRPr sz="6450" b="1">
                <a:solidFill>
                  <a:srgbClr val="FFFFFF"/>
                </a:solidFill>
                <a:latin typeface="Arial"/>
                <a:ea typeface="Arial"/>
                <a:cs typeface="Arial"/>
              </a:defRPr>
            </a:pPr>
            <a:r>
              <a:rPr sz="6450" b="1">
                <a:solidFill>
                  <a:srgbClr val="FFFFFF"/>
                </a:solidFill>
                <a:latin typeface="Arial"/>
                <a:ea typeface="Arial"/>
                <a:cs typeface="Arial"/>
              </a:rPr>
              <a:t>Rhythm</a:t>
            </a:r>
          </a:p>
        </p:txBody>
      </p:sp>
      <p:sp>
        <p:nvSpPr>
          <p:cNvPr id="3" name="Rectangle 2">
            <a:extLst xmlns:a="http://schemas.openxmlformats.org/drawingml/2006/main">
              <a:ext uri="{FF2B5EF4-FFF2-40B4-BE49-F238E27FC236}">
                <a16:creationId xmlns:a16="http://schemas.microsoft.com/office/drawing/2014/main" id="{42349FA6-E904-49B4-9B17-D866BB04A032}"/>
              </a:ext>
            </a:extLst>
          </p:cNvPr>
          <p:cNvSpPr>
            <a:spLocks xmlns:a="http://schemas.openxmlformats.org/drawingml/2006/main" noGrp="1"/>
          </p:cNvSpPr>
          <p:nvPr/>
        </p:nvSpPr>
        <p:spPr>
          <a:xfrm xmlns:a="http://schemas.openxmlformats.org/drawingml/2006/main">
            <a:off x="781050" y="3067050"/>
            <a:ext cx="8286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2400" b="0">
                <a:solidFill>
                  <a:srgbClr val="E5EAF3"/>
                </a:solidFill>
                <a:latin typeface="Arial"/>
                <a:ea typeface="Arial"/>
                <a:cs typeface="Arial"/>
              </a:defRPr>
            </a:defPPr>
            <a:lvl1pPr>
              <a:defRPr sz="2400" b="0">
                <a:solidFill>
                  <a:srgbClr val="E5EAF3"/>
                </a:solidFill>
                <a:latin typeface="Arial"/>
                <a:ea typeface="Arial"/>
                <a:cs typeface="Arial"/>
              </a:defRPr>
            </a:lvl1pPr>
            <a:lvl2pPr>
              <a:defRPr sz="2400" b="0">
                <a:solidFill>
                  <a:srgbClr val="E5EAF3"/>
                </a:solidFill>
                <a:latin typeface="Arial"/>
                <a:ea typeface="Arial"/>
                <a:cs typeface="Arial"/>
              </a:defRPr>
            </a:lvl2pPr>
            <a:lvl3pPr>
              <a:defRPr sz="2400" b="0">
                <a:solidFill>
                  <a:srgbClr val="E5EAF3"/>
                </a:solidFill>
                <a:latin typeface="Arial"/>
                <a:ea typeface="Arial"/>
                <a:cs typeface="Arial"/>
              </a:defRPr>
            </a:lvl3pPr>
            <a:lvl4pPr>
              <a:defRPr sz="2400" b="0">
                <a:solidFill>
                  <a:srgbClr val="E5EAF3"/>
                </a:solidFill>
                <a:latin typeface="Arial"/>
                <a:ea typeface="Arial"/>
                <a:cs typeface="Arial"/>
              </a:defRPr>
            </a:lvl4pPr>
            <a:lvl5pPr>
              <a:defRPr sz="2400" b="0">
                <a:solidFill>
                  <a:srgbClr val="E5EAF3"/>
                </a:solidFill>
                <a:latin typeface="Arial"/>
                <a:ea typeface="Arial"/>
                <a:cs typeface="Arial"/>
              </a:defRPr>
            </a:lvl5pPr>
            <a:lvl6pPr>
              <a:defRPr sz="2400" b="0">
                <a:solidFill>
                  <a:srgbClr val="E5EAF3"/>
                </a:solidFill>
                <a:latin typeface="Arial"/>
                <a:ea typeface="Arial"/>
                <a:cs typeface="Arial"/>
              </a:defRPr>
            </a:lvl6pPr>
            <a:lvl7pPr>
              <a:defRPr sz="2400" b="0">
                <a:solidFill>
                  <a:srgbClr val="E5EAF3"/>
                </a:solidFill>
                <a:latin typeface="Arial"/>
                <a:ea typeface="Arial"/>
                <a:cs typeface="Arial"/>
              </a:defRPr>
            </a:lvl7pPr>
            <a:lvl8pPr>
              <a:defRPr sz="2400" b="0">
                <a:solidFill>
                  <a:srgbClr val="E5EAF3"/>
                </a:solidFill>
                <a:latin typeface="Arial"/>
                <a:ea typeface="Arial"/>
                <a:cs typeface="Arial"/>
              </a:defRPr>
            </a:lvl8pPr>
            <a:lvl9pPr>
              <a:defRPr sz="2400" b="0">
                <a:solidFill>
                  <a:srgbClr val="E5EAF3"/>
                </a:solidFill>
                <a:latin typeface="Arial"/>
                <a:ea typeface="Arial"/>
                <a:cs typeface="Arial"/>
              </a:defRPr>
            </a:lvl9pPr>
          </a:lstStyle>
          <a:p xmlns:a="http://schemas.openxmlformats.org/drawingml/2006/main">
            <a:pPr>
              <a:buNone/>
              <a:defRPr sz="2400" b="0">
                <a:solidFill>
                  <a:srgbClr val="E5EAF3"/>
                </a:solidFill>
                <a:latin typeface="Arial"/>
                <a:ea typeface="Arial"/>
                <a:cs typeface="Arial"/>
              </a:defRPr>
            </a:pPr>
            <a:r>
              <a:rPr sz="2400" b="0">
                <a:solidFill>
                  <a:srgbClr val="E5EAF3"/>
                </a:solidFill>
                <a:latin typeface="Arial"/>
                <a:ea typeface="Arial"/>
                <a:cs typeface="Arial"/>
              </a:rPr>
              <a:t>Retention decisions from each shopper’s reorder history</a:t>
            </a:r>
          </a:p>
        </p:txBody>
      </p:sp>
      <p:sp>
        <p:nvSpPr>
          <p:cNvPr id="4" name="Straight Connector 3">
            <a:extLst xmlns:a="http://schemas.openxmlformats.org/drawingml/2006/main">
              <a:ext uri="{FF2B5EF4-FFF2-40B4-BE49-F238E27FC236}">
                <a16:creationId xmlns:a16="http://schemas.microsoft.com/office/drawing/2014/main" id="{1876AC8C-FFB8-4EFA-B7B4-917316435CF9}"/>
              </a:ext>
            </a:extLst>
          </p:cNvPr>
          <p:cNvSpPr>
            <a:spLocks xmlns:a="http://schemas.openxmlformats.org/drawingml/2006/main" noGrp="1"/>
          </p:cNvSpPr>
          <p:nvPr/>
        </p:nvSpPr>
        <p:spPr>
          <a:xfrm xmlns:a="http://schemas.openxmlformats.org/drawingml/2006/main">
            <a:off x="781050" y="4143375"/>
            <a:ext cx="10477500" cy="0"/>
          </a:xfrm>
          <a:prstGeom xmlns:a="http://schemas.openxmlformats.org/drawingml/2006/main" prst="line">
            <a:avLst/>
          </a:prstGeom>
          <a:ln xmlns:a="http://schemas.openxmlformats.org/drawingml/2006/main" w="9525">
            <a:solidFill>
              <a:srgbClr val="536170"/>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C6D25DBD-9A41-4B68-819E-B46D5134FDC0}"/>
              </a:ext>
            </a:extLst>
          </p:cNvPr>
          <p:cNvSpPr>
            <a:spLocks xmlns:a="http://schemas.openxmlformats.org/drawingml/2006/main" noGrp="1"/>
          </p:cNvSpPr>
          <p:nvPr/>
        </p:nvSpPr>
        <p:spPr>
          <a:xfrm xmlns:a="http://schemas.openxmlformats.org/drawingml/2006/main">
            <a:off x="781050" y="4476750"/>
            <a:ext cx="8953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75" b="0">
                <a:solidFill>
                  <a:srgbClr val="FFFFFF"/>
                </a:solidFill>
                <a:latin typeface="Arial"/>
                <a:ea typeface="Arial"/>
                <a:cs typeface="Arial"/>
              </a:defRPr>
            </a:defPPr>
            <a:lvl1pPr>
              <a:defRPr sz="1875" b="0">
                <a:solidFill>
                  <a:srgbClr val="FFFFFF"/>
                </a:solidFill>
                <a:latin typeface="Arial"/>
                <a:ea typeface="Arial"/>
                <a:cs typeface="Arial"/>
              </a:defRPr>
            </a:lvl1pPr>
            <a:lvl2pPr>
              <a:defRPr sz="1875" b="0">
                <a:solidFill>
                  <a:srgbClr val="FFFFFF"/>
                </a:solidFill>
                <a:latin typeface="Arial"/>
                <a:ea typeface="Arial"/>
                <a:cs typeface="Arial"/>
              </a:defRPr>
            </a:lvl2pPr>
            <a:lvl3pPr>
              <a:defRPr sz="1875" b="0">
                <a:solidFill>
                  <a:srgbClr val="FFFFFF"/>
                </a:solidFill>
                <a:latin typeface="Arial"/>
                <a:ea typeface="Arial"/>
                <a:cs typeface="Arial"/>
              </a:defRPr>
            </a:lvl3pPr>
            <a:lvl4pPr>
              <a:defRPr sz="1875" b="0">
                <a:solidFill>
                  <a:srgbClr val="FFFFFF"/>
                </a:solidFill>
                <a:latin typeface="Arial"/>
                <a:ea typeface="Arial"/>
                <a:cs typeface="Arial"/>
              </a:defRPr>
            </a:lvl4pPr>
            <a:lvl5pPr>
              <a:defRPr sz="1875" b="0">
                <a:solidFill>
                  <a:srgbClr val="FFFFFF"/>
                </a:solidFill>
                <a:latin typeface="Arial"/>
                <a:ea typeface="Arial"/>
                <a:cs typeface="Arial"/>
              </a:defRPr>
            </a:lvl5pPr>
            <a:lvl6pPr>
              <a:defRPr sz="1875" b="0">
                <a:solidFill>
                  <a:srgbClr val="FFFFFF"/>
                </a:solidFill>
                <a:latin typeface="Arial"/>
                <a:ea typeface="Arial"/>
                <a:cs typeface="Arial"/>
              </a:defRPr>
            </a:lvl6pPr>
            <a:lvl7pPr>
              <a:defRPr sz="1875" b="0">
                <a:solidFill>
                  <a:srgbClr val="FFFFFF"/>
                </a:solidFill>
                <a:latin typeface="Arial"/>
                <a:ea typeface="Arial"/>
                <a:cs typeface="Arial"/>
              </a:defRPr>
            </a:lvl7pPr>
            <a:lvl8pPr>
              <a:defRPr sz="1875" b="0">
                <a:solidFill>
                  <a:srgbClr val="FFFFFF"/>
                </a:solidFill>
                <a:latin typeface="Arial"/>
                <a:ea typeface="Arial"/>
                <a:cs typeface="Arial"/>
              </a:defRPr>
            </a:lvl8pPr>
            <a:lvl9pPr>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Rhythm flags repeat shoppers past a personal reorder threshold, then shows the purchase history behind each signal.</a:t>
            </a:r>
          </a:p>
        </p:txBody>
      </p:sp>
      <p:sp>
        <p:nvSpPr>
          <p:cNvPr id="6" name="Rectangle 5">
            <a:extLst xmlns:a="http://schemas.openxmlformats.org/drawingml/2006/main">
              <a:ext uri="{FF2B5EF4-FFF2-40B4-BE49-F238E27FC236}">
                <a16:creationId xmlns:a16="http://schemas.microsoft.com/office/drawing/2014/main" id="{284F0D83-EADD-42CE-9452-E020F97EA197}"/>
              </a:ext>
            </a:extLst>
          </p:cNvPr>
          <p:cNvSpPr>
            <a:spLocks xmlns:a="http://schemas.openxmlformats.org/drawingml/2006/main" noGrp="1"/>
          </p:cNvSpPr>
          <p:nvPr/>
        </p:nvSpPr>
        <p:spPr>
          <a:xfrm xmlns:a="http://schemas.openxmlformats.org/drawingml/2006/main">
            <a:off x="781050" y="605790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200" b="1">
                <a:solidFill>
                  <a:srgbClr val="AFC2FF"/>
                </a:solidFill>
                <a:latin typeface="Arial"/>
                <a:ea typeface="Arial"/>
                <a:cs typeface="Arial"/>
              </a:defRPr>
            </a:defPPr>
            <a:lvl1pPr>
              <a:defRPr sz="1200" b="1">
                <a:solidFill>
                  <a:srgbClr val="AFC2FF"/>
                </a:solidFill>
                <a:latin typeface="Arial"/>
                <a:ea typeface="Arial"/>
                <a:cs typeface="Arial"/>
              </a:defRPr>
            </a:lvl1pPr>
            <a:lvl2pPr>
              <a:defRPr sz="1200" b="1">
                <a:solidFill>
                  <a:srgbClr val="AFC2FF"/>
                </a:solidFill>
                <a:latin typeface="Arial"/>
                <a:ea typeface="Arial"/>
                <a:cs typeface="Arial"/>
              </a:defRPr>
            </a:lvl2pPr>
            <a:lvl3pPr>
              <a:defRPr sz="1200" b="1">
                <a:solidFill>
                  <a:srgbClr val="AFC2FF"/>
                </a:solidFill>
                <a:latin typeface="Arial"/>
                <a:ea typeface="Arial"/>
                <a:cs typeface="Arial"/>
              </a:defRPr>
            </a:lvl3pPr>
            <a:lvl4pPr>
              <a:defRPr sz="1200" b="1">
                <a:solidFill>
                  <a:srgbClr val="AFC2FF"/>
                </a:solidFill>
                <a:latin typeface="Arial"/>
                <a:ea typeface="Arial"/>
                <a:cs typeface="Arial"/>
              </a:defRPr>
            </a:lvl4pPr>
            <a:lvl5pPr>
              <a:defRPr sz="1200" b="1">
                <a:solidFill>
                  <a:srgbClr val="AFC2FF"/>
                </a:solidFill>
                <a:latin typeface="Arial"/>
                <a:ea typeface="Arial"/>
                <a:cs typeface="Arial"/>
              </a:defRPr>
            </a:lvl5pPr>
            <a:lvl6pPr>
              <a:defRPr sz="1200" b="1">
                <a:solidFill>
                  <a:srgbClr val="AFC2FF"/>
                </a:solidFill>
                <a:latin typeface="Arial"/>
                <a:ea typeface="Arial"/>
                <a:cs typeface="Arial"/>
              </a:defRPr>
            </a:lvl6pPr>
            <a:lvl7pPr>
              <a:defRPr sz="1200" b="1">
                <a:solidFill>
                  <a:srgbClr val="AFC2FF"/>
                </a:solidFill>
                <a:latin typeface="Arial"/>
                <a:ea typeface="Arial"/>
                <a:cs typeface="Arial"/>
              </a:defRPr>
            </a:lvl7pPr>
            <a:lvl8pPr>
              <a:defRPr sz="1200" b="1">
                <a:solidFill>
                  <a:srgbClr val="AFC2FF"/>
                </a:solidFill>
                <a:latin typeface="Arial"/>
                <a:ea typeface="Arial"/>
                <a:cs typeface="Arial"/>
              </a:defRPr>
            </a:lvl8pPr>
            <a:lvl9pPr>
              <a:defRPr sz="1200" b="1">
                <a:solidFill>
                  <a:srgbClr val="AFC2FF"/>
                </a:solidFill>
                <a:latin typeface="Arial"/>
                <a:ea typeface="Arial"/>
                <a:cs typeface="Arial"/>
              </a:defRPr>
            </a:lvl9pPr>
          </a:lstStyle>
          <a:p xmlns:a="http://schemas.openxmlformats.org/drawingml/2006/main">
            <a:pPr>
              <a:buNone/>
              <a:defRPr sz="1200" b="1">
                <a:solidFill>
                  <a:srgbClr val="AFC2FF"/>
                </a:solidFill>
                <a:latin typeface="Arial"/>
                <a:ea typeface="Arial"/>
                <a:cs typeface="Arial"/>
              </a:defRPr>
            </a:pPr>
            <a:r>
              <a:rPr sz="1200" b="1">
                <a:solidFill>
                  <a:srgbClr val="AFC2FF"/>
                </a:solidFill>
                <a:latin typeface="Arial"/>
                <a:ea typeface="Arial"/>
                <a:cs typeface="Arial"/>
              </a:rPr>
              <a:t>Prototype by KathanSena</a:t>
            </a:r>
          </a:p>
        </p:txBody>
      </p:sp>
    </p:spTree>
    <p:extLst>
      <p:ext uri="{BB962C8B-B14F-4D97-AF65-F5344CB8AC3E}">
        <p14:creationId xmlns:p14="http://schemas.microsoft.com/office/powerpoint/2010/main" val="724127096"/>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79F8BC5D-4484-498D-8A0B-15B7A87E39BE}"/>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050" b="1">
                <a:solidFill>
                  <a:srgbClr val="315BCE"/>
                </a:solidFill>
                <a:latin typeface="Arial"/>
                <a:ea typeface="Arial"/>
                <a:cs typeface="Arial"/>
              </a:defRPr>
            </a:defPPr>
            <a:lvl1pPr>
              <a:defRPr sz="1050" b="1">
                <a:solidFill>
                  <a:srgbClr val="315BCE"/>
                </a:solidFill>
                <a:latin typeface="Arial"/>
                <a:ea typeface="Arial"/>
                <a:cs typeface="Arial"/>
              </a:defRPr>
            </a:lvl1pPr>
            <a:lvl2pPr>
              <a:defRPr sz="1050" b="1">
                <a:solidFill>
                  <a:srgbClr val="315BCE"/>
                </a:solidFill>
                <a:latin typeface="Arial"/>
                <a:ea typeface="Arial"/>
                <a:cs typeface="Arial"/>
              </a:defRPr>
            </a:lvl2pPr>
            <a:lvl3pPr>
              <a:defRPr sz="1050" b="1">
                <a:solidFill>
                  <a:srgbClr val="315BCE"/>
                </a:solidFill>
                <a:latin typeface="Arial"/>
                <a:ea typeface="Arial"/>
                <a:cs typeface="Arial"/>
              </a:defRPr>
            </a:lvl3pPr>
            <a:lvl4pPr>
              <a:defRPr sz="1050" b="1">
                <a:solidFill>
                  <a:srgbClr val="315BCE"/>
                </a:solidFill>
                <a:latin typeface="Arial"/>
                <a:ea typeface="Arial"/>
                <a:cs typeface="Arial"/>
              </a:defRPr>
            </a:lvl4pPr>
            <a:lvl5pPr>
              <a:defRPr sz="1050" b="1">
                <a:solidFill>
                  <a:srgbClr val="315BCE"/>
                </a:solidFill>
                <a:latin typeface="Arial"/>
                <a:ea typeface="Arial"/>
                <a:cs typeface="Arial"/>
              </a:defRPr>
            </a:lvl5pPr>
            <a:lvl6pPr>
              <a:defRPr sz="1050" b="1">
                <a:solidFill>
                  <a:srgbClr val="315BCE"/>
                </a:solidFill>
                <a:latin typeface="Arial"/>
                <a:ea typeface="Arial"/>
                <a:cs typeface="Arial"/>
              </a:defRPr>
            </a:lvl6pPr>
            <a:lvl7pPr>
              <a:defRPr sz="1050" b="1">
                <a:solidFill>
                  <a:srgbClr val="315BCE"/>
                </a:solidFill>
                <a:latin typeface="Arial"/>
                <a:ea typeface="Arial"/>
                <a:cs typeface="Arial"/>
              </a:defRPr>
            </a:lvl7pPr>
            <a:lvl8pPr>
              <a:defRPr sz="1050" b="1">
                <a:solidFill>
                  <a:srgbClr val="315BCE"/>
                </a:solidFill>
                <a:latin typeface="Arial"/>
                <a:ea typeface="Arial"/>
                <a:cs typeface="Arial"/>
              </a:defRPr>
            </a:lvl8pPr>
            <a:lvl9pPr>
              <a:defRPr sz="1050" b="1">
                <a:solidFill>
                  <a:srgbClr val="315BCE"/>
                </a:solidFill>
                <a:latin typeface="Arial"/>
                <a:ea typeface="Arial"/>
                <a:cs typeface="Arial"/>
              </a:defRPr>
            </a:lvl9pPr>
          </a:lstStyle>
          <a:p xmlns:a="http://schemas.openxmlformats.org/drawingml/2006/main">
            <a:pPr>
              <a:buNone/>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Rectangle 1">
            <a:extLst xmlns:a="http://schemas.openxmlformats.org/drawingml/2006/main">
              <a:ext uri="{FF2B5EF4-FFF2-40B4-BE49-F238E27FC236}">
                <a16:creationId xmlns:a16="http://schemas.microsoft.com/office/drawing/2014/main" id="{52EA869A-6625-46D2-9EE1-1FF3E3A2EBD2}"/>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3000" b="1">
                <a:solidFill>
                  <a:srgbClr val="16202B"/>
                </a:solidFill>
                <a:latin typeface="Arial"/>
                <a:ea typeface="Arial"/>
                <a:cs typeface="Arial"/>
              </a:defRPr>
            </a:defPPr>
            <a:lvl1pPr>
              <a:defRPr sz="3000" b="1">
                <a:solidFill>
                  <a:srgbClr val="16202B"/>
                </a:solidFill>
                <a:latin typeface="Arial"/>
                <a:ea typeface="Arial"/>
                <a:cs typeface="Arial"/>
              </a:defRPr>
            </a:lvl1pPr>
            <a:lvl2pPr>
              <a:defRPr sz="3000" b="1">
                <a:solidFill>
                  <a:srgbClr val="16202B"/>
                </a:solidFill>
                <a:latin typeface="Arial"/>
                <a:ea typeface="Arial"/>
                <a:cs typeface="Arial"/>
              </a:defRPr>
            </a:lvl2pPr>
            <a:lvl3pPr>
              <a:defRPr sz="3000" b="1">
                <a:solidFill>
                  <a:srgbClr val="16202B"/>
                </a:solidFill>
                <a:latin typeface="Arial"/>
                <a:ea typeface="Arial"/>
                <a:cs typeface="Arial"/>
              </a:defRPr>
            </a:lvl3pPr>
            <a:lvl4pPr>
              <a:defRPr sz="3000" b="1">
                <a:solidFill>
                  <a:srgbClr val="16202B"/>
                </a:solidFill>
                <a:latin typeface="Arial"/>
                <a:ea typeface="Arial"/>
                <a:cs typeface="Arial"/>
              </a:defRPr>
            </a:lvl4pPr>
            <a:lvl5pPr>
              <a:defRPr sz="3000" b="1">
                <a:solidFill>
                  <a:srgbClr val="16202B"/>
                </a:solidFill>
                <a:latin typeface="Arial"/>
                <a:ea typeface="Arial"/>
                <a:cs typeface="Arial"/>
              </a:defRPr>
            </a:lvl5pPr>
            <a:lvl6pPr>
              <a:defRPr sz="3000" b="1">
                <a:solidFill>
                  <a:srgbClr val="16202B"/>
                </a:solidFill>
                <a:latin typeface="Arial"/>
                <a:ea typeface="Arial"/>
                <a:cs typeface="Arial"/>
              </a:defRPr>
            </a:lvl6pPr>
            <a:lvl7pPr>
              <a:defRPr sz="3000" b="1">
                <a:solidFill>
                  <a:srgbClr val="16202B"/>
                </a:solidFill>
                <a:latin typeface="Arial"/>
                <a:ea typeface="Arial"/>
                <a:cs typeface="Arial"/>
              </a:defRPr>
            </a:lvl7pPr>
            <a:lvl8pPr>
              <a:defRPr sz="3000" b="1">
                <a:solidFill>
                  <a:srgbClr val="16202B"/>
                </a:solidFill>
                <a:latin typeface="Arial"/>
                <a:ea typeface="Arial"/>
                <a:cs typeface="Arial"/>
              </a:defRPr>
            </a:lvl8pPr>
            <a:lvl9pPr>
              <a:defRPr sz="3000" b="1">
                <a:solidFill>
                  <a:srgbClr val="16202B"/>
                </a:solidFill>
                <a:latin typeface="Arial"/>
                <a:ea typeface="Arial"/>
                <a:cs typeface="Arial"/>
              </a:defRPr>
            </a:lvl9pPr>
          </a:lstStyle>
          <a:p xmlns:a="http://schemas.openxmlformats.org/drawingml/2006/main">
            <a:pPr>
              <a:buNone/>
              <a:defRPr sz="3000" b="1">
                <a:solidFill>
                  <a:srgbClr val="16202B"/>
                </a:solidFill>
                <a:latin typeface="Arial"/>
                <a:ea typeface="Arial"/>
                <a:cs typeface="Arial"/>
              </a:defRPr>
            </a:pPr>
            <a:r>
              <a:rPr sz="3000" b="1">
                <a:solidFill>
                  <a:srgbClr val="16202B"/>
                </a:solidFill>
                <a:latin typeface="Arial"/>
                <a:ea typeface="Arial"/>
                <a:cs typeface="Arial"/>
              </a:rPr>
              <a:t>Repeat buying has a personal rhythm</a:t>
            </a:r>
          </a:p>
        </p:txBody>
      </p:sp>
      <p:sp>
        <p:nvSpPr>
          <p:cNvPr id="3" name="Rectangle 2">
            <a:extLst xmlns:a="http://schemas.openxmlformats.org/drawingml/2006/main">
              <a:ext uri="{FF2B5EF4-FFF2-40B4-BE49-F238E27FC236}">
                <a16:creationId xmlns:a16="http://schemas.microsoft.com/office/drawing/2014/main" id="{16E9577A-991D-4E41-9B06-228EB95B0B12}"/>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r">
              <a:defRPr sz="1050" b="1">
                <a:solidFill>
                  <a:srgbClr val="536170"/>
                </a:solidFill>
                <a:latin typeface="Arial"/>
                <a:ea typeface="Arial"/>
                <a:cs typeface="Arial"/>
              </a:defRPr>
            </a:defPPr>
            <a:lvl1pPr algn="r">
              <a:defRPr sz="1050" b="1">
                <a:solidFill>
                  <a:srgbClr val="536170"/>
                </a:solidFill>
                <a:latin typeface="Arial"/>
                <a:ea typeface="Arial"/>
                <a:cs typeface="Arial"/>
              </a:defRPr>
            </a:lvl1pPr>
            <a:lvl2pPr algn="r">
              <a:defRPr sz="1050" b="1">
                <a:solidFill>
                  <a:srgbClr val="536170"/>
                </a:solidFill>
                <a:latin typeface="Arial"/>
                <a:ea typeface="Arial"/>
                <a:cs typeface="Arial"/>
              </a:defRPr>
            </a:lvl2pPr>
            <a:lvl3pPr algn="r">
              <a:defRPr sz="1050" b="1">
                <a:solidFill>
                  <a:srgbClr val="536170"/>
                </a:solidFill>
                <a:latin typeface="Arial"/>
                <a:ea typeface="Arial"/>
                <a:cs typeface="Arial"/>
              </a:defRPr>
            </a:lvl3pPr>
            <a:lvl4pPr algn="r">
              <a:defRPr sz="1050" b="1">
                <a:solidFill>
                  <a:srgbClr val="536170"/>
                </a:solidFill>
                <a:latin typeface="Arial"/>
                <a:ea typeface="Arial"/>
                <a:cs typeface="Arial"/>
              </a:defRPr>
            </a:lvl4pPr>
            <a:lvl5pPr algn="r">
              <a:defRPr sz="1050" b="1">
                <a:solidFill>
                  <a:srgbClr val="536170"/>
                </a:solidFill>
                <a:latin typeface="Arial"/>
                <a:ea typeface="Arial"/>
                <a:cs typeface="Arial"/>
              </a:defRPr>
            </a:lvl5pPr>
            <a:lvl6pPr algn="r">
              <a:defRPr sz="1050" b="1">
                <a:solidFill>
                  <a:srgbClr val="536170"/>
                </a:solidFill>
                <a:latin typeface="Arial"/>
                <a:ea typeface="Arial"/>
                <a:cs typeface="Arial"/>
              </a:defRPr>
            </a:lvl6pPr>
            <a:lvl7pPr algn="r">
              <a:defRPr sz="1050" b="1">
                <a:solidFill>
                  <a:srgbClr val="536170"/>
                </a:solidFill>
                <a:latin typeface="Arial"/>
                <a:ea typeface="Arial"/>
                <a:cs typeface="Arial"/>
              </a:defRPr>
            </a:lvl7pPr>
            <a:lvl8pPr algn="r">
              <a:defRPr sz="1050" b="1">
                <a:solidFill>
                  <a:srgbClr val="536170"/>
                </a:solidFill>
                <a:latin typeface="Arial"/>
                <a:ea typeface="Arial"/>
                <a:cs typeface="Arial"/>
              </a:defRPr>
            </a:lvl8pPr>
            <a:lvl9pPr algn="r">
              <a:defRPr sz="1050" b="1">
                <a:solidFill>
                  <a:srgbClr val="536170"/>
                </a:solidFill>
                <a:latin typeface="Arial"/>
                <a:ea typeface="Arial"/>
                <a:cs typeface="Arial"/>
              </a:defRPr>
            </a:lvl9pPr>
          </a:lstStyle>
          <a:p xmlns:a="http://schemas.openxmlformats.org/drawingml/2006/main">
            <a:pPr algn="r">
              <a:buNone/>
              <a:defRPr sz="1050" b="1">
                <a:solidFill>
                  <a:srgbClr val="536170"/>
                </a:solidFill>
                <a:latin typeface="Arial"/>
                <a:ea typeface="Arial"/>
                <a:cs typeface="Arial"/>
              </a:defRPr>
            </a:pPr>
            <a:r>
              <a:rPr sz="1050" b="1">
                <a:solidFill>
                  <a:srgbClr val="536170"/>
                </a:solidFill>
                <a:latin typeface="Arial"/>
                <a:ea typeface="Arial"/>
                <a:cs typeface="Arial"/>
              </a:rPr>
              <a:t>02</a:t>
            </a:r>
          </a:p>
        </p:txBody>
      </p:sp>
      <p:sp>
        <p:nvSpPr>
          <p:cNvPr id="4" name="Rectangle 3">
            <a:extLst xmlns:a="http://schemas.openxmlformats.org/drawingml/2006/main">
              <a:ext uri="{FF2B5EF4-FFF2-40B4-BE49-F238E27FC236}">
                <a16:creationId xmlns:a16="http://schemas.microsoft.com/office/drawing/2014/main" id="{08811DF6-48E4-44F6-B134-0C200EE4D667}"/>
              </a:ext>
            </a:extLst>
          </p:cNvPr>
          <p:cNvSpPr>
            <a:spLocks xmlns:a="http://schemas.openxmlformats.org/drawingml/2006/main" noGrp="1"/>
          </p:cNvSpPr>
          <p:nvPr/>
        </p:nvSpPr>
        <p:spPr>
          <a:xfrm xmlns:a="http://schemas.openxmlformats.org/drawingml/2006/main">
            <a:off x="742950" y="19526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315BCE"/>
                </a:solidFill>
                <a:latin typeface="Arial"/>
                <a:ea typeface="Arial"/>
                <a:cs typeface="Arial"/>
              </a:defRPr>
            </a:defPPr>
            <a:lvl1pPr>
              <a:defRPr sz="1125" b="1">
                <a:solidFill>
                  <a:srgbClr val="315BCE"/>
                </a:solidFill>
                <a:latin typeface="Arial"/>
                <a:ea typeface="Arial"/>
                <a:cs typeface="Arial"/>
              </a:defRPr>
            </a:lvl1pPr>
            <a:lvl2pPr>
              <a:defRPr sz="1125" b="1">
                <a:solidFill>
                  <a:srgbClr val="315BCE"/>
                </a:solidFill>
                <a:latin typeface="Arial"/>
                <a:ea typeface="Arial"/>
                <a:cs typeface="Arial"/>
              </a:defRPr>
            </a:lvl2pPr>
            <a:lvl3pPr>
              <a:defRPr sz="1125" b="1">
                <a:solidFill>
                  <a:srgbClr val="315BCE"/>
                </a:solidFill>
                <a:latin typeface="Arial"/>
                <a:ea typeface="Arial"/>
                <a:cs typeface="Arial"/>
              </a:defRPr>
            </a:lvl3pPr>
            <a:lvl4pPr>
              <a:defRPr sz="1125" b="1">
                <a:solidFill>
                  <a:srgbClr val="315BCE"/>
                </a:solidFill>
                <a:latin typeface="Arial"/>
                <a:ea typeface="Arial"/>
                <a:cs typeface="Arial"/>
              </a:defRPr>
            </a:lvl4pPr>
            <a:lvl5pPr>
              <a:defRPr sz="1125" b="1">
                <a:solidFill>
                  <a:srgbClr val="315BCE"/>
                </a:solidFill>
                <a:latin typeface="Arial"/>
                <a:ea typeface="Arial"/>
                <a:cs typeface="Arial"/>
              </a:defRPr>
            </a:lvl5pPr>
            <a:lvl6pPr>
              <a:defRPr sz="1125" b="1">
                <a:solidFill>
                  <a:srgbClr val="315BCE"/>
                </a:solidFill>
                <a:latin typeface="Arial"/>
                <a:ea typeface="Arial"/>
                <a:cs typeface="Arial"/>
              </a:defRPr>
            </a:lvl6pPr>
            <a:lvl7pPr>
              <a:defRPr sz="1125" b="1">
                <a:solidFill>
                  <a:srgbClr val="315BCE"/>
                </a:solidFill>
                <a:latin typeface="Arial"/>
                <a:ea typeface="Arial"/>
                <a:cs typeface="Arial"/>
              </a:defRPr>
            </a:lvl7pPr>
            <a:lvl8pPr>
              <a:defRPr sz="1125" b="1">
                <a:solidFill>
                  <a:srgbClr val="315BCE"/>
                </a:solidFill>
                <a:latin typeface="Arial"/>
                <a:ea typeface="Arial"/>
                <a:cs typeface="Arial"/>
              </a:defRPr>
            </a:lvl8pPr>
            <a:lvl9pPr>
              <a:defRPr sz="1125" b="1">
                <a:solidFill>
                  <a:srgbClr val="315BCE"/>
                </a:solidFill>
                <a:latin typeface="Arial"/>
                <a:ea typeface="Arial"/>
                <a:cs typeface="Arial"/>
              </a:defRPr>
            </a:lvl9pPr>
          </a:lstStyle>
          <a:p xmlns:a="http://schemas.openxmlformats.org/drawingml/2006/main">
            <a:pPr>
              <a:buNone/>
              <a:defRPr sz="1125" b="1">
                <a:solidFill>
                  <a:srgbClr val="315BCE"/>
                </a:solidFill>
                <a:latin typeface="Arial"/>
                <a:ea typeface="Arial"/>
                <a:cs typeface="Arial"/>
              </a:defRPr>
            </a:pPr>
            <a:r>
              <a:rPr sz="1125" b="1">
                <a:solidFill>
                  <a:srgbClr val="315BCE"/>
                </a:solidFill>
                <a:latin typeface="Arial"/>
                <a:ea typeface="Arial"/>
                <a:cs typeface="Arial"/>
              </a:rPr>
              <a:t>THE MERCHANT</a:t>
            </a:r>
          </a:p>
        </p:txBody>
      </p:sp>
      <p:sp>
        <p:nvSpPr>
          <p:cNvPr id="5" name="Rectangle 4">
            <a:extLst xmlns:a="http://schemas.openxmlformats.org/drawingml/2006/main">
              <a:ext uri="{FF2B5EF4-FFF2-40B4-BE49-F238E27FC236}">
                <a16:creationId xmlns:a16="http://schemas.microsoft.com/office/drawing/2014/main" id="{654BCE06-49FD-4D87-9FC3-87B0FFC228CA}"/>
              </a:ext>
            </a:extLst>
          </p:cNvPr>
          <p:cNvSpPr>
            <a:spLocks xmlns:a="http://schemas.openxmlformats.org/drawingml/2006/main" noGrp="1"/>
          </p:cNvSpPr>
          <p:nvPr/>
        </p:nvSpPr>
        <p:spPr>
          <a:xfrm xmlns:a="http://schemas.openxmlformats.org/drawingml/2006/main">
            <a:off x="742950" y="2343150"/>
            <a:ext cx="4476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2175" b="1">
                <a:solidFill>
                  <a:srgbClr val="16202B"/>
                </a:solidFill>
                <a:latin typeface="Arial"/>
                <a:ea typeface="Arial"/>
                <a:cs typeface="Arial"/>
              </a:defRPr>
            </a:defPPr>
            <a:lvl1pPr>
              <a:defRPr sz="2175" b="1">
                <a:solidFill>
                  <a:srgbClr val="16202B"/>
                </a:solidFill>
                <a:latin typeface="Arial"/>
                <a:ea typeface="Arial"/>
                <a:cs typeface="Arial"/>
              </a:defRPr>
            </a:lvl1pPr>
            <a:lvl2pPr>
              <a:defRPr sz="2175" b="1">
                <a:solidFill>
                  <a:srgbClr val="16202B"/>
                </a:solidFill>
                <a:latin typeface="Arial"/>
                <a:ea typeface="Arial"/>
                <a:cs typeface="Arial"/>
              </a:defRPr>
            </a:lvl2pPr>
            <a:lvl3pPr>
              <a:defRPr sz="2175" b="1">
                <a:solidFill>
                  <a:srgbClr val="16202B"/>
                </a:solidFill>
                <a:latin typeface="Arial"/>
                <a:ea typeface="Arial"/>
                <a:cs typeface="Arial"/>
              </a:defRPr>
            </a:lvl3pPr>
            <a:lvl4pPr>
              <a:defRPr sz="2175" b="1">
                <a:solidFill>
                  <a:srgbClr val="16202B"/>
                </a:solidFill>
                <a:latin typeface="Arial"/>
                <a:ea typeface="Arial"/>
                <a:cs typeface="Arial"/>
              </a:defRPr>
            </a:lvl4pPr>
            <a:lvl5pPr>
              <a:defRPr sz="2175" b="1">
                <a:solidFill>
                  <a:srgbClr val="16202B"/>
                </a:solidFill>
                <a:latin typeface="Arial"/>
                <a:ea typeface="Arial"/>
                <a:cs typeface="Arial"/>
              </a:defRPr>
            </a:lvl5pPr>
            <a:lvl6pPr>
              <a:defRPr sz="2175" b="1">
                <a:solidFill>
                  <a:srgbClr val="16202B"/>
                </a:solidFill>
                <a:latin typeface="Arial"/>
                <a:ea typeface="Arial"/>
                <a:cs typeface="Arial"/>
              </a:defRPr>
            </a:lvl6pPr>
            <a:lvl7pPr>
              <a:defRPr sz="2175" b="1">
                <a:solidFill>
                  <a:srgbClr val="16202B"/>
                </a:solidFill>
                <a:latin typeface="Arial"/>
                <a:ea typeface="Arial"/>
                <a:cs typeface="Arial"/>
              </a:defRPr>
            </a:lvl7pPr>
            <a:lvl8pPr>
              <a:defRPr sz="2175" b="1">
                <a:solidFill>
                  <a:srgbClr val="16202B"/>
                </a:solidFill>
                <a:latin typeface="Arial"/>
                <a:ea typeface="Arial"/>
                <a:cs typeface="Arial"/>
              </a:defRPr>
            </a:lvl8pPr>
            <a:lvl9pPr>
              <a:defRPr sz="2175" b="1">
                <a:solidFill>
                  <a:srgbClr val="16202B"/>
                </a:solidFill>
                <a:latin typeface="Arial"/>
                <a:ea typeface="Arial"/>
                <a:cs typeface="Arial"/>
              </a:defRPr>
            </a:lvl9pPr>
          </a:lstStyle>
          <a:p xmlns:a="http://schemas.openxmlformats.org/drawingml/2006/main">
            <a:pPr>
              <a:buNone/>
              <a:defRPr sz="2175" b="1">
                <a:solidFill>
                  <a:srgbClr val="16202B"/>
                </a:solidFill>
                <a:latin typeface="Arial"/>
                <a:ea typeface="Arial"/>
                <a:cs typeface="Arial"/>
              </a:defRPr>
            </a:pPr>
            <a:r>
              <a:rPr sz="2175" b="1">
                <a:solidFill>
                  <a:srgbClr val="16202B"/>
                </a:solidFill>
                <a:latin typeface="Arial"/>
                <a:ea typeface="Arial"/>
                <a:cs typeface="Arial"/>
              </a:rPr>
              <a:t>A small retailer has order history but limited time to inspect every repeat shopper.</a:t>
            </a:r>
          </a:p>
        </p:txBody>
      </p:sp>
      <p:sp>
        <p:nvSpPr>
          <p:cNvPr id="6" name="Rectangle 5">
            <a:extLst xmlns:a="http://schemas.openxmlformats.org/drawingml/2006/main">
              <a:ext uri="{FF2B5EF4-FFF2-40B4-BE49-F238E27FC236}">
                <a16:creationId xmlns:a16="http://schemas.microsoft.com/office/drawing/2014/main" id="{176491E9-A123-4925-A180-36CE87D89C57}"/>
              </a:ext>
            </a:extLst>
          </p:cNvPr>
          <p:cNvSpPr>
            <a:spLocks xmlns:a="http://schemas.openxmlformats.org/drawingml/2006/main" noGrp="1"/>
          </p:cNvSpPr>
          <p:nvPr/>
        </p:nvSpPr>
        <p:spPr>
          <a:xfrm xmlns:a="http://schemas.openxmlformats.org/drawingml/2006/main">
            <a:off x="6572250" y="19526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315BCE"/>
                </a:solidFill>
                <a:latin typeface="Arial"/>
                <a:ea typeface="Arial"/>
                <a:cs typeface="Arial"/>
              </a:defRPr>
            </a:defPPr>
            <a:lvl1pPr>
              <a:defRPr sz="1125" b="1">
                <a:solidFill>
                  <a:srgbClr val="315BCE"/>
                </a:solidFill>
                <a:latin typeface="Arial"/>
                <a:ea typeface="Arial"/>
                <a:cs typeface="Arial"/>
              </a:defRPr>
            </a:lvl1pPr>
            <a:lvl2pPr>
              <a:defRPr sz="1125" b="1">
                <a:solidFill>
                  <a:srgbClr val="315BCE"/>
                </a:solidFill>
                <a:latin typeface="Arial"/>
                <a:ea typeface="Arial"/>
                <a:cs typeface="Arial"/>
              </a:defRPr>
            </a:lvl2pPr>
            <a:lvl3pPr>
              <a:defRPr sz="1125" b="1">
                <a:solidFill>
                  <a:srgbClr val="315BCE"/>
                </a:solidFill>
                <a:latin typeface="Arial"/>
                <a:ea typeface="Arial"/>
                <a:cs typeface="Arial"/>
              </a:defRPr>
            </a:lvl3pPr>
            <a:lvl4pPr>
              <a:defRPr sz="1125" b="1">
                <a:solidFill>
                  <a:srgbClr val="315BCE"/>
                </a:solidFill>
                <a:latin typeface="Arial"/>
                <a:ea typeface="Arial"/>
                <a:cs typeface="Arial"/>
              </a:defRPr>
            </a:lvl4pPr>
            <a:lvl5pPr>
              <a:defRPr sz="1125" b="1">
                <a:solidFill>
                  <a:srgbClr val="315BCE"/>
                </a:solidFill>
                <a:latin typeface="Arial"/>
                <a:ea typeface="Arial"/>
                <a:cs typeface="Arial"/>
              </a:defRPr>
            </a:lvl5pPr>
            <a:lvl6pPr>
              <a:defRPr sz="1125" b="1">
                <a:solidFill>
                  <a:srgbClr val="315BCE"/>
                </a:solidFill>
                <a:latin typeface="Arial"/>
                <a:ea typeface="Arial"/>
                <a:cs typeface="Arial"/>
              </a:defRPr>
            </a:lvl6pPr>
            <a:lvl7pPr>
              <a:defRPr sz="1125" b="1">
                <a:solidFill>
                  <a:srgbClr val="315BCE"/>
                </a:solidFill>
                <a:latin typeface="Arial"/>
                <a:ea typeface="Arial"/>
                <a:cs typeface="Arial"/>
              </a:defRPr>
            </a:lvl7pPr>
            <a:lvl8pPr>
              <a:defRPr sz="1125" b="1">
                <a:solidFill>
                  <a:srgbClr val="315BCE"/>
                </a:solidFill>
                <a:latin typeface="Arial"/>
                <a:ea typeface="Arial"/>
                <a:cs typeface="Arial"/>
              </a:defRPr>
            </a:lvl8pPr>
            <a:lvl9pPr>
              <a:defRPr sz="1125" b="1">
                <a:solidFill>
                  <a:srgbClr val="315BCE"/>
                </a:solidFill>
                <a:latin typeface="Arial"/>
                <a:ea typeface="Arial"/>
                <a:cs typeface="Arial"/>
              </a:defRPr>
            </a:lvl9pPr>
          </a:lstStyle>
          <a:p xmlns:a="http://schemas.openxmlformats.org/drawingml/2006/main">
            <a:pPr>
              <a:buNone/>
              <a:defRPr sz="1125" b="1">
                <a:solidFill>
                  <a:srgbClr val="315BCE"/>
                </a:solidFill>
                <a:latin typeface="Arial"/>
                <a:ea typeface="Arial"/>
                <a:cs typeface="Arial"/>
              </a:defRPr>
            </a:pPr>
            <a:r>
              <a:rPr sz="1125" b="1">
                <a:solidFill>
                  <a:srgbClr val="315BCE"/>
                </a:solidFill>
                <a:latin typeface="Arial"/>
                <a:ea typeface="Arial"/>
                <a:cs typeface="Arial"/>
              </a:rPr>
              <a:t>THE GAP</a:t>
            </a:r>
          </a:p>
        </p:txBody>
      </p:sp>
      <p:sp>
        <p:nvSpPr>
          <p:cNvPr id="7" name="Rectangle 6">
            <a:extLst xmlns:a="http://schemas.openxmlformats.org/drawingml/2006/main">
              <a:ext uri="{FF2B5EF4-FFF2-40B4-BE49-F238E27FC236}">
                <a16:creationId xmlns:a16="http://schemas.microsoft.com/office/drawing/2014/main" id="{0427C738-2252-4A84-AFF3-A8FB7275D5F5}"/>
              </a:ext>
            </a:extLst>
          </p:cNvPr>
          <p:cNvSpPr>
            <a:spLocks xmlns:a="http://schemas.openxmlformats.org/drawingml/2006/main" noGrp="1"/>
          </p:cNvSpPr>
          <p:nvPr/>
        </p:nvSpPr>
        <p:spPr>
          <a:xfrm xmlns:a="http://schemas.openxmlformats.org/drawingml/2006/main">
            <a:off x="6572250" y="2343150"/>
            <a:ext cx="4572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2175" b="1">
                <a:solidFill>
                  <a:srgbClr val="16202B"/>
                </a:solidFill>
                <a:latin typeface="Arial"/>
                <a:ea typeface="Arial"/>
                <a:cs typeface="Arial"/>
              </a:defRPr>
            </a:defPPr>
            <a:lvl1pPr>
              <a:defRPr sz="2175" b="1">
                <a:solidFill>
                  <a:srgbClr val="16202B"/>
                </a:solidFill>
                <a:latin typeface="Arial"/>
                <a:ea typeface="Arial"/>
                <a:cs typeface="Arial"/>
              </a:defRPr>
            </a:lvl1pPr>
            <a:lvl2pPr>
              <a:defRPr sz="2175" b="1">
                <a:solidFill>
                  <a:srgbClr val="16202B"/>
                </a:solidFill>
                <a:latin typeface="Arial"/>
                <a:ea typeface="Arial"/>
                <a:cs typeface="Arial"/>
              </a:defRPr>
            </a:lvl2pPr>
            <a:lvl3pPr>
              <a:defRPr sz="2175" b="1">
                <a:solidFill>
                  <a:srgbClr val="16202B"/>
                </a:solidFill>
                <a:latin typeface="Arial"/>
                <a:ea typeface="Arial"/>
                <a:cs typeface="Arial"/>
              </a:defRPr>
            </a:lvl3pPr>
            <a:lvl4pPr>
              <a:defRPr sz="2175" b="1">
                <a:solidFill>
                  <a:srgbClr val="16202B"/>
                </a:solidFill>
                <a:latin typeface="Arial"/>
                <a:ea typeface="Arial"/>
                <a:cs typeface="Arial"/>
              </a:defRPr>
            </a:lvl4pPr>
            <a:lvl5pPr>
              <a:defRPr sz="2175" b="1">
                <a:solidFill>
                  <a:srgbClr val="16202B"/>
                </a:solidFill>
                <a:latin typeface="Arial"/>
                <a:ea typeface="Arial"/>
                <a:cs typeface="Arial"/>
              </a:defRPr>
            </a:lvl5pPr>
            <a:lvl6pPr>
              <a:defRPr sz="2175" b="1">
                <a:solidFill>
                  <a:srgbClr val="16202B"/>
                </a:solidFill>
                <a:latin typeface="Arial"/>
                <a:ea typeface="Arial"/>
                <a:cs typeface="Arial"/>
              </a:defRPr>
            </a:lvl6pPr>
            <a:lvl7pPr>
              <a:defRPr sz="2175" b="1">
                <a:solidFill>
                  <a:srgbClr val="16202B"/>
                </a:solidFill>
                <a:latin typeface="Arial"/>
                <a:ea typeface="Arial"/>
                <a:cs typeface="Arial"/>
              </a:defRPr>
            </a:lvl7pPr>
            <a:lvl8pPr>
              <a:defRPr sz="2175" b="1">
                <a:solidFill>
                  <a:srgbClr val="16202B"/>
                </a:solidFill>
                <a:latin typeface="Arial"/>
                <a:ea typeface="Arial"/>
                <a:cs typeface="Arial"/>
              </a:defRPr>
            </a:lvl8pPr>
            <a:lvl9pPr>
              <a:defRPr sz="2175" b="1">
                <a:solidFill>
                  <a:srgbClr val="16202B"/>
                </a:solidFill>
                <a:latin typeface="Arial"/>
                <a:ea typeface="Arial"/>
                <a:cs typeface="Arial"/>
              </a:defRPr>
            </a:lvl9pPr>
          </a:lstStyle>
          <a:p xmlns:a="http://schemas.openxmlformats.org/drawingml/2006/main">
            <a:pPr>
              <a:buNone/>
              <a:defRPr sz="2175" b="1">
                <a:solidFill>
                  <a:srgbClr val="16202B"/>
                </a:solidFill>
                <a:latin typeface="Arial"/>
                <a:ea typeface="Arial"/>
                <a:cs typeface="Arial"/>
              </a:defRPr>
            </a:pPr>
            <a:r>
              <a:rPr sz="2175" b="1">
                <a:solidFill>
                  <a:srgbClr val="16202B"/>
                </a:solidFill>
                <a:latin typeface="Arial"/>
                <a:ea typeface="Arial"/>
                <a:cs typeface="Arial"/>
              </a:rPr>
              <a:t>A fixed “inactive for 30 days” rule treats weekly buyers and seasonal buyers alike.</a:t>
            </a:r>
          </a:p>
        </p:txBody>
      </p:sp>
      <p:sp>
        <p:nvSpPr>
          <p:cNvPr id="8" name="Straight Connector 7">
            <a:extLst xmlns:a="http://schemas.openxmlformats.org/drawingml/2006/main">
              <a:ext uri="{FF2B5EF4-FFF2-40B4-BE49-F238E27FC236}">
                <a16:creationId xmlns:a16="http://schemas.microsoft.com/office/drawing/2014/main" id="{9029EAE8-5A5C-4573-9457-3A53EA32226D}"/>
              </a:ext>
            </a:extLst>
          </p:cNvPr>
          <p:cNvSpPr>
            <a:spLocks xmlns:a="http://schemas.openxmlformats.org/drawingml/2006/main" noGrp="1"/>
          </p:cNvSpPr>
          <p:nvPr/>
        </p:nvSpPr>
        <p:spPr>
          <a:xfrm xmlns:a="http://schemas.openxmlformats.org/drawingml/2006/main">
            <a:off x="742950" y="4095750"/>
            <a:ext cx="10382250" cy="0"/>
          </a:xfrm>
          <a:prstGeom xmlns:a="http://schemas.openxmlformats.org/drawingml/2006/main" prst="line">
            <a:avLst/>
          </a:prstGeom>
          <a:ln xmlns:a="http://schemas.openxmlformats.org/drawingml/2006/main" w="9525">
            <a:solidFill>
              <a:srgbClr val="CFD6E0"/>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9D049E6B-8EFB-49D5-81E5-68B33F88B4D5}"/>
              </a:ext>
            </a:extLst>
          </p:cNvPr>
          <p:cNvSpPr>
            <a:spLocks xmlns:a="http://schemas.openxmlformats.org/drawingml/2006/main" noGrp="1"/>
          </p:cNvSpPr>
          <p:nvPr/>
        </p:nvSpPr>
        <p:spPr>
          <a:xfrm xmlns:a="http://schemas.openxmlformats.org/drawingml/2006/main">
            <a:off x="742950" y="44958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2100" b="0">
                <a:solidFill>
                  <a:srgbClr val="536170"/>
                </a:solidFill>
                <a:latin typeface="Arial"/>
                <a:ea typeface="Arial"/>
                <a:cs typeface="Arial"/>
              </a:defRPr>
            </a:defPPr>
            <a:lvl1pPr>
              <a:defRPr sz="2100" b="0">
                <a:solidFill>
                  <a:srgbClr val="536170"/>
                </a:solidFill>
                <a:latin typeface="Arial"/>
                <a:ea typeface="Arial"/>
                <a:cs typeface="Arial"/>
              </a:defRPr>
            </a:lvl1pPr>
            <a:lvl2pPr>
              <a:defRPr sz="2100" b="0">
                <a:solidFill>
                  <a:srgbClr val="536170"/>
                </a:solidFill>
                <a:latin typeface="Arial"/>
                <a:ea typeface="Arial"/>
                <a:cs typeface="Arial"/>
              </a:defRPr>
            </a:lvl2pPr>
            <a:lvl3pPr>
              <a:defRPr sz="2100" b="0">
                <a:solidFill>
                  <a:srgbClr val="536170"/>
                </a:solidFill>
                <a:latin typeface="Arial"/>
                <a:ea typeface="Arial"/>
                <a:cs typeface="Arial"/>
              </a:defRPr>
            </a:lvl3pPr>
            <a:lvl4pPr>
              <a:defRPr sz="2100" b="0">
                <a:solidFill>
                  <a:srgbClr val="536170"/>
                </a:solidFill>
                <a:latin typeface="Arial"/>
                <a:ea typeface="Arial"/>
                <a:cs typeface="Arial"/>
              </a:defRPr>
            </a:lvl4pPr>
            <a:lvl5pPr>
              <a:defRPr sz="2100" b="0">
                <a:solidFill>
                  <a:srgbClr val="536170"/>
                </a:solidFill>
                <a:latin typeface="Arial"/>
                <a:ea typeface="Arial"/>
                <a:cs typeface="Arial"/>
              </a:defRPr>
            </a:lvl5pPr>
            <a:lvl6pPr>
              <a:defRPr sz="2100" b="0">
                <a:solidFill>
                  <a:srgbClr val="536170"/>
                </a:solidFill>
                <a:latin typeface="Arial"/>
                <a:ea typeface="Arial"/>
                <a:cs typeface="Arial"/>
              </a:defRPr>
            </a:lvl6pPr>
            <a:lvl7pPr>
              <a:defRPr sz="2100" b="0">
                <a:solidFill>
                  <a:srgbClr val="536170"/>
                </a:solidFill>
                <a:latin typeface="Arial"/>
                <a:ea typeface="Arial"/>
                <a:cs typeface="Arial"/>
              </a:defRPr>
            </a:lvl7pPr>
            <a:lvl8pPr>
              <a:defRPr sz="2100" b="0">
                <a:solidFill>
                  <a:srgbClr val="536170"/>
                </a:solidFill>
                <a:latin typeface="Arial"/>
                <a:ea typeface="Arial"/>
                <a:cs typeface="Arial"/>
              </a:defRPr>
            </a:lvl8pPr>
            <a:lvl9pPr>
              <a:defRPr sz="2100" b="0">
                <a:solidFill>
                  <a:srgbClr val="536170"/>
                </a:solidFill>
                <a:latin typeface="Arial"/>
                <a:ea typeface="Arial"/>
                <a:cs typeface="Arial"/>
              </a:defRPr>
            </a:lvl9pPr>
          </a:lstStyle>
          <a:p xmlns:a="http://schemas.openxmlformats.org/drawingml/2006/main">
            <a:pPr>
              <a:buNone/>
              <a:defRPr sz="2100" b="0">
                <a:solidFill>
                  <a:srgbClr val="536170"/>
                </a:solidFill>
                <a:latin typeface="Arial"/>
                <a:ea typeface="Arial"/>
                <a:cs typeface="Arial"/>
              </a:defRPr>
            </a:pPr>
            <a:r>
              <a:rPr sz="2100" b="0">
                <a:solidFill>
                  <a:srgbClr val="536170"/>
                </a:solidFill>
                <a:latin typeface="Arial"/>
                <a:ea typeface="Arial"/>
                <a:cs typeface="Arial"/>
              </a:rPr>
              <a:t>Rhythm asks a narrower question: has this shopper gone beyond their own observed repeat pattern?</a:t>
            </a:r>
          </a:p>
        </p:txBody>
      </p:sp>
    </p:spTree>
    <p:extLst>
      <p:ext uri="{BB962C8B-B14F-4D97-AF65-F5344CB8AC3E}">
        <p14:creationId xmlns:p14="http://schemas.microsoft.com/office/powerpoint/2010/main" val="1655094780"/>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4" name="Rectangle 13">
            <a:extLst xmlns:a="http://schemas.openxmlformats.org/drawingml/2006/main">
              <a:ext uri="{FF2B5EF4-FFF2-40B4-BE49-F238E27FC236}">
                <a16:creationId xmlns:a16="http://schemas.microsoft.com/office/drawing/2014/main" id="{33D32411-2343-4655-9572-9413E2B17698}"/>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050" b="1">
                <a:solidFill>
                  <a:srgbClr val="315BCE"/>
                </a:solidFill>
                <a:latin typeface="Arial"/>
                <a:ea typeface="Arial"/>
                <a:cs typeface="Arial"/>
              </a:defRPr>
            </a:defPPr>
            <a:lvl1pPr>
              <a:defRPr sz="1050" b="1">
                <a:solidFill>
                  <a:srgbClr val="315BCE"/>
                </a:solidFill>
                <a:latin typeface="Arial"/>
                <a:ea typeface="Arial"/>
                <a:cs typeface="Arial"/>
              </a:defRPr>
            </a:lvl1pPr>
            <a:lvl2pPr>
              <a:defRPr sz="1050" b="1">
                <a:solidFill>
                  <a:srgbClr val="315BCE"/>
                </a:solidFill>
                <a:latin typeface="Arial"/>
                <a:ea typeface="Arial"/>
                <a:cs typeface="Arial"/>
              </a:defRPr>
            </a:lvl2pPr>
            <a:lvl3pPr>
              <a:defRPr sz="1050" b="1">
                <a:solidFill>
                  <a:srgbClr val="315BCE"/>
                </a:solidFill>
                <a:latin typeface="Arial"/>
                <a:ea typeface="Arial"/>
                <a:cs typeface="Arial"/>
              </a:defRPr>
            </a:lvl3pPr>
            <a:lvl4pPr>
              <a:defRPr sz="1050" b="1">
                <a:solidFill>
                  <a:srgbClr val="315BCE"/>
                </a:solidFill>
                <a:latin typeface="Arial"/>
                <a:ea typeface="Arial"/>
                <a:cs typeface="Arial"/>
              </a:defRPr>
            </a:lvl4pPr>
            <a:lvl5pPr>
              <a:defRPr sz="1050" b="1">
                <a:solidFill>
                  <a:srgbClr val="315BCE"/>
                </a:solidFill>
                <a:latin typeface="Arial"/>
                <a:ea typeface="Arial"/>
                <a:cs typeface="Arial"/>
              </a:defRPr>
            </a:lvl5pPr>
            <a:lvl6pPr>
              <a:defRPr sz="1050" b="1">
                <a:solidFill>
                  <a:srgbClr val="315BCE"/>
                </a:solidFill>
                <a:latin typeface="Arial"/>
                <a:ea typeface="Arial"/>
                <a:cs typeface="Arial"/>
              </a:defRPr>
            </a:lvl6pPr>
            <a:lvl7pPr>
              <a:defRPr sz="1050" b="1">
                <a:solidFill>
                  <a:srgbClr val="315BCE"/>
                </a:solidFill>
                <a:latin typeface="Arial"/>
                <a:ea typeface="Arial"/>
                <a:cs typeface="Arial"/>
              </a:defRPr>
            </a:lvl7pPr>
            <a:lvl8pPr>
              <a:defRPr sz="1050" b="1">
                <a:solidFill>
                  <a:srgbClr val="315BCE"/>
                </a:solidFill>
                <a:latin typeface="Arial"/>
                <a:ea typeface="Arial"/>
                <a:cs typeface="Arial"/>
              </a:defRPr>
            </a:lvl8pPr>
            <a:lvl9pPr>
              <a:defRPr sz="1050" b="1">
                <a:solidFill>
                  <a:srgbClr val="315BCE"/>
                </a:solidFill>
                <a:latin typeface="Arial"/>
                <a:ea typeface="Arial"/>
                <a:cs typeface="Arial"/>
              </a:defRPr>
            </a:lvl9pPr>
          </a:lstStyle>
          <a:p xmlns:a="http://schemas.openxmlformats.org/drawingml/2006/main">
            <a:pPr>
              <a:buNone/>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Rectangle 1">
            <a:extLst xmlns:a="http://schemas.openxmlformats.org/drawingml/2006/main">
              <a:ext uri="{FF2B5EF4-FFF2-40B4-BE49-F238E27FC236}">
                <a16:creationId xmlns:a16="http://schemas.microsoft.com/office/drawing/2014/main" id="{9CE59DFB-28BE-4096-8A76-9F0D1424579D}"/>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3000" b="1">
                <a:solidFill>
                  <a:srgbClr val="16202B"/>
                </a:solidFill>
                <a:latin typeface="Arial"/>
                <a:ea typeface="Arial"/>
                <a:cs typeface="Arial"/>
              </a:defRPr>
            </a:defPPr>
            <a:lvl1pPr>
              <a:defRPr sz="3000" b="1">
                <a:solidFill>
                  <a:srgbClr val="16202B"/>
                </a:solidFill>
                <a:latin typeface="Arial"/>
                <a:ea typeface="Arial"/>
                <a:cs typeface="Arial"/>
              </a:defRPr>
            </a:lvl1pPr>
            <a:lvl2pPr>
              <a:defRPr sz="3000" b="1">
                <a:solidFill>
                  <a:srgbClr val="16202B"/>
                </a:solidFill>
                <a:latin typeface="Arial"/>
                <a:ea typeface="Arial"/>
                <a:cs typeface="Arial"/>
              </a:defRPr>
            </a:lvl2pPr>
            <a:lvl3pPr>
              <a:defRPr sz="3000" b="1">
                <a:solidFill>
                  <a:srgbClr val="16202B"/>
                </a:solidFill>
                <a:latin typeface="Arial"/>
                <a:ea typeface="Arial"/>
                <a:cs typeface="Arial"/>
              </a:defRPr>
            </a:lvl3pPr>
            <a:lvl4pPr>
              <a:defRPr sz="3000" b="1">
                <a:solidFill>
                  <a:srgbClr val="16202B"/>
                </a:solidFill>
                <a:latin typeface="Arial"/>
                <a:ea typeface="Arial"/>
                <a:cs typeface="Arial"/>
              </a:defRPr>
            </a:lvl4pPr>
            <a:lvl5pPr>
              <a:defRPr sz="3000" b="1">
                <a:solidFill>
                  <a:srgbClr val="16202B"/>
                </a:solidFill>
                <a:latin typeface="Arial"/>
                <a:ea typeface="Arial"/>
                <a:cs typeface="Arial"/>
              </a:defRPr>
            </a:lvl5pPr>
            <a:lvl6pPr>
              <a:defRPr sz="3000" b="1">
                <a:solidFill>
                  <a:srgbClr val="16202B"/>
                </a:solidFill>
                <a:latin typeface="Arial"/>
                <a:ea typeface="Arial"/>
                <a:cs typeface="Arial"/>
              </a:defRPr>
            </a:lvl6pPr>
            <a:lvl7pPr>
              <a:defRPr sz="3000" b="1">
                <a:solidFill>
                  <a:srgbClr val="16202B"/>
                </a:solidFill>
                <a:latin typeface="Arial"/>
                <a:ea typeface="Arial"/>
                <a:cs typeface="Arial"/>
              </a:defRPr>
            </a:lvl7pPr>
            <a:lvl8pPr>
              <a:defRPr sz="3000" b="1">
                <a:solidFill>
                  <a:srgbClr val="16202B"/>
                </a:solidFill>
                <a:latin typeface="Arial"/>
                <a:ea typeface="Arial"/>
                <a:cs typeface="Arial"/>
              </a:defRPr>
            </a:lvl8pPr>
            <a:lvl9pPr>
              <a:defRPr sz="3000" b="1">
                <a:solidFill>
                  <a:srgbClr val="16202B"/>
                </a:solidFill>
                <a:latin typeface="Arial"/>
                <a:ea typeface="Arial"/>
                <a:cs typeface="Arial"/>
              </a:defRPr>
            </a:lvl9pPr>
          </a:lstStyle>
          <a:p xmlns:a="http://schemas.openxmlformats.org/drawingml/2006/main">
            <a:pPr>
              <a:buNone/>
              <a:defRPr sz="3000" b="1">
                <a:solidFill>
                  <a:srgbClr val="16202B"/>
                </a:solidFill>
                <a:latin typeface="Arial"/>
                <a:ea typeface="Arial"/>
                <a:cs typeface="Arial"/>
              </a:defRPr>
            </a:pPr>
            <a:r>
              <a:rPr sz="3000" b="1">
                <a:solidFill>
                  <a:srgbClr val="16202B"/>
                </a:solidFill>
                <a:latin typeface="Arial"/>
                <a:ea typeface="Arial"/>
                <a:cs typeface="Arial"/>
              </a:rPr>
              <a:t>How Rhythm turns sales history into a review queue</a:t>
            </a:r>
          </a:p>
        </p:txBody>
      </p:sp>
      <p:sp>
        <p:nvSpPr>
          <p:cNvPr id="3" name="Rectangle 2">
            <a:extLst xmlns:a="http://schemas.openxmlformats.org/drawingml/2006/main">
              <a:ext uri="{FF2B5EF4-FFF2-40B4-BE49-F238E27FC236}">
                <a16:creationId xmlns:a16="http://schemas.microsoft.com/office/drawing/2014/main" id="{D9911209-3E9D-4217-BC4A-D4E3FCB6BC58}"/>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r">
              <a:defRPr sz="1050" b="1">
                <a:solidFill>
                  <a:srgbClr val="536170"/>
                </a:solidFill>
                <a:latin typeface="Arial"/>
                <a:ea typeface="Arial"/>
                <a:cs typeface="Arial"/>
              </a:defRPr>
            </a:defPPr>
            <a:lvl1pPr algn="r">
              <a:defRPr sz="1050" b="1">
                <a:solidFill>
                  <a:srgbClr val="536170"/>
                </a:solidFill>
                <a:latin typeface="Arial"/>
                <a:ea typeface="Arial"/>
                <a:cs typeface="Arial"/>
              </a:defRPr>
            </a:lvl1pPr>
            <a:lvl2pPr algn="r">
              <a:defRPr sz="1050" b="1">
                <a:solidFill>
                  <a:srgbClr val="536170"/>
                </a:solidFill>
                <a:latin typeface="Arial"/>
                <a:ea typeface="Arial"/>
                <a:cs typeface="Arial"/>
              </a:defRPr>
            </a:lvl2pPr>
            <a:lvl3pPr algn="r">
              <a:defRPr sz="1050" b="1">
                <a:solidFill>
                  <a:srgbClr val="536170"/>
                </a:solidFill>
                <a:latin typeface="Arial"/>
                <a:ea typeface="Arial"/>
                <a:cs typeface="Arial"/>
              </a:defRPr>
            </a:lvl3pPr>
            <a:lvl4pPr algn="r">
              <a:defRPr sz="1050" b="1">
                <a:solidFill>
                  <a:srgbClr val="536170"/>
                </a:solidFill>
                <a:latin typeface="Arial"/>
                <a:ea typeface="Arial"/>
                <a:cs typeface="Arial"/>
              </a:defRPr>
            </a:lvl4pPr>
            <a:lvl5pPr algn="r">
              <a:defRPr sz="1050" b="1">
                <a:solidFill>
                  <a:srgbClr val="536170"/>
                </a:solidFill>
                <a:latin typeface="Arial"/>
                <a:ea typeface="Arial"/>
                <a:cs typeface="Arial"/>
              </a:defRPr>
            </a:lvl5pPr>
            <a:lvl6pPr algn="r">
              <a:defRPr sz="1050" b="1">
                <a:solidFill>
                  <a:srgbClr val="536170"/>
                </a:solidFill>
                <a:latin typeface="Arial"/>
                <a:ea typeface="Arial"/>
                <a:cs typeface="Arial"/>
              </a:defRPr>
            </a:lvl6pPr>
            <a:lvl7pPr algn="r">
              <a:defRPr sz="1050" b="1">
                <a:solidFill>
                  <a:srgbClr val="536170"/>
                </a:solidFill>
                <a:latin typeface="Arial"/>
                <a:ea typeface="Arial"/>
                <a:cs typeface="Arial"/>
              </a:defRPr>
            </a:lvl7pPr>
            <a:lvl8pPr algn="r">
              <a:defRPr sz="1050" b="1">
                <a:solidFill>
                  <a:srgbClr val="536170"/>
                </a:solidFill>
                <a:latin typeface="Arial"/>
                <a:ea typeface="Arial"/>
                <a:cs typeface="Arial"/>
              </a:defRPr>
            </a:lvl8pPr>
            <a:lvl9pPr algn="r">
              <a:defRPr sz="1050" b="1">
                <a:solidFill>
                  <a:srgbClr val="536170"/>
                </a:solidFill>
                <a:latin typeface="Arial"/>
                <a:ea typeface="Arial"/>
                <a:cs typeface="Arial"/>
              </a:defRPr>
            </a:lvl9pPr>
          </a:lstStyle>
          <a:p xmlns:a="http://schemas.openxmlformats.org/drawingml/2006/main">
            <a:pPr algn="r">
              <a:buNone/>
              <a:defRPr sz="1050" b="1">
                <a:solidFill>
                  <a:srgbClr val="536170"/>
                </a:solidFill>
                <a:latin typeface="Arial"/>
                <a:ea typeface="Arial"/>
                <a:cs typeface="Arial"/>
              </a:defRPr>
            </a:pPr>
            <a:r>
              <a:rPr sz="1050" b="1">
                <a:solidFill>
                  <a:srgbClr val="536170"/>
                </a:solidFill>
                <a:latin typeface="Arial"/>
                <a:ea typeface="Arial"/>
                <a:cs typeface="Arial"/>
              </a:rPr>
              <a:t>03</a:t>
            </a:r>
          </a:p>
        </p:txBody>
      </p:sp>
      <p:sp>
        <p:nvSpPr>
          <p:cNvPr id="4" name="Rectangle 3">
            <a:extLst xmlns:a="http://schemas.openxmlformats.org/drawingml/2006/main">
              <a:ext uri="{FF2B5EF4-FFF2-40B4-BE49-F238E27FC236}">
                <a16:creationId xmlns:a16="http://schemas.microsoft.com/office/drawing/2014/main" id="{A9480323-AC64-46EC-A2C9-983BB7455941}"/>
              </a:ext>
            </a:extLst>
          </p:cNvPr>
          <p:cNvSpPr>
            <a:spLocks xmlns:a="http://schemas.openxmlformats.org/drawingml/2006/main" noGrp="1"/>
          </p:cNvSpPr>
          <p:nvPr/>
        </p:nvSpPr>
        <p:spPr>
          <a:xfrm xmlns:a="http://schemas.openxmlformats.org/drawingml/2006/main">
            <a:off x="762000" y="213360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00" b="1">
                <a:solidFill>
                  <a:srgbClr val="315BCE"/>
                </a:solidFill>
                <a:latin typeface="Arial"/>
                <a:ea typeface="Arial"/>
                <a:cs typeface="Arial"/>
              </a:defRPr>
            </a:defPPr>
            <a:lvl1pPr>
              <a:defRPr sz="1800" b="1">
                <a:solidFill>
                  <a:srgbClr val="315BCE"/>
                </a:solidFill>
                <a:latin typeface="Arial"/>
                <a:ea typeface="Arial"/>
                <a:cs typeface="Arial"/>
              </a:defRPr>
            </a:lvl1pPr>
            <a:lvl2pPr>
              <a:defRPr sz="1800" b="1">
                <a:solidFill>
                  <a:srgbClr val="315BCE"/>
                </a:solidFill>
                <a:latin typeface="Arial"/>
                <a:ea typeface="Arial"/>
                <a:cs typeface="Arial"/>
              </a:defRPr>
            </a:lvl2pPr>
            <a:lvl3pPr>
              <a:defRPr sz="1800" b="1">
                <a:solidFill>
                  <a:srgbClr val="315BCE"/>
                </a:solidFill>
                <a:latin typeface="Arial"/>
                <a:ea typeface="Arial"/>
                <a:cs typeface="Arial"/>
              </a:defRPr>
            </a:lvl3pPr>
            <a:lvl4pPr>
              <a:defRPr sz="1800" b="1">
                <a:solidFill>
                  <a:srgbClr val="315BCE"/>
                </a:solidFill>
                <a:latin typeface="Arial"/>
                <a:ea typeface="Arial"/>
                <a:cs typeface="Arial"/>
              </a:defRPr>
            </a:lvl4pPr>
            <a:lvl5pPr>
              <a:defRPr sz="1800" b="1">
                <a:solidFill>
                  <a:srgbClr val="315BCE"/>
                </a:solidFill>
                <a:latin typeface="Arial"/>
                <a:ea typeface="Arial"/>
                <a:cs typeface="Arial"/>
              </a:defRPr>
            </a:lvl5pPr>
            <a:lvl6pPr>
              <a:defRPr sz="1800" b="1">
                <a:solidFill>
                  <a:srgbClr val="315BCE"/>
                </a:solidFill>
                <a:latin typeface="Arial"/>
                <a:ea typeface="Arial"/>
                <a:cs typeface="Arial"/>
              </a:defRPr>
            </a:lvl6pPr>
            <a:lvl7pPr>
              <a:defRPr sz="1800" b="1">
                <a:solidFill>
                  <a:srgbClr val="315BCE"/>
                </a:solidFill>
                <a:latin typeface="Arial"/>
                <a:ea typeface="Arial"/>
                <a:cs typeface="Arial"/>
              </a:defRPr>
            </a:lvl7pPr>
            <a:lvl8pPr>
              <a:defRPr sz="1800" b="1">
                <a:solidFill>
                  <a:srgbClr val="315BCE"/>
                </a:solidFill>
                <a:latin typeface="Arial"/>
                <a:ea typeface="Arial"/>
                <a:cs typeface="Arial"/>
              </a:defRPr>
            </a:lvl8pPr>
            <a:lvl9pPr>
              <a:defRPr sz="1800" b="1">
                <a:solidFill>
                  <a:srgbClr val="315BCE"/>
                </a:solidFill>
                <a:latin typeface="Arial"/>
                <a:ea typeface="Arial"/>
                <a:cs typeface="Arial"/>
              </a:defRPr>
            </a:lvl9pPr>
          </a:lstStyle>
          <a:p xmlns:a="http://schemas.openxmlformats.org/drawingml/2006/main">
            <a:pPr>
              <a:buNone/>
              <a:defRPr sz="1800" b="1">
                <a:solidFill>
                  <a:srgbClr val="315BCE"/>
                </a:solidFill>
                <a:latin typeface="Arial"/>
                <a:ea typeface="Arial"/>
                <a:cs typeface="Arial"/>
              </a:defRPr>
            </a:pPr>
            <a:r>
              <a:rPr sz="1800" b="1">
                <a:solidFill>
                  <a:srgbClr val="315BCE"/>
                </a:solidFill>
                <a:latin typeface="Arial"/>
                <a:ea typeface="Arial"/>
                <a:cs typeface="Arial"/>
              </a:rPr>
              <a:t>1  Flag overdue shoppers</a:t>
            </a:r>
          </a:p>
        </p:txBody>
      </p:sp>
      <p:sp>
        <p:nvSpPr>
          <p:cNvPr id="5" name="Straight Connector 4">
            <a:extLst xmlns:a="http://schemas.openxmlformats.org/drawingml/2006/main">
              <a:ext uri="{FF2B5EF4-FFF2-40B4-BE49-F238E27FC236}">
                <a16:creationId xmlns:a16="http://schemas.microsoft.com/office/drawing/2014/main" id="{137659FD-28DB-46C0-9FB5-C53F1C03070C}"/>
              </a:ext>
            </a:extLst>
          </p:cNvPr>
          <p:cNvSpPr>
            <a:spLocks xmlns:a="http://schemas.openxmlformats.org/drawingml/2006/main" noGrp="1"/>
          </p:cNvSpPr>
          <p:nvPr/>
        </p:nvSpPr>
        <p:spPr>
          <a:xfrm xmlns:a="http://schemas.openxmlformats.org/drawingml/2006/main">
            <a:off x="762000" y="2895600"/>
            <a:ext cx="3048000" cy="0"/>
          </a:xfrm>
          <a:prstGeom xmlns:a="http://schemas.openxmlformats.org/drawingml/2006/main" prst="line">
            <a:avLst/>
          </a:prstGeom>
          <a:ln xmlns:a="http://schemas.openxmlformats.org/drawingml/2006/main" w="9525">
            <a:solidFill>
              <a:srgbClr val="315BCE"/>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48E4B5B7-6B50-40F1-94B6-F15FFE00AEC3}"/>
              </a:ext>
            </a:extLst>
          </p:cNvPr>
          <p:cNvSpPr>
            <a:spLocks xmlns:a="http://schemas.openxmlformats.org/drawingml/2006/main" noGrp="1"/>
          </p:cNvSpPr>
          <p:nvPr/>
        </p:nvSpPr>
        <p:spPr>
          <a:xfrm xmlns:a="http://schemas.openxmlformats.org/drawingml/2006/main">
            <a:off x="762000" y="3181350"/>
            <a:ext cx="3048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650" b="0">
                <a:solidFill>
                  <a:srgbClr val="16202B"/>
                </a:solidFill>
                <a:latin typeface="Arial"/>
                <a:ea typeface="Arial"/>
                <a:cs typeface="Arial"/>
              </a:defRPr>
            </a:defPPr>
            <a:lvl1pPr>
              <a:defRPr sz="1650" b="0">
                <a:solidFill>
                  <a:srgbClr val="16202B"/>
                </a:solidFill>
                <a:latin typeface="Arial"/>
                <a:ea typeface="Arial"/>
                <a:cs typeface="Arial"/>
              </a:defRPr>
            </a:lvl1pPr>
            <a:lvl2pPr>
              <a:defRPr sz="1650" b="0">
                <a:solidFill>
                  <a:srgbClr val="16202B"/>
                </a:solidFill>
                <a:latin typeface="Arial"/>
                <a:ea typeface="Arial"/>
                <a:cs typeface="Arial"/>
              </a:defRPr>
            </a:lvl2pPr>
            <a:lvl3pPr>
              <a:defRPr sz="1650" b="0">
                <a:solidFill>
                  <a:srgbClr val="16202B"/>
                </a:solidFill>
                <a:latin typeface="Arial"/>
                <a:ea typeface="Arial"/>
                <a:cs typeface="Arial"/>
              </a:defRPr>
            </a:lvl3pPr>
            <a:lvl4pPr>
              <a:defRPr sz="1650" b="0">
                <a:solidFill>
                  <a:srgbClr val="16202B"/>
                </a:solidFill>
                <a:latin typeface="Arial"/>
                <a:ea typeface="Arial"/>
                <a:cs typeface="Arial"/>
              </a:defRPr>
            </a:lvl4pPr>
            <a:lvl5pPr>
              <a:defRPr sz="1650" b="0">
                <a:solidFill>
                  <a:srgbClr val="16202B"/>
                </a:solidFill>
                <a:latin typeface="Arial"/>
                <a:ea typeface="Arial"/>
                <a:cs typeface="Arial"/>
              </a:defRPr>
            </a:lvl5pPr>
            <a:lvl6pPr>
              <a:defRPr sz="1650" b="0">
                <a:solidFill>
                  <a:srgbClr val="16202B"/>
                </a:solidFill>
                <a:latin typeface="Arial"/>
                <a:ea typeface="Arial"/>
                <a:cs typeface="Arial"/>
              </a:defRPr>
            </a:lvl6pPr>
            <a:lvl7pPr>
              <a:defRPr sz="1650" b="0">
                <a:solidFill>
                  <a:srgbClr val="16202B"/>
                </a:solidFill>
                <a:latin typeface="Arial"/>
                <a:ea typeface="Arial"/>
                <a:cs typeface="Arial"/>
              </a:defRPr>
            </a:lvl7pPr>
            <a:lvl8pPr>
              <a:defRPr sz="1650" b="0">
                <a:solidFill>
                  <a:srgbClr val="16202B"/>
                </a:solidFill>
                <a:latin typeface="Arial"/>
                <a:ea typeface="Arial"/>
                <a:cs typeface="Arial"/>
              </a:defRPr>
            </a:lvl8pPr>
            <a:lvl9pPr>
              <a:defRPr sz="1650" b="0">
                <a:solidFill>
                  <a:srgbClr val="16202B"/>
                </a:solidFill>
                <a:latin typeface="Arial"/>
                <a:ea typeface="Arial"/>
                <a:cs typeface="Arial"/>
              </a:defRPr>
            </a:lvl9pPr>
          </a:lstStyle>
          <a:p xmlns:a="http://schemas.openxmlformats.org/drawingml/2006/main">
            <a:pPr>
              <a:buNone/>
              <a:defRPr sz="1650" b="0">
                <a:solidFill>
                  <a:srgbClr val="16202B"/>
                </a:solidFill>
                <a:latin typeface="Arial"/>
                <a:ea typeface="Arial"/>
                <a:cs typeface="Arial"/>
              </a:defRPr>
            </a:pPr>
            <a:r>
              <a:rPr sz="1650" b="0">
                <a:solidFill>
                  <a:srgbClr val="16202B"/>
                </a:solidFill>
                <a:latin typeface="Arial"/>
                <a:ea typeface="Arial"/>
                <a:cs typeface="Arial"/>
              </a:rPr>
              <a:t>A fixed rule compares each repeat shopper’s last order with their median purchase gap.</a:t>
            </a:r>
          </a:p>
        </p:txBody>
      </p:sp>
      <p:sp>
        <p:nvSpPr>
          <p:cNvPr id="7" name="Rectangle 6">
            <a:extLst xmlns:a="http://schemas.openxmlformats.org/drawingml/2006/main">
              <a:ext uri="{FF2B5EF4-FFF2-40B4-BE49-F238E27FC236}">
                <a16:creationId xmlns:a16="http://schemas.microsoft.com/office/drawing/2014/main" id="{8C8CCA25-FD70-4005-9F49-EC188E7CEA94}"/>
              </a:ext>
            </a:extLst>
          </p:cNvPr>
          <p:cNvSpPr>
            <a:spLocks xmlns:a="http://schemas.openxmlformats.org/drawingml/2006/main" noGrp="1"/>
          </p:cNvSpPr>
          <p:nvPr/>
        </p:nvSpPr>
        <p:spPr>
          <a:xfrm xmlns:a="http://schemas.openxmlformats.org/drawingml/2006/main">
            <a:off x="4524375" y="213360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800" b="1">
                <a:solidFill>
                  <a:srgbClr val="315BCE"/>
                </a:solidFill>
                <a:latin typeface="Arial"/>
                <a:ea typeface="Arial"/>
                <a:cs typeface="Arial"/>
              </a:defRPr>
            </a:defPPr>
            <a:lvl1pPr>
              <a:defRPr sz="1800" b="1">
                <a:solidFill>
                  <a:srgbClr val="315BCE"/>
                </a:solidFill>
                <a:latin typeface="Arial"/>
                <a:ea typeface="Arial"/>
                <a:cs typeface="Arial"/>
              </a:defRPr>
            </a:lvl1pPr>
            <a:lvl2pPr>
              <a:defRPr sz="1800" b="1">
                <a:solidFill>
                  <a:srgbClr val="315BCE"/>
                </a:solidFill>
                <a:latin typeface="Arial"/>
                <a:ea typeface="Arial"/>
                <a:cs typeface="Arial"/>
              </a:defRPr>
            </a:lvl2pPr>
            <a:lvl3pPr>
              <a:defRPr sz="1800" b="1">
                <a:solidFill>
                  <a:srgbClr val="315BCE"/>
                </a:solidFill>
                <a:latin typeface="Arial"/>
                <a:ea typeface="Arial"/>
                <a:cs typeface="Arial"/>
              </a:defRPr>
            </a:lvl3pPr>
            <a:lvl4pPr>
              <a:defRPr sz="1800" b="1">
                <a:solidFill>
                  <a:srgbClr val="315BCE"/>
                </a:solidFill>
                <a:latin typeface="Arial"/>
                <a:ea typeface="Arial"/>
                <a:cs typeface="Arial"/>
              </a:defRPr>
            </a:lvl4pPr>
            <a:lvl5pPr>
              <a:defRPr sz="1800" b="1">
                <a:solidFill>
                  <a:srgbClr val="315BCE"/>
                </a:solidFill>
                <a:latin typeface="Arial"/>
                <a:ea typeface="Arial"/>
                <a:cs typeface="Arial"/>
              </a:defRPr>
            </a:lvl5pPr>
            <a:lvl6pPr>
              <a:defRPr sz="1800" b="1">
                <a:solidFill>
                  <a:srgbClr val="315BCE"/>
                </a:solidFill>
                <a:latin typeface="Arial"/>
                <a:ea typeface="Arial"/>
                <a:cs typeface="Arial"/>
              </a:defRPr>
            </a:lvl6pPr>
            <a:lvl7pPr>
              <a:defRPr sz="1800" b="1">
                <a:solidFill>
                  <a:srgbClr val="315BCE"/>
                </a:solidFill>
                <a:latin typeface="Arial"/>
                <a:ea typeface="Arial"/>
                <a:cs typeface="Arial"/>
              </a:defRPr>
            </a:lvl7pPr>
            <a:lvl8pPr>
              <a:defRPr sz="1800" b="1">
                <a:solidFill>
                  <a:srgbClr val="315BCE"/>
                </a:solidFill>
                <a:latin typeface="Arial"/>
                <a:ea typeface="Arial"/>
                <a:cs typeface="Arial"/>
              </a:defRPr>
            </a:lvl8pPr>
            <a:lvl9pPr>
              <a:defRPr sz="1800" b="1">
                <a:solidFill>
                  <a:srgbClr val="315BCE"/>
                </a:solidFill>
                <a:latin typeface="Arial"/>
                <a:ea typeface="Arial"/>
                <a:cs typeface="Arial"/>
              </a:defRPr>
            </a:lvl9pPr>
          </a:lstStyle>
          <a:p xmlns:a="http://schemas.openxmlformats.org/drawingml/2006/main">
            <a:pPr>
              <a:buNone/>
              <a:defRPr sz="1800" b="1">
                <a:solidFill>
                  <a:srgbClr val="315BCE"/>
                </a:solidFill>
                <a:latin typeface="Arial"/>
                <a:ea typeface="Arial"/>
                <a:cs typeface="Arial"/>
              </a:defRPr>
            </a:pPr>
            <a:r>
              <a:rPr sz="1800" b="1">
                <a:solidFill>
                  <a:srgbClr val="315BCE"/>
                </a:solidFill>
                <a:latin typeface="Arial"/>
                <a:ea typeface="Arial"/>
                <a:cs typeface="Arial"/>
              </a:rPr>
              <a:t>2  Inspect the evidence</a:t>
            </a:r>
          </a:p>
        </p:txBody>
      </p:sp>
      <p:sp>
        <p:nvSpPr>
          <p:cNvPr id="8" name="Straight Connector 7">
            <a:extLst xmlns:a="http://schemas.openxmlformats.org/drawingml/2006/main">
              <a:ext uri="{FF2B5EF4-FFF2-40B4-BE49-F238E27FC236}">
                <a16:creationId xmlns:a16="http://schemas.microsoft.com/office/drawing/2014/main" id="{2FD6422C-4100-4C6F-BD42-A4884315C52E}"/>
              </a:ext>
            </a:extLst>
          </p:cNvPr>
          <p:cNvSpPr>
            <a:spLocks xmlns:a="http://schemas.openxmlformats.org/drawingml/2006/main" noGrp="1"/>
          </p:cNvSpPr>
          <p:nvPr/>
        </p:nvSpPr>
        <p:spPr>
          <a:xfrm xmlns:a="http://schemas.openxmlformats.org/drawingml/2006/main">
            <a:off x="4524375" y="2895600"/>
            <a:ext cx="3048000" cy="0"/>
          </a:xfrm>
          <a:prstGeom xmlns:a="http://schemas.openxmlformats.org/drawingml/2006/main" prst="line">
            <a:avLst/>
          </a:prstGeom>
          <a:ln xmlns:a="http://schemas.openxmlformats.org/drawingml/2006/main" w="9525">
            <a:solidFill>
              <a:srgbClr val="315BCE"/>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C7E259CB-B1F2-4D44-94BE-ABA33B9EDE15}"/>
              </a:ext>
            </a:extLst>
          </p:cNvPr>
          <p:cNvSpPr>
            <a:spLocks xmlns:a="http://schemas.openxmlformats.org/drawingml/2006/main" noGrp="1"/>
          </p:cNvSpPr>
          <p:nvPr/>
        </p:nvSpPr>
        <p:spPr>
          <a:xfrm xmlns:a="http://schemas.openxmlformats.org/drawingml/2006/main">
            <a:off x="4524375" y="3181350"/>
            <a:ext cx="3048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650" b="0">
                <a:solidFill>
                  <a:srgbClr val="16202B"/>
                </a:solidFill>
                <a:latin typeface="Arial"/>
                <a:ea typeface="Arial"/>
                <a:cs typeface="Arial"/>
              </a:defRPr>
            </a:defPPr>
            <a:lvl1pPr>
              <a:defRPr sz="1650" b="0">
                <a:solidFill>
                  <a:srgbClr val="16202B"/>
                </a:solidFill>
                <a:latin typeface="Arial"/>
                <a:ea typeface="Arial"/>
                <a:cs typeface="Arial"/>
              </a:defRPr>
            </a:lvl1pPr>
            <a:lvl2pPr>
              <a:defRPr sz="1650" b="0">
                <a:solidFill>
                  <a:srgbClr val="16202B"/>
                </a:solidFill>
                <a:latin typeface="Arial"/>
                <a:ea typeface="Arial"/>
                <a:cs typeface="Arial"/>
              </a:defRPr>
            </a:lvl2pPr>
            <a:lvl3pPr>
              <a:defRPr sz="1650" b="0">
                <a:solidFill>
                  <a:srgbClr val="16202B"/>
                </a:solidFill>
                <a:latin typeface="Arial"/>
                <a:ea typeface="Arial"/>
                <a:cs typeface="Arial"/>
              </a:defRPr>
            </a:lvl3pPr>
            <a:lvl4pPr>
              <a:defRPr sz="1650" b="0">
                <a:solidFill>
                  <a:srgbClr val="16202B"/>
                </a:solidFill>
                <a:latin typeface="Arial"/>
                <a:ea typeface="Arial"/>
                <a:cs typeface="Arial"/>
              </a:defRPr>
            </a:lvl4pPr>
            <a:lvl5pPr>
              <a:defRPr sz="1650" b="0">
                <a:solidFill>
                  <a:srgbClr val="16202B"/>
                </a:solidFill>
                <a:latin typeface="Arial"/>
                <a:ea typeface="Arial"/>
                <a:cs typeface="Arial"/>
              </a:defRPr>
            </a:lvl5pPr>
            <a:lvl6pPr>
              <a:defRPr sz="1650" b="0">
                <a:solidFill>
                  <a:srgbClr val="16202B"/>
                </a:solidFill>
                <a:latin typeface="Arial"/>
                <a:ea typeface="Arial"/>
                <a:cs typeface="Arial"/>
              </a:defRPr>
            </a:lvl6pPr>
            <a:lvl7pPr>
              <a:defRPr sz="1650" b="0">
                <a:solidFill>
                  <a:srgbClr val="16202B"/>
                </a:solidFill>
                <a:latin typeface="Arial"/>
                <a:ea typeface="Arial"/>
                <a:cs typeface="Arial"/>
              </a:defRPr>
            </a:lvl7pPr>
            <a:lvl8pPr>
              <a:defRPr sz="1650" b="0">
                <a:solidFill>
                  <a:srgbClr val="16202B"/>
                </a:solidFill>
                <a:latin typeface="Arial"/>
                <a:ea typeface="Arial"/>
                <a:cs typeface="Arial"/>
              </a:defRPr>
            </a:lvl8pPr>
            <a:lvl9pPr>
              <a:defRPr sz="1650" b="0">
                <a:solidFill>
                  <a:srgbClr val="16202B"/>
                </a:solidFill>
                <a:latin typeface="Arial"/>
                <a:ea typeface="Arial"/>
                <a:cs typeface="Arial"/>
              </a:defRPr>
            </a:lvl9pPr>
          </a:lstStyle>
          <a:p xmlns:a="http://schemas.openxmlformats.org/drawingml/2006/main">
            <a:pPr>
              <a:buNone/>
              <a:defRPr sz="1650" b="0">
                <a:solidFill>
                  <a:srgbClr val="16202B"/>
                </a:solidFill>
                <a:latin typeface="Arial"/>
                <a:ea typeface="Arial"/>
                <a:cs typeface="Arial"/>
              </a:defRPr>
            </a:pPr>
            <a:r>
              <a:rPr sz="1650" b="0">
                <a:solidFill>
                  <a:srgbClr val="16202B"/>
                </a:solidFill>
                <a:latin typeface="Arial"/>
                <a:ea typeface="Arial"/>
                <a:cs typeface="Arial"/>
              </a:rPr>
              <a:t>Check the purchase timeline, last order, usual gap and repeated item. IDs are masked.</a:t>
            </a:r>
          </a:p>
        </p:txBody>
      </p:sp>
      <p:sp>
        <p:nvSpPr>
          <p:cNvPr id="10" name="Rectangle 9">
            <a:extLst xmlns:a="http://schemas.openxmlformats.org/drawingml/2006/main">
              <a:ext uri="{FF2B5EF4-FFF2-40B4-BE49-F238E27FC236}">
                <a16:creationId xmlns:a16="http://schemas.microsoft.com/office/drawing/2014/main" id="{306A24E8-0CD3-4D78-9949-7EF77B298B69}"/>
              </a:ext>
            </a:extLst>
          </p:cNvPr>
          <p:cNvSpPr>
            <a:spLocks xmlns:a="http://schemas.openxmlformats.org/drawingml/2006/main" noGrp="1"/>
          </p:cNvSpPr>
          <p:nvPr/>
        </p:nvSpPr>
        <p:spPr>
          <a:xfrm xmlns:a="http://schemas.openxmlformats.org/drawingml/2006/main">
            <a:off x="8286750" y="213360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00" b="1">
                <a:solidFill>
                  <a:srgbClr val="315BCE"/>
                </a:solidFill>
                <a:latin typeface="Arial"/>
                <a:ea typeface="Arial"/>
                <a:cs typeface="Arial"/>
              </a:defRPr>
            </a:defPPr>
            <a:lvl1pPr>
              <a:defRPr sz="1800" b="1">
                <a:solidFill>
                  <a:srgbClr val="315BCE"/>
                </a:solidFill>
                <a:latin typeface="Arial"/>
                <a:ea typeface="Arial"/>
                <a:cs typeface="Arial"/>
              </a:defRPr>
            </a:lvl1pPr>
            <a:lvl2pPr>
              <a:defRPr sz="1800" b="1">
                <a:solidFill>
                  <a:srgbClr val="315BCE"/>
                </a:solidFill>
                <a:latin typeface="Arial"/>
                <a:ea typeface="Arial"/>
                <a:cs typeface="Arial"/>
              </a:defRPr>
            </a:lvl2pPr>
            <a:lvl3pPr>
              <a:defRPr sz="1800" b="1">
                <a:solidFill>
                  <a:srgbClr val="315BCE"/>
                </a:solidFill>
                <a:latin typeface="Arial"/>
                <a:ea typeface="Arial"/>
                <a:cs typeface="Arial"/>
              </a:defRPr>
            </a:lvl3pPr>
            <a:lvl4pPr>
              <a:defRPr sz="1800" b="1">
                <a:solidFill>
                  <a:srgbClr val="315BCE"/>
                </a:solidFill>
                <a:latin typeface="Arial"/>
                <a:ea typeface="Arial"/>
                <a:cs typeface="Arial"/>
              </a:defRPr>
            </a:lvl4pPr>
            <a:lvl5pPr>
              <a:defRPr sz="1800" b="1">
                <a:solidFill>
                  <a:srgbClr val="315BCE"/>
                </a:solidFill>
                <a:latin typeface="Arial"/>
                <a:ea typeface="Arial"/>
                <a:cs typeface="Arial"/>
              </a:defRPr>
            </a:lvl5pPr>
            <a:lvl6pPr>
              <a:defRPr sz="1800" b="1">
                <a:solidFill>
                  <a:srgbClr val="315BCE"/>
                </a:solidFill>
                <a:latin typeface="Arial"/>
                <a:ea typeface="Arial"/>
                <a:cs typeface="Arial"/>
              </a:defRPr>
            </a:lvl6pPr>
            <a:lvl7pPr>
              <a:defRPr sz="1800" b="1">
                <a:solidFill>
                  <a:srgbClr val="315BCE"/>
                </a:solidFill>
                <a:latin typeface="Arial"/>
                <a:ea typeface="Arial"/>
                <a:cs typeface="Arial"/>
              </a:defRPr>
            </a:lvl7pPr>
            <a:lvl8pPr>
              <a:defRPr sz="1800" b="1">
                <a:solidFill>
                  <a:srgbClr val="315BCE"/>
                </a:solidFill>
                <a:latin typeface="Arial"/>
                <a:ea typeface="Arial"/>
                <a:cs typeface="Arial"/>
              </a:defRPr>
            </a:lvl8pPr>
            <a:lvl9pPr>
              <a:defRPr sz="1800" b="1">
                <a:solidFill>
                  <a:srgbClr val="315BCE"/>
                </a:solidFill>
                <a:latin typeface="Arial"/>
                <a:ea typeface="Arial"/>
                <a:cs typeface="Arial"/>
              </a:defRPr>
            </a:lvl9pPr>
          </a:lstStyle>
          <a:p xmlns:a="http://schemas.openxmlformats.org/drawingml/2006/main">
            <a:pPr>
              <a:buNone/>
              <a:defRPr sz="1800" b="1">
                <a:solidFill>
                  <a:srgbClr val="315BCE"/>
                </a:solidFill>
                <a:latin typeface="Arial"/>
                <a:ea typeface="Arial"/>
                <a:cs typeface="Arial"/>
              </a:defRPr>
            </a:pPr>
            <a:r>
              <a:rPr sz="1800" b="1">
                <a:solidFill>
                  <a:srgbClr val="315BCE"/>
                </a:solidFill>
                <a:latin typeface="Arial"/>
                <a:ea typeface="Arial"/>
                <a:cs typeface="Arial"/>
              </a:rPr>
              <a:t>3  Draft for review</a:t>
            </a:r>
          </a:p>
        </p:txBody>
      </p:sp>
      <p:sp>
        <p:nvSpPr>
          <p:cNvPr id="11" name="Straight Connector 10">
            <a:extLst xmlns:a="http://schemas.openxmlformats.org/drawingml/2006/main">
              <a:ext uri="{FF2B5EF4-FFF2-40B4-BE49-F238E27FC236}">
                <a16:creationId xmlns:a16="http://schemas.microsoft.com/office/drawing/2014/main" id="{45C1022B-66AD-4C79-BBA6-FD3CD062EF69}"/>
              </a:ext>
            </a:extLst>
          </p:cNvPr>
          <p:cNvSpPr>
            <a:spLocks xmlns:a="http://schemas.openxmlformats.org/drawingml/2006/main" noGrp="1"/>
          </p:cNvSpPr>
          <p:nvPr/>
        </p:nvSpPr>
        <p:spPr>
          <a:xfrm xmlns:a="http://schemas.openxmlformats.org/drawingml/2006/main">
            <a:off x="8286750" y="2895600"/>
            <a:ext cx="3048000" cy="0"/>
          </a:xfrm>
          <a:prstGeom xmlns:a="http://schemas.openxmlformats.org/drawingml/2006/main" prst="line">
            <a:avLst/>
          </a:prstGeom>
          <a:ln xmlns:a="http://schemas.openxmlformats.org/drawingml/2006/main" w="9525">
            <a:solidFill>
              <a:srgbClr val="315BCE"/>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1A78F9FA-40D0-48DD-AD5F-0CBB3EA16B88}"/>
              </a:ext>
            </a:extLst>
          </p:cNvPr>
          <p:cNvSpPr>
            <a:spLocks xmlns:a="http://schemas.openxmlformats.org/drawingml/2006/main" noGrp="1"/>
          </p:cNvSpPr>
          <p:nvPr/>
        </p:nvSpPr>
        <p:spPr>
          <a:xfrm xmlns:a="http://schemas.openxmlformats.org/drawingml/2006/main">
            <a:off x="8286750" y="3181350"/>
            <a:ext cx="3048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650" b="0">
                <a:solidFill>
                  <a:srgbClr val="16202B"/>
                </a:solidFill>
                <a:latin typeface="Arial"/>
                <a:ea typeface="Arial"/>
                <a:cs typeface="Arial"/>
              </a:defRPr>
            </a:defPPr>
            <a:lvl1pPr>
              <a:defRPr sz="1650" b="0">
                <a:solidFill>
                  <a:srgbClr val="16202B"/>
                </a:solidFill>
                <a:latin typeface="Arial"/>
                <a:ea typeface="Arial"/>
                <a:cs typeface="Arial"/>
              </a:defRPr>
            </a:lvl1pPr>
            <a:lvl2pPr>
              <a:defRPr sz="1650" b="0">
                <a:solidFill>
                  <a:srgbClr val="16202B"/>
                </a:solidFill>
                <a:latin typeface="Arial"/>
                <a:ea typeface="Arial"/>
                <a:cs typeface="Arial"/>
              </a:defRPr>
            </a:lvl2pPr>
            <a:lvl3pPr>
              <a:defRPr sz="1650" b="0">
                <a:solidFill>
                  <a:srgbClr val="16202B"/>
                </a:solidFill>
                <a:latin typeface="Arial"/>
                <a:ea typeface="Arial"/>
                <a:cs typeface="Arial"/>
              </a:defRPr>
            </a:lvl3pPr>
            <a:lvl4pPr>
              <a:defRPr sz="1650" b="0">
                <a:solidFill>
                  <a:srgbClr val="16202B"/>
                </a:solidFill>
                <a:latin typeface="Arial"/>
                <a:ea typeface="Arial"/>
                <a:cs typeface="Arial"/>
              </a:defRPr>
            </a:lvl4pPr>
            <a:lvl5pPr>
              <a:defRPr sz="1650" b="0">
                <a:solidFill>
                  <a:srgbClr val="16202B"/>
                </a:solidFill>
                <a:latin typeface="Arial"/>
                <a:ea typeface="Arial"/>
                <a:cs typeface="Arial"/>
              </a:defRPr>
            </a:lvl5pPr>
            <a:lvl6pPr>
              <a:defRPr sz="1650" b="0">
                <a:solidFill>
                  <a:srgbClr val="16202B"/>
                </a:solidFill>
                <a:latin typeface="Arial"/>
                <a:ea typeface="Arial"/>
                <a:cs typeface="Arial"/>
              </a:defRPr>
            </a:lvl6pPr>
            <a:lvl7pPr>
              <a:defRPr sz="1650" b="0">
                <a:solidFill>
                  <a:srgbClr val="16202B"/>
                </a:solidFill>
                <a:latin typeface="Arial"/>
                <a:ea typeface="Arial"/>
                <a:cs typeface="Arial"/>
              </a:defRPr>
            </a:lvl7pPr>
            <a:lvl8pPr>
              <a:defRPr sz="1650" b="0">
                <a:solidFill>
                  <a:srgbClr val="16202B"/>
                </a:solidFill>
                <a:latin typeface="Arial"/>
                <a:ea typeface="Arial"/>
                <a:cs typeface="Arial"/>
              </a:defRPr>
            </a:lvl8pPr>
            <a:lvl9pPr>
              <a:defRPr sz="1650" b="0">
                <a:solidFill>
                  <a:srgbClr val="16202B"/>
                </a:solidFill>
                <a:latin typeface="Arial"/>
                <a:ea typeface="Arial"/>
                <a:cs typeface="Arial"/>
              </a:defRPr>
            </a:lvl9pPr>
          </a:lstStyle>
          <a:p xmlns:a="http://schemas.openxmlformats.org/drawingml/2006/main">
            <a:pPr>
              <a:buNone/>
              <a:defRPr sz="1650" b="0">
                <a:solidFill>
                  <a:srgbClr val="16202B"/>
                </a:solidFill>
                <a:latin typeface="Arial"/>
                <a:ea typeface="Arial"/>
                <a:cs typeface="Arial"/>
              </a:defRPr>
            </a:pPr>
            <a:r>
              <a:rPr sz="1650" b="0">
                <a:solidFill>
                  <a:srgbClr val="16202B"/>
                </a:solidFill>
                <a:latin typeface="Arial"/>
                <a:ea typeface="Arial"/>
                <a:cs typeface="Arial"/>
              </a:rPr>
              <a:t>Gemma can draft a reminder. Automated checks screen it; the merchant reviews it. Rhythm does not send messages.</a:t>
            </a:r>
          </a:p>
        </p:txBody>
      </p:sp>
      <p:sp>
        <p:nvSpPr>
          <p:cNvPr id="13" name="Rectangle 12">
            <a:extLst xmlns:a="http://schemas.openxmlformats.org/drawingml/2006/main">
              <a:ext uri="{FF2B5EF4-FFF2-40B4-BE49-F238E27FC236}">
                <a16:creationId xmlns:a16="http://schemas.microsoft.com/office/drawing/2014/main" id="{4E358F0D-4231-4ADA-B052-D2E94CBD9973}"/>
              </a:ext>
            </a:extLst>
          </p:cNvPr>
          <p:cNvSpPr>
            <a:spLocks xmlns:a="http://schemas.openxmlformats.org/drawingml/2006/main" noGrp="1"/>
          </p:cNvSpPr>
          <p:nvPr/>
        </p:nvSpPr>
        <p:spPr>
          <a:xfrm xmlns:a="http://schemas.openxmlformats.org/drawingml/2006/main">
            <a:off x="762000" y="5334000"/>
            <a:ext cx="1009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00" b="1">
                <a:solidFill>
                  <a:srgbClr val="536170"/>
                </a:solidFill>
                <a:latin typeface="Arial"/>
                <a:ea typeface="Arial"/>
                <a:cs typeface="Arial"/>
              </a:defRPr>
            </a:defPPr>
            <a:lvl1pPr>
              <a:defRPr sz="1800" b="1">
                <a:solidFill>
                  <a:srgbClr val="536170"/>
                </a:solidFill>
                <a:latin typeface="Arial"/>
                <a:ea typeface="Arial"/>
                <a:cs typeface="Arial"/>
              </a:defRPr>
            </a:lvl1pPr>
            <a:lvl2pPr>
              <a:defRPr sz="1800" b="1">
                <a:solidFill>
                  <a:srgbClr val="536170"/>
                </a:solidFill>
                <a:latin typeface="Arial"/>
                <a:ea typeface="Arial"/>
                <a:cs typeface="Arial"/>
              </a:defRPr>
            </a:lvl2pPr>
            <a:lvl3pPr>
              <a:defRPr sz="1800" b="1">
                <a:solidFill>
                  <a:srgbClr val="536170"/>
                </a:solidFill>
                <a:latin typeface="Arial"/>
                <a:ea typeface="Arial"/>
                <a:cs typeface="Arial"/>
              </a:defRPr>
            </a:lvl3pPr>
            <a:lvl4pPr>
              <a:defRPr sz="1800" b="1">
                <a:solidFill>
                  <a:srgbClr val="536170"/>
                </a:solidFill>
                <a:latin typeface="Arial"/>
                <a:ea typeface="Arial"/>
                <a:cs typeface="Arial"/>
              </a:defRPr>
            </a:lvl4pPr>
            <a:lvl5pPr>
              <a:defRPr sz="1800" b="1">
                <a:solidFill>
                  <a:srgbClr val="536170"/>
                </a:solidFill>
                <a:latin typeface="Arial"/>
                <a:ea typeface="Arial"/>
                <a:cs typeface="Arial"/>
              </a:defRPr>
            </a:lvl5pPr>
            <a:lvl6pPr>
              <a:defRPr sz="1800" b="1">
                <a:solidFill>
                  <a:srgbClr val="536170"/>
                </a:solidFill>
                <a:latin typeface="Arial"/>
                <a:ea typeface="Arial"/>
                <a:cs typeface="Arial"/>
              </a:defRPr>
            </a:lvl6pPr>
            <a:lvl7pPr>
              <a:defRPr sz="1800" b="1">
                <a:solidFill>
                  <a:srgbClr val="536170"/>
                </a:solidFill>
                <a:latin typeface="Arial"/>
                <a:ea typeface="Arial"/>
                <a:cs typeface="Arial"/>
              </a:defRPr>
            </a:lvl7pPr>
            <a:lvl8pPr>
              <a:defRPr sz="1800" b="1">
                <a:solidFill>
                  <a:srgbClr val="536170"/>
                </a:solidFill>
                <a:latin typeface="Arial"/>
                <a:ea typeface="Arial"/>
                <a:cs typeface="Arial"/>
              </a:defRPr>
            </a:lvl8pPr>
            <a:lvl9pPr>
              <a:defRPr sz="1800" b="1">
                <a:solidFill>
                  <a:srgbClr val="536170"/>
                </a:solidFill>
                <a:latin typeface="Arial"/>
                <a:ea typeface="Arial"/>
                <a:cs typeface="Arial"/>
              </a:defRPr>
            </a:lvl9pPr>
          </a:lstStyle>
          <a:p xmlns:a="http://schemas.openxmlformats.org/drawingml/2006/main">
            <a:pPr>
              <a:buNone/>
              <a:defRPr sz="1800" b="1">
                <a:solidFill>
                  <a:srgbClr val="536170"/>
                </a:solidFill>
                <a:latin typeface="Arial"/>
                <a:ea typeface="Arial"/>
                <a:cs typeface="Arial"/>
              </a:defRPr>
            </a:pPr>
            <a:r>
              <a:rPr sz="1800" b="1">
                <a:solidFill>
                  <a:srgbClr val="536170"/>
                </a:solidFill>
                <a:latin typeface="Arial"/>
                <a:ea typeface="Arial"/>
                <a:cs typeface="Arial"/>
              </a:rPr>
              <a:t>A fixed rule flags shoppers. Gemma only drafts the follow-up wording.</a:t>
            </a:r>
          </a:p>
        </p:txBody>
      </p:sp>
    </p:spTree>
    <p:extLst>
      <p:ext uri="{BB962C8B-B14F-4D97-AF65-F5344CB8AC3E}">
        <p14:creationId xmlns:p14="http://schemas.microsoft.com/office/powerpoint/2010/main" val="1906074735"/>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2" name="Rectangle 11">
            <a:extLst xmlns:a="http://schemas.openxmlformats.org/drawingml/2006/main">
              <a:ext uri="{FF2B5EF4-FFF2-40B4-BE49-F238E27FC236}">
                <a16:creationId xmlns:a16="http://schemas.microsoft.com/office/drawing/2014/main" id="{DAB3DA18-CB60-4AC1-A71F-F369022885B0}"/>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050" b="1">
                <a:solidFill>
                  <a:srgbClr val="315BCE"/>
                </a:solidFill>
                <a:latin typeface="Arial"/>
                <a:ea typeface="Arial"/>
                <a:cs typeface="Arial"/>
              </a:defRPr>
            </a:defPPr>
            <a:lvl1pPr>
              <a:defRPr sz="1050" b="1">
                <a:solidFill>
                  <a:srgbClr val="315BCE"/>
                </a:solidFill>
                <a:latin typeface="Arial"/>
                <a:ea typeface="Arial"/>
                <a:cs typeface="Arial"/>
              </a:defRPr>
            </a:lvl1pPr>
            <a:lvl2pPr>
              <a:defRPr sz="1050" b="1">
                <a:solidFill>
                  <a:srgbClr val="315BCE"/>
                </a:solidFill>
                <a:latin typeface="Arial"/>
                <a:ea typeface="Arial"/>
                <a:cs typeface="Arial"/>
              </a:defRPr>
            </a:lvl2pPr>
            <a:lvl3pPr>
              <a:defRPr sz="1050" b="1">
                <a:solidFill>
                  <a:srgbClr val="315BCE"/>
                </a:solidFill>
                <a:latin typeface="Arial"/>
                <a:ea typeface="Arial"/>
                <a:cs typeface="Arial"/>
              </a:defRPr>
            </a:lvl3pPr>
            <a:lvl4pPr>
              <a:defRPr sz="1050" b="1">
                <a:solidFill>
                  <a:srgbClr val="315BCE"/>
                </a:solidFill>
                <a:latin typeface="Arial"/>
                <a:ea typeface="Arial"/>
                <a:cs typeface="Arial"/>
              </a:defRPr>
            </a:lvl4pPr>
            <a:lvl5pPr>
              <a:defRPr sz="1050" b="1">
                <a:solidFill>
                  <a:srgbClr val="315BCE"/>
                </a:solidFill>
                <a:latin typeface="Arial"/>
                <a:ea typeface="Arial"/>
                <a:cs typeface="Arial"/>
              </a:defRPr>
            </a:lvl5pPr>
            <a:lvl6pPr>
              <a:defRPr sz="1050" b="1">
                <a:solidFill>
                  <a:srgbClr val="315BCE"/>
                </a:solidFill>
                <a:latin typeface="Arial"/>
                <a:ea typeface="Arial"/>
                <a:cs typeface="Arial"/>
              </a:defRPr>
            </a:lvl6pPr>
            <a:lvl7pPr>
              <a:defRPr sz="1050" b="1">
                <a:solidFill>
                  <a:srgbClr val="315BCE"/>
                </a:solidFill>
                <a:latin typeface="Arial"/>
                <a:ea typeface="Arial"/>
                <a:cs typeface="Arial"/>
              </a:defRPr>
            </a:lvl7pPr>
            <a:lvl8pPr>
              <a:defRPr sz="1050" b="1">
                <a:solidFill>
                  <a:srgbClr val="315BCE"/>
                </a:solidFill>
                <a:latin typeface="Arial"/>
                <a:ea typeface="Arial"/>
                <a:cs typeface="Arial"/>
              </a:defRPr>
            </a:lvl8pPr>
            <a:lvl9pPr>
              <a:defRPr sz="1050" b="1">
                <a:solidFill>
                  <a:srgbClr val="315BCE"/>
                </a:solidFill>
                <a:latin typeface="Arial"/>
                <a:ea typeface="Arial"/>
                <a:cs typeface="Arial"/>
              </a:defRPr>
            </a:lvl9pPr>
          </a:lstStyle>
          <a:p xmlns:a="http://schemas.openxmlformats.org/drawingml/2006/main">
            <a:pPr>
              <a:buNone/>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Rectangle 1">
            <a:extLst xmlns:a="http://schemas.openxmlformats.org/drawingml/2006/main">
              <a:ext uri="{FF2B5EF4-FFF2-40B4-BE49-F238E27FC236}">
                <a16:creationId xmlns:a16="http://schemas.microsoft.com/office/drawing/2014/main" id="{DA608729-6613-422D-A41A-D008DE6B971B}"/>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3000" b="1">
                <a:solidFill>
                  <a:srgbClr val="16202B"/>
                </a:solidFill>
                <a:latin typeface="Arial"/>
                <a:ea typeface="Arial"/>
                <a:cs typeface="Arial"/>
              </a:defRPr>
            </a:defPPr>
            <a:lvl1pPr>
              <a:defRPr sz="3000" b="1">
                <a:solidFill>
                  <a:srgbClr val="16202B"/>
                </a:solidFill>
                <a:latin typeface="Arial"/>
                <a:ea typeface="Arial"/>
                <a:cs typeface="Arial"/>
              </a:defRPr>
            </a:lvl1pPr>
            <a:lvl2pPr>
              <a:defRPr sz="3000" b="1">
                <a:solidFill>
                  <a:srgbClr val="16202B"/>
                </a:solidFill>
                <a:latin typeface="Arial"/>
                <a:ea typeface="Arial"/>
                <a:cs typeface="Arial"/>
              </a:defRPr>
            </a:lvl2pPr>
            <a:lvl3pPr>
              <a:defRPr sz="3000" b="1">
                <a:solidFill>
                  <a:srgbClr val="16202B"/>
                </a:solidFill>
                <a:latin typeface="Arial"/>
                <a:ea typeface="Arial"/>
                <a:cs typeface="Arial"/>
              </a:defRPr>
            </a:lvl3pPr>
            <a:lvl4pPr>
              <a:defRPr sz="3000" b="1">
                <a:solidFill>
                  <a:srgbClr val="16202B"/>
                </a:solidFill>
                <a:latin typeface="Arial"/>
                <a:ea typeface="Arial"/>
                <a:cs typeface="Arial"/>
              </a:defRPr>
            </a:lvl4pPr>
            <a:lvl5pPr>
              <a:defRPr sz="3000" b="1">
                <a:solidFill>
                  <a:srgbClr val="16202B"/>
                </a:solidFill>
                <a:latin typeface="Arial"/>
                <a:ea typeface="Arial"/>
                <a:cs typeface="Arial"/>
              </a:defRPr>
            </a:lvl5pPr>
            <a:lvl6pPr>
              <a:defRPr sz="3000" b="1">
                <a:solidFill>
                  <a:srgbClr val="16202B"/>
                </a:solidFill>
                <a:latin typeface="Arial"/>
                <a:ea typeface="Arial"/>
                <a:cs typeface="Arial"/>
              </a:defRPr>
            </a:lvl6pPr>
            <a:lvl7pPr>
              <a:defRPr sz="3000" b="1">
                <a:solidFill>
                  <a:srgbClr val="16202B"/>
                </a:solidFill>
                <a:latin typeface="Arial"/>
                <a:ea typeface="Arial"/>
                <a:cs typeface="Arial"/>
              </a:defRPr>
            </a:lvl7pPr>
            <a:lvl8pPr>
              <a:defRPr sz="3000" b="1">
                <a:solidFill>
                  <a:srgbClr val="16202B"/>
                </a:solidFill>
                <a:latin typeface="Arial"/>
                <a:ea typeface="Arial"/>
                <a:cs typeface="Arial"/>
              </a:defRPr>
            </a:lvl8pPr>
            <a:lvl9pPr>
              <a:defRPr sz="3000" b="1">
                <a:solidFill>
                  <a:srgbClr val="16202B"/>
                </a:solidFill>
                <a:latin typeface="Arial"/>
                <a:ea typeface="Arial"/>
                <a:cs typeface="Arial"/>
              </a:defRPr>
            </a:lvl9pPr>
          </a:lstStyle>
          <a:p xmlns:a="http://schemas.openxmlformats.org/drawingml/2006/main">
            <a:pPr>
              <a:buNone/>
              <a:defRPr sz="3000" b="1">
                <a:solidFill>
                  <a:srgbClr val="16202B"/>
                </a:solidFill>
                <a:latin typeface="Arial"/>
                <a:ea typeface="Arial"/>
                <a:cs typeface="Arial"/>
              </a:defRPr>
            </a:pPr>
            <a:r>
              <a:rPr sz="3000" b="1">
                <a:solidFill>
                  <a:srgbClr val="16202B"/>
                </a:solidFill>
                <a:latin typeface="Arial"/>
                <a:ea typeface="Arial"/>
                <a:cs typeface="Arial"/>
              </a:rPr>
              <a:t>A transparent personal cadence rule</a:t>
            </a:r>
          </a:p>
        </p:txBody>
      </p:sp>
      <p:sp>
        <p:nvSpPr>
          <p:cNvPr id="3" name="Rectangle 2">
            <a:extLst xmlns:a="http://schemas.openxmlformats.org/drawingml/2006/main">
              <a:ext uri="{FF2B5EF4-FFF2-40B4-BE49-F238E27FC236}">
                <a16:creationId xmlns:a16="http://schemas.microsoft.com/office/drawing/2014/main" id="{9AF7AFBB-6CC4-4FC2-91C0-ED7D91AA97D5}"/>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r">
              <a:defRPr sz="1050" b="1">
                <a:solidFill>
                  <a:srgbClr val="536170"/>
                </a:solidFill>
                <a:latin typeface="Arial"/>
                <a:ea typeface="Arial"/>
                <a:cs typeface="Arial"/>
              </a:defRPr>
            </a:defPPr>
            <a:lvl1pPr algn="r">
              <a:defRPr sz="1050" b="1">
                <a:solidFill>
                  <a:srgbClr val="536170"/>
                </a:solidFill>
                <a:latin typeface="Arial"/>
                <a:ea typeface="Arial"/>
                <a:cs typeface="Arial"/>
              </a:defRPr>
            </a:lvl1pPr>
            <a:lvl2pPr algn="r">
              <a:defRPr sz="1050" b="1">
                <a:solidFill>
                  <a:srgbClr val="536170"/>
                </a:solidFill>
                <a:latin typeface="Arial"/>
                <a:ea typeface="Arial"/>
                <a:cs typeface="Arial"/>
              </a:defRPr>
            </a:lvl2pPr>
            <a:lvl3pPr algn="r">
              <a:defRPr sz="1050" b="1">
                <a:solidFill>
                  <a:srgbClr val="536170"/>
                </a:solidFill>
                <a:latin typeface="Arial"/>
                <a:ea typeface="Arial"/>
                <a:cs typeface="Arial"/>
              </a:defRPr>
            </a:lvl3pPr>
            <a:lvl4pPr algn="r">
              <a:defRPr sz="1050" b="1">
                <a:solidFill>
                  <a:srgbClr val="536170"/>
                </a:solidFill>
                <a:latin typeface="Arial"/>
                <a:ea typeface="Arial"/>
                <a:cs typeface="Arial"/>
              </a:defRPr>
            </a:lvl4pPr>
            <a:lvl5pPr algn="r">
              <a:defRPr sz="1050" b="1">
                <a:solidFill>
                  <a:srgbClr val="536170"/>
                </a:solidFill>
                <a:latin typeface="Arial"/>
                <a:ea typeface="Arial"/>
                <a:cs typeface="Arial"/>
              </a:defRPr>
            </a:lvl5pPr>
            <a:lvl6pPr algn="r">
              <a:defRPr sz="1050" b="1">
                <a:solidFill>
                  <a:srgbClr val="536170"/>
                </a:solidFill>
                <a:latin typeface="Arial"/>
                <a:ea typeface="Arial"/>
                <a:cs typeface="Arial"/>
              </a:defRPr>
            </a:lvl6pPr>
            <a:lvl7pPr algn="r">
              <a:defRPr sz="1050" b="1">
                <a:solidFill>
                  <a:srgbClr val="536170"/>
                </a:solidFill>
                <a:latin typeface="Arial"/>
                <a:ea typeface="Arial"/>
                <a:cs typeface="Arial"/>
              </a:defRPr>
            </a:lvl7pPr>
            <a:lvl8pPr algn="r">
              <a:defRPr sz="1050" b="1">
                <a:solidFill>
                  <a:srgbClr val="536170"/>
                </a:solidFill>
                <a:latin typeface="Arial"/>
                <a:ea typeface="Arial"/>
                <a:cs typeface="Arial"/>
              </a:defRPr>
            </a:lvl8pPr>
            <a:lvl9pPr algn="r">
              <a:defRPr sz="1050" b="1">
                <a:solidFill>
                  <a:srgbClr val="536170"/>
                </a:solidFill>
                <a:latin typeface="Arial"/>
                <a:ea typeface="Arial"/>
                <a:cs typeface="Arial"/>
              </a:defRPr>
            </a:lvl9pPr>
          </a:lstStyle>
          <a:p xmlns:a="http://schemas.openxmlformats.org/drawingml/2006/main">
            <a:pPr algn="r">
              <a:buNone/>
              <a:defRPr sz="1050" b="1">
                <a:solidFill>
                  <a:srgbClr val="536170"/>
                </a:solidFill>
                <a:latin typeface="Arial"/>
                <a:ea typeface="Arial"/>
                <a:cs typeface="Arial"/>
              </a:defRPr>
            </a:pPr>
            <a:r>
              <a:rPr sz="1050" b="1">
                <a:solidFill>
                  <a:srgbClr val="536170"/>
                </a:solidFill>
                <a:latin typeface="Arial"/>
                <a:ea typeface="Arial"/>
                <a:cs typeface="Arial"/>
              </a:rPr>
              <a:t>04</a:t>
            </a:r>
          </a:p>
        </p:txBody>
      </p:sp>
      <p:sp>
        <p:nvSpPr>
          <p:cNvPr id="4" name="Rectangle 3">
            <a:extLst xmlns:a="http://schemas.openxmlformats.org/drawingml/2006/main">
              <a:ext uri="{FF2B5EF4-FFF2-40B4-BE49-F238E27FC236}">
                <a16:creationId xmlns:a16="http://schemas.microsoft.com/office/drawing/2014/main" id="{94223111-A8DC-484A-9172-CB26BECA4563}"/>
              </a:ext>
            </a:extLst>
          </p:cNvPr>
          <p:cNvSpPr>
            <a:spLocks xmlns:a="http://schemas.openxmlformats.org/drawingml/2006/main" noGrp="1"/>
          </p:cNvSpPr>
          <p:nvPr/>
        </p:nvSpPr>
        <p:spPr>
          <a:xfrm xmlns:a="http://schemas.openxmlformats.org/drawingml/2006/main">
            <a:off x="762000" y="20383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315BCE"/>
                </a:solidFill>
                <a:latin typeface="Arial"/>
                <a:ea typeface="Arial"/>
                <a:cs typeface="Arial"/>
              </a:defRPr>
            </a:defPPr>
            <a:lvl1pPr>
              <a:defRPr sz="1125" b="1">
                <a:solidFill>
                  <a:srgbClr val="315BCE"/>
                </a:solidFill>
                <a:latin typeface="Arial"/>
                <a:ea typeface="Arial"/>
                <a:cs typeface="Arial"/>
              </a:defRPr>
            </a:lvl1pPr>
            <a:lvl2pPr>
              <a:defRPr sz="1125" b="1">
                <a:solidFill>
                  <a:srgbClr val="315BCE"/>
                </a:solidFill>
                <a:latin typeface="Arial"/>
                <a:ea typeface="Arial"/>
                <a:cs typeface="Arial"/>
              </a:defRPr>
            </a:lvl2pPr>
            <a:lvl3pPr>
              <a:defRPr sz="1125" b="1">
                <a:solidFill>
                  <a:srgbClr val="315BCE"/>
                </a:solidFill>
                <a:latin typeface="Arial"/>
                <a:ea typeface="Arial"/>
                <a:cs typeface="Arial"/>
              </a:defRPr>
            </a:lvl3pPr>
            <a:lvl4pPr>
              <a:defRPr sz="1125" b="1">
                <a:solidFill>
                  <a:srgbClr val="315BCE"/>
                </a:solidFill>
                <a:latin typeface="Arial"/>
                <a:ea typeface="Arial"/>
                <a:cs typeface="Arial"/>
              </a:defRPr>
            </a:lvl4pPr>
            <a:lvl5pPr>
              <a:defRPr sz="1125" b="1">
                <a:solidFill>
                  <a:srgbClr val="315BCE"/>
                </a:solidFill>
                <a:latin typeface="Arial"/>
                <a:ea typeface="Arial"/>
                <a:cs typeface="Arial"/>
              </a:defRPr>
            </a:lvl5pPr>
            <a:lvl6pPr>
              <a:defRPr sz="1125" b="1">
                <a:solidFill>
                  <a:srgbClr val="315BCE"/>
                </a:solidFill>
                <a:latin typeface="Arial"/>
                <a:ea typeface="Arial"/>
                <a:cs typeface="Arial"/>
              </a:defRPr>
            </a:lvl6pPr>
            <a:lvl7pPr>
              <a:defRPr sz="1125" b="1">
                <a:solidFill>
                  <a:srgbClr val="315BCE"/>
                </a:solidFill>
                <a:latin typeface="Arial"/>
                <a:ea typeface="Arial"/>
                <a:cs typeface="Arial"/>
              </a:defRPr>
            </a:lvl7pPr>
            <a:lvl8pPr>
              <a:defRPr sz="1125" b="1">
                <a:solidFill>
                  <a:srgbClr val="315BCE"/>
                </a:solidFill>
                <a:latin typeface="Arial"/>
                <a:ea typeface="Arial"/>
                <a:cs typeface="Arial"/>
              </a:defRPr>
            </a:lvl8pPr>
            <a:lvl9pPr>
              <a:defRPr sz="1125" b="1">
                <a:solidFill>
                  <a:srgbClr val="315BCE"/>
                </a:solidFill>
                <a:latin typeface="Arial"/>
                <a:ea typeface="Arial"/>
                <a:cs typeface="Arial"/>
              </a:defRPr>
            </a:lvl9pPr>
          </a:lstStyle>
          <a:p xmlns:a="http://schemas.openxmlformats.org/drawingml/2006/main">
            <a:pPr>
              <a:buNone/>
              <a:defRPr sz="1125" b="1">
                <a:solidFill>
                  <a:srgbClr val="315BCE"/>
                </a:solidFill>
                <a:latin typeface="Arial"/>
                <a:ea typeface="Arial"/>
                <a:cs typeface="Arial"/>
              </a:defRPr>
            </a:pPr>
            <a:r>
              <a:rPr sz="1125" b="1">
                <a:solidFill>
                  <a:srgbClr val="315BCE"/>
                </a:solidFill>
                <a:latin typeface="Arial"/>
                <a:ea typeface="Arial"/>
                <a:cs typeface="Arial"/>
              </a:rPr>
              <a:t>ELIGIBILITY</a:t>
            </a:r>
          </a:p>
        </p:txBody>
      </p:sp>
      <p:sp>
        <p:nvSpPr>
          <p:cNvPr id="5" name="Rectangle 4">
            <a:extLst xmlns:a="http://schemas.openxmlformats.org/drawingml/2006/main">
              <a:ext uri="{FF2B5EF4-FFF2-40B4-BE49-F238E27FC236}">
                <a16:creationId xmlns:a16="http://schemas.microsoft.com/office/drawing/2014/main" id="{9BC93365-EAC2-42B5-8697-EEB31AD40825}"/>
              </a:ext>
            </a:extLst>
          </p:cNvPr>
          <p:cNvSpPr>
            <a:spLocks xmlns:a="http://schemas.openxmlformats.org/drawingml/2006/main" noGrp="1"/>
          </p:cNvSpPr>
          <p:nvPr/>
        </p:nvSpPr>
        <p:spPr>
          <a:xfrm xmlns:a="http://schemas.openxmlformats.org/drawingml/2006/main">
            <a:off x="762000" y="2400300"/>
            <a:ext cx="4476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9009"/>
          </a:bodyPr>
          <a:lstStyle xmlns:a="http://schemas.openxmlformats.org/drawingml/2006/main">
            <a:defPPr>
              <a:defRPr sz="2100" b="1">
                <a:solidFill>
                  <a:srgbClr val="16202B"/>
                </a:solidFill>
                <a:latin typeface="Arial"/>
                <a:ea typeface="Arial"/>
                <a:cs typeface="Arial"/>
              </a:defRPr>
            </a:defPPr>
            <a:lvl1pPr>
              <a:defRPr sz="2100" b="1">
                <a:solidFill>
                  <a:srgbClr val="16202B"/>
                </a:solidFill>
                <a:latin typeface="Arial"/>
                <a:ea typeface="Arial"/>
                <a:cs typeface="Arial"/>
              </a:defRPr>
            </a:lvl1pPr>
            <a:lvl2pPr>
              <a:defRPr sz="2100" b="1">
                <a:solidFill>
                  <a:srgbClr val="16202B"/>
                </a:solidFill>
                <a:latin typeface="Arial"/>
                <a:ea typeface="Arial"/>
                <a:cs typeface="Arial"/>
              </a:defRPr>
            </a:lvl2pPr>
            <a:lvl3pPr>
              <a:defRPr sz="2100" b="1">
                <a:solidFill>
                  <a:srgbClr val="16202B"/>
                </a:solidFill>
                <a:latin typeface="Arial"/>
                <a:ea typeface="Arial"/>
                <a:cs typeface="Arial"/>
              </a:defRPr>
            </a:lvl3pPr>
            <a:lvl4pPr>
              <a:defRPr sz="2100" b="1">
                <a:solidFill>
                  <a:srgbClr val="16202B"/>
                </a:solidFill>
                <a:latin typeface="Arial"/>
                <a:ea typeface="Arial"/>
                <a:cs typeface="Arial"/>
              </a:defRPr>
            </a:lvl4pPr>
            <a:lvl5pPr>
              <a:defRPr sz="2100" b="1">
                <a:solidFill>
                  <a:srgbClr val="16202B"/>
                </a:solidFill>
                <a:latin typeface="Arial"/>
                <a:ea typeface="Arial"/>
                <a:cs typeface="Arial"/>
              </a:defRPr>
            </a:lvl5pPr>
            <a:lvl6pPr>
              <a:defRPr sz="2100" b="1">
                <a:solidFill>
                  <a:srgbClr val="16202B"/>
                </a:solidFill>
                <a:latin typeface="Arial"/>
                <a:ea typeface="Arial"/>
                <a:cs typeface="Arial"/>
              </a:defRPr>
            </a:lvl6pPr>
            <a:lvl7pPr>
              <a:defRPr sz="2100" b="1">
                <a:solidFill>
                  <a:srgbClr val="16202B"/>
                </a:solidFill>
                <a:latin typeface="Arial"/>
                <a:ea typeface="Arial"/>
                <a:cs typeface="Arial"/>
              </a:defRPr>
            </a:lvl7pPr>
            <a:lvl8pPr>
              <a:defRPr sz="2100" b="1">
                <a:solidFill>
                  <a:srgbClr val="16202B"/>
                </a:solidFill>
                <a:latin typeface="Arial"/>
                <a:ea typeface="Arial"/>
                <a:cs typeface="Arial"/>
              </a:defRPr>
            </a:lvl8pPr>
            <a:lvl9pPr>
              <a:defRPr sz="2100" b="1">
                <a:solidFill>
                  <a:srgbClr val="16202B"/>
                </a:solidFill>
                <a:latin typeface="Arial"/>
                <a:ea typeface="Arial"/>
                <a:cs typeface="Arial"/>
              </a:defRPr>
            </a:lvl9pPr>
          </a:lstStyle>
          <a:p xmlns:a="http://schemas.openxmlformats.org/drawingml/2006/main">
            <a:pPr>
              <a:buNone/>
              <a:defRPr sz="2100" b="1">
                <a:solidFill>
                  <a:srgbClr val="16202B"/>
                </a:solidFill>
                <a:latin typeface="Arial"/>
                <a:ea typeface="Arial"/>
                <a:cs typeface="Arial"/>
              </a:defRPr>
            </a:pPr>
            <a:r>
              <a:rPr sz="2100" b="1">
                <a:solidFill>
                  <a:srgbClr val="16202B"/>
                </a:solidFill>
                <a:latin typeface="Arial"/>
                <a:ea typeface="Arial"/>
                <a:cs typeface="Arial"/>
              </a:rPr>
              <a:t>At least four distinct purchase days</a:t>
            </a:r>
          </a:p>
        </p:txBody>
      </p:sp>
      <p:sp>
        <p:nvSpPr>
          <p:cNvPr id="6" name="Rectangle 5">
            <a:extLst xmlns:a="http://schemas.openxmlformats.org/drawingml/2006/main">
              <a:ext uri="{FF2B5EF4-FFF2-40B4-BE49-F238E27FC236}">
                <a16:creationId xmlns:a16="http://schemas.microsoft.com/office/drawing/2014/main" id="{DBC3F546-AA76-443A-97FB-0ECF0BC9CC35}"/>
              </a:ext>
            </a:extLst>
          </p:cNvPr>
          <p:cNvSpPr>
            <a:spLocks xmlns:a="http://schemas.openxmlformats.org/drawingml/2006/main" noGrp="1"/>
          </p:cNvSpPr>
          <p:nvPr/>
        </p:nvSpPr>
        <p:spPr>
          <a:xfrm xmlns:a="http://schemas.openxmlformats.org/drawingml/2006/main">
            <a:off x="762000" y="33147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315BCE"/>
                </a:solidFill>
                <a:latin typeface="Arial"/>
                <a:ea typeface="Arial"/>
                <a:cs typeface="Arial"/>
              </a:defRPr>
            </a:defPPr>
            <a:lvl1pPr>
              <a:defRPr sz="1125" b="1">
                <a:solidFill>
                  <a:srgbClr val="315BCE"/>
                </a:solidFill>
                <a:latin typeface="Arial"/>
                <a:ea typeface="Arial"/>
                <a:cs typeface="Arial"/>
              </a:defRPr>
            </a:lvl1pPr>
            <a:lvl2pPr>
              <a:defRPr sz="1125" b="1">
                <a:solidFill>
                  <a:srgbClr val="315BCE"/>
                </a:solidFill>
                <a:latin typeface="Arial"/>
                <a:ea typeface="Arial"/>
                <a:cs typeface="Arial"/>
              </a:defRPr>
            </a:lvl2pPr>
            <a:lvl3pPr>
              <a:defRPr sz="1125" b="1">
                <a:solidFill>
                  <a:srgbClr val="315BCE"/>
                </a:solidFill>
                <a:latin typeface="Arial"/>
                <a:ea typeface="Arial"/>
                <a:cs typeface="Arial"/>
              </a:defRPr>
            </a:lvl3pPr>
            <a:lvl4pPr>
              <a:defRPr sz="1125" b="1">
                <a:solidFill>
                  <a:srgbClr val="315BCE"/>
                </a:solidFill>
                <a:latin typeface="Arial"/>
                <a:ea typeface="Arial"/>
                <a:cs typeface="Arial"/>
              </a:defRPr>
            </a:lvl4pPr>
            <a:lvl5pPr>
              <a:defRPr sz="1125" b="1">
                <a:solidFill>
                  <a:srgbClr val="315BCE"/>
                </a:solidFill>
                <a:latin typeface="Arial"/>
                <a:ea typeface="Arial"/>
                <a:cs typeface="Arial"/>
              </a:defRPr>
            </a:lvl5pPr>
            <a:lvl6pPr>
              <a:defRPr sz="1125" b="1">
                <a:solidFill>
                  <a:srgbClr val="315BCE"/>
                </a:solidFill>
                <a:latin typeface="Arial"/>
                <a:ea typeface="Arial"/>
                <a:cs typeface="Arial"/>
              </a:defRPr>
            </a:lvl6pPr>
            <a:lvl7pPr>
              <a:defRPr sz="1125" b="1">
                <a:solidFill>
                  <a:srgbClr val="315BCE"/>
                </a:solidFill>
                <a:latin typeface="Arial"/>
                <a:ea typeface="Arial"/>
                <a:cs typeface="Arial"/>
              </a:defRPr>
            </a:lvl7pPr>
            <a:lvl8pPr>
              <a:defRPr sz="1125" b="1">
                <a:solidFill>
                  <a:srgbClr val="315BCE"/>
                </a:solidFill>
                <a:latin typeface="Arial"/>
                <a:ea typeface="Arial"/>
                <a:cs typeface="Arial"/>
              </a:defRPr>
            </a:lvl8pPr>
            <a:lvl9pPr>
              <a:defRPr sz="1125" b="1">
                <a:solidFill>
                  <a:srgbClr val="315BCE"/>
                </a:solidFill>
                <a:latin typeface="Arial"/>
                <a:ea typeface="Arial"/>
                <a:cs typeface="Arial"/>
              </a:defRPr>
            </a:lvl9pPr>
          </a:lstStyle>
          <a:p xmlns:a="http://schemas.openxmlformats.org/drawingml/2006/main">
            <a:pPr>
              <a:buNone/>
              <a:defRPr sz="1125" b="1">
                <a:solidFill>
                  <a:srgbClr val="315BCE"/>
                </a:solidFill>
                <a:latin typeface="Arial"/>
                <a:ea typeface="Arial"/>
                <a:cs typeface="Arial"/>
              </a:defRPr>
            </a:pPr>
            <a:r>
              <a:rPr sz="1125" b="1">
                <a:solidFill>
                  <a:srgbClr val="315BCE"/>
                </a:solidFill>
                <a:latin typeface="Arial"/>
                <a:ea typeface="Arial"/>
                <a:cs typeface="Arial"/>
              </a:rPr>
              <a:t>THRESHOLD</a:t>
            </a:r>
          </a:p>
        </p:txBody>
      </p:sp>
      <p:sp>
        <p:nvSpPr>
          <p:cNvPr id="7" name="Rectangle 6">
            <a:extLst xmlns:a="http://schemas.openxmlformats.org/drawingml/2006/main">
              <a:ext uri="{FF2B5EF4-FFF2-40B4-BE49-F238E27FC236}">
                <a16:creationId xmlns:a16="http://schemas.microsoft.com/office/drawing/2014/main" id="{E8C19C73-52C1-44C1-82C3-FEDF66A7FBEE}"/>
              </a:ext>
            </a:extLst>
          </p:cNvPr>
          <p:cNvSpPr>
            <a:spLocks xmlns:a="http://schemas.openxmlformats.org/drawingml/2006/main" noGrp="1"/>
          </p:cNvSpPr>
          <p:nvPr/>
        </p:nvSpPr>
        <p:spPr>
          <a:xfrm xmlns:a="http://schemas.openxmlformats.org/drawingml/2006/main">
            <a:off x="762000" y="3695700"/>
            <a:ext cx="619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2325" b="1">
                <a:solidFill>
                  <a:srgbClr val="16202B"/>
                </a:solidFill>
                <a:latin typeface="Arial"/>
                <a:ea typeface="Arial"/>
                <a:cs typeface="Arial"/>
              </a:defRPr>
            </a:defPPr>
            <a:lvl1pPr>
              <a:defRPr sz="2325" b="1">
                <a:solidFill>
                  <a:srgbClr val="16202B"/>
                </a:solidFill>
                <a:latin typeface="Arial"/>
                <a:ea typeface="Arial"/>
                <a:cs typeface="Arial"/>
              </a:defRPr>
            </a:lvl1pPr>
            <a:lvl2pPr>
              <a:defRPr sz="2325" b="1">
                <a:solidFill>
                  <a:srgbClr val="16202B"/>
                </a:solidFill>
                <a:latin typeface="Arial"/>
                <a:ea typeface="Arial"/>
                <a:cs typeface="Arial"/>
              </a:defRPr>
            </a:lvl2pPr>
            <a:lvl3pPr>
              <a:defRPr sz="2325" b="1">
                <a:solidFill>
                  <a:srgbClr val="16202B"/>
                </a:solidFill>
                <a:latin typeface="Arial"/>
                <a:ea typeface="Arial"/>
                <a:cs typeface="Arial"/>
              </a:defRPr>
            </a:lvl3pPr>
            <a:lvl4pPr>
              <a:defRPr sz="2325" b="1">
                <a:solidFill>
                  <a:srgbClr val="16202B"/>
                </a:solidFill>
                <a:latin typeface="Arial"/>
                <a:ea typeface="Arial"/>
                <a:cs typeface="Arial"/>
              </a:defRPr>
            </a:lvl4pPr>
            <a:lvl5pPr>
              <a:defRPr sz="2325" b="1">
                <a:solidFill>
                  <a:srgbClr val="16202B"/>
                </a:solidFill>
                <a:latin typeface="Arial"/>
                <a:ea typeface="Arial"/>
                <a:cs typeface="Arial"/>
              </a:defRPr>
            </a:lvl5pPr>
            <a:lvl6pPr>
              <a:defRPr sz="2325" b="1">
                <a:solidFill>
                  <a:srgbClr val="16202B"/>
                </a:solidFill>
                <a:latin typeface="Arial"/>
                <a:ea typeface="Arial"/>
                <a:cs typeface="Arial"/>
              </a:defRPr>
            </a:lvl6pPr>
            <a:lvl7pPr>
              <a:defRPr sz="2325" b="1">
                <a:solidFill>
                  <a:srgbClr val="16202B"/>
                </a:solidFill>
                <a:latin typeface="Arial"/>
                <a:ea typeface="Arial"/>
                <a:cs typeface="Arial"/>
              </a:defRPr>
            </a:lvl7pPr>
            <a:lvl8pPr>
              <a:defRPr sz="2325" b="1">
                <a:solidFill>
                  <a:srgbClr val="16202B"/>
                </a:solidFill>
                <a:latin typeface="Arial"/>
                <a:ea typeface="Arial"/>
                <a:cs typeface="Arial"/>
              </a:defRPr>
            </a:lvl8pPr>
            <a:lvl9pPr>
              <a:defRPr sz="2325" b="1">
                <a:solidFill>
                  <a:srgbClr val="16202B"/>
                </a:solidFill>
                <a:latin typeface="Arial"/>
                <a:ea typeface="Arial"/>
                <a:cs typeface="Arial"/>
              </a:defRPr>
            </a:lvl9pPr>
          </a:lstStyle>
          <a:p xmlns:a="http://schemas.openxmlformats.org/drawingml/2006/main">
            <a:pPr>
              <a:buNone/>
              <a:defRPr sz="2325" b="1">
                <a:solidFill>
                  <a:srgbClr val="16202B"/>
                </a:solidFill>
                <a:latin typeface="Arial"/>
                <a:ea typeface="Arial"/>
                <a:cs typeface="Arial"/>
              </a:defRPr>
            </a:pPr>
            <a:r>
              <a:rPr sz="2325" b="1">
                <a:solidFill>
                  <a:srgbClr val="16202B"/>
                </a:solidFill>
                <a:latin typeface="Arial"/>
                <a:ea typeface="Arial"/>
                <a:cs typeface="Arial"/>
              </a:rPr>
              <a:t>max(14 days, 1.6 × median gap)</a:t>
            </a:r>
          </a:p>
        </p:txBody>
      </p:sp>
      <p:sp>
        <p:nvSpPr>
          <p:cNvPr id="8" name="Straight Connector 7">
            <a:extLst xmlns:a="http://schemas.openxmlformats.org/drawingml/2006/main">
              <a:ext uri="{FF2B5EF4-FFF2-40B4-BE49-F238E27FC236}">
                <a16:creationId xmlns:a16="http://schemas.microsoft.com/office/drawing/2014/main" id="{FACAA184-844D-48C9-8D59-FD80A09E6E98}"/>
              </a:ext>
            </a:extLst>
          </p:cNvPr>
          <p:cNvSpPr>
            <a:spLocks xmlns:a="http://schemas.openxmlformats.org/drawingml/2006/main" noGrp="1"/>
          </p:cNvSpPr>
          <p:nvPr/>
        </p:nvSpPr>
        <p:spPr>
          <a:xfrm xmlns:a="http://schemas.openxmlformats.org/drawingml/2006/main">
            <a:off x="762000" y="4629150"/>
            <a:ext cx="10191750" cy="0"/>
          </a:xfrm>
          <a:prstGeom xmlns:a="http://schemas.openxmlformats.org/drawingml/2006/main" prst="line">
            <a:avLst/>
          </a:prstGeom>
          <a:ln xmlns:a="http://schemas.openxmlformats.org/drawingml/2006/main" w="9525">
            <a:solidFill>
              <a:srgbClr val="CFD6E0"/>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08F7886-1FF6-4D32-B97E-D0997A23ED00}"/>
              </a:ext>
            </a:extLst>
          </p:cNvPr>
          <p:cNvSpPr>
            <a:spLocks xmlns:a="http://schemas.openxmlformats.org/drawingml/2006/main" noGrp="1"/>
          </p:cNvSpPr>
          <p:nvPr/>
        </p:nvSpPr>
        <p:spPr>
          <a:xfrm xmlns:a="http://schemas.openxmlformats.org/drawingml/2006/main">
            <a:off x="762000" y="4914900"/>
            <a:ext cx="7429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800" b="0">
                <a:solidFill>
                  <a:srgbClr val="536170"/>
                </a:solidFill>
                <a:latin typeface="Arial"/>
                <a:ea typeface="Arial"/>
                <a:cs typeface="Arial"/>
              </a:defRPr>
            </a:defPPr>
            <a:lvl1pPr>
              <a:defRPr sz="1800" b="0">
                <a:solidFill>
                  <a:srgbClr val="536170"/>
                </a:solidFill>
                <a:latin typeface="Arial"/>
                <a:ea typeface="Arial"/>
                <a:cs typeface="Arial"/>
              </a:defRPr>
            </a:lvl1pPr>
            <a:lvl2pPr>
              <a:defRPr sz="1800" b="0">
                <a:solidFill>
                  <a:srgbClr val="536170"/>
                </a:solidFill>
                <a:latin typeface="Arial"/>
                <a:ea typeface="Arial"/>
                <a:cs typeface="Arial"/>
              </a:defRPr>
            </a:lvl2pPr>
            <a:lvl3pPr>
              <a:defRPr sz="1800" b="0">
                <a:solidFill>
                  <a:srgbClr val="536170"/>
                </a:solidFill>
                <a:latin typeface="Arial"/>
                <a:ea typeface="Arial"/>
                <a:cs typeface="Arial"/>
              </a:defRPr>
            </a:lvl3pPr>
            <a:lvl4pPr>
              <a:defRPr sz="1800" b="0">
                <a:solidFill>
                  <a:srgbClr val="536170"/>
                </a:solidFill>
                <a:latin typeface="Arial"/>
                <a:ea typeface="Arial"/>
                <a:cs typeface="Arial"/>
              </a:defRPr>
            </a:lvl4pPr>
            <a:lvl5pPr>
              <a:defRPr sz="1800" b="0">
                <a:solidFill>
                  <a:srgbClr val="536170"/>
                </a:solidFill>
                <a:latin typeface="Arial"/>
                <a:ea typeface="Arial"/>
                <a:cs typeface="Arial"/>
              </a:defRPr>
            </a:lvl5pPr>
            <a:lvl6pPr>
              <a:defRPr sz="1800" b="0">
                <a:solidFill>
                  <a:srgbClr val="536170"/>
                </a:solidFill>
                <a:latin typeface="Arial"/>
                <a:ea typeface="Arial"/>
                <a:cs typeface="Arial"/>
              </a:defRPr>
            </a:lvl6pPr>
            <a:lvl7pPr>
              <a:defRPr sz="1800" b="0">
                <a:solidFill>
                  <a:srgbClr val="536170"/>
                </a:solidFill>
                <a:latin typeface="Arial"/>
                <a:ea typeface="Arial"/>
                <a:cs typeface="Arial"/>
              </a:defRPr>
            </a:lvl7pPr>
            <a:lvl8pPr>
              <a:defRPr sz="1800" b="0">
                <a:solidFill>
                  <a:srgbClr val="536170"/>
                </a:solidFill>
                <a:latin typeface="Arial"/>
                <a:ea typeface="Arial"/>
                <a:cs typeface="Arial"/>
              </a:defRPr>
            </a:lvl8pPr>
            <a:lvl9pPr>
              <a:defRPr sz="1800" b="0">
                <a:solidFill>
                  <a:srgbClr val="536170"/>
                </a:solidFill>
                <a:latin typeface="Arial"/>
                <a:ea typeface="Arial"/>
                <a:cs typeface="Arial"/>
              </a:defRPr>
            </a:lvl9pPr>
          </a:lstStyle>
          <a:p xmlns:a="http://schemas.openxmlformats.org/drawingml/2006/main">
            <a:pPr>
              <a:buNone/>
              <a:defRPr sz="1800" b="0">
                <a:solidFill>
                  <a:srgbClr val="536170"/>
                </a:solidFill>
                <a:latin typeface="Arial"/>
                <a:ea typeface="Arial"/>
                <a:cs typeface="Arial"/>
              </a:defRPr>
            </a:pPr>
            <a:r>
              <a:rPr sz="1800" b="0">
                <a:solidFill>
                  <a:srgbClr val="536170"/>
                </a:solidFill>
                <a:latin typeface="Arial"/>
                <a:ea typeface="Arial"/>
                <a:cs typeface="Arial"/>
              </a:rPr>
              <a:t>Flag for human review only when days since the last order exceed that threshold.</a:t>
            </a:r>
          </a:p>
        </p:txBody>
      </p:sp>
      <p:sp>
        <p:nvSpPr>
          <p:cNvPr id="10" name="Rectangle 9">
            <a:extLst xmlns:a="http://schemas.openxmlformats.org/drawingml/2006/main">
              <a:ext uri="{FF2B5EF4-FFF2-40B4-BE49-F238E27FC236}">
                <a16:creationId xmlns:a16="http://schemas.microsoft.com/office/drawing/2014/main" id="{BC1A3787-F738-45AB-BF0C-1F0819856C1B}"/>
              </a:ext>
            </a:extLst>
          </p:cNvPr>
          <p:cNvSpPr>
            <a:spLocks xmlns:a="http://schemas.openxmlformats.org/drawingml/2006/main" noGrp="1"/>
          </p:cNvSpPr>
          <p:nvPr/>
        </p:nvSpPr>
        <p:spPr>
          <a:xfrm xmlns:a="http://schemas.openxmlformats.org/drawingml/2006/main">
            <a:off x="8477250" y="3467100"/>
            <a:ext cx="2571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200" b="1">
                <a:solidFill>
                  <a:srgbClr val="287A63"/>
                </a:solidFill>
                <a:latin typeface="Arial"/>
                <a:ea typeface="Arial"/>
                <a:cs typeface="Arial"/>
              </a:defRPr>
            </a:defPPr>
            <a:lvl1pPr>
              <a:defRPr sz="1200" b="1">
                <a:solidFill>
                  <a:srgbClr val="287A63"/>
                </a:solidFill>
                <a:latin typeface="Arial"/>
                <a:ea typeface="Arial"/>
                <a:cs typeface="Arial"/>
              </a:defRPr>
            </a:lvl1pPr>
            <a:lvl2pPr>
              <a:defRPr sz="1200" b="1">
                <a:solidFill>
                  <a:srgbClr val="287A63"/>
                </a:solidFill>
                <a:latin typeface="Arial"/>
                <a:ea typeface="Arial"/>
                <a:cs typeface="Arial"/>
              </a:defRPr>
            </a:lvl2pPr>
            <a:lvl3pPr>
              <a:defRPr sz="1200" b="1">
                <a:solidFill>
                  <a:srgbClr val="287A63"/>
                </a:solidFill>
                <a:latin typeface="Arial"/>
                <a:ea typeface="Arial"/>
                <a:cs typeface="Arial"/>
              </a:defRPr>
            </a:lvl3pPr>
            <a:lvl4pPr>
              <a:defRPr sz="1200" b="1">
                <a:solidFill>
                  <a:srgbClr val="287A63"/>
                </a:solidFill>
                <a:latin typeface="Arial"/>
                <a:ea typeface="Arial"/>
                <a:cs typeface="Arial"/>
              </a:defRPr>
            </a:lvl4pPr>
            <a:lvl5pPr>
              <a:defRPr sz="1200" b="1">
                <a:solidFill>
                  <a:srgbClr val="287A63"/>
                </a:solidFill>
                <a:latin typeface="Arial"/>
                <a:ea typeface="Arial"/>
                <a:cs typeface="Arial"/>
              </a:defRPr>
            </a:lvl5pPr>
            <a:lvl6pPr>
              <a:defRPr sz="1200" b="1">
                <a:solidFill>
                  <a:srgbClr val="287A63"/>
                </a:solidFill>
                <a:latin typeface="Arial"/>
                <a:ea typeface="Arial"/>
                <a:cs typeface="Arial"/>
              </a:defRPr>
            </a:lvl6pPr>
            <a:lvl7pPr>
              <a:defRPr sz="1200" b="1">
                <a:solidFill>
                  <a:srgbClr val="287A63"/>
                </a:solidFill>
                <a:latin typeface="Arial"/>
                <a:ea typeface="Arial"/>
                <a:cs typeface="Arial"/>
              </a:defRPr>
            </a:lvl7pPr>
            <a:lvl8pPr>
              <a:defRPr sz="1200" b="1">
                <a:solidFill>
                  <a:srgbClr val="287A63"/>
                </a:solidFill>
                <a:latin typeface="Arial"/>
                <a:ea typeface="Arial"/>
                <a:cs typeface="Arial"/>
              </a:defRPr>
            </a:lvl8pPr>
            <a:lvl9pPr>
              <a:defRPr sz="1200" b="1">
                <a:solidFill>
                  <a:srgbClr val="287A63"/>
                </a:solidFill>
                <a:latin typeface="Arial"/>
                <a:ea typeface="Arial"/>
                <a:cs typeface="Arial"/>
              </a:defRPr>
            </a:lvl9pPr>
          </a:lstStyle>
          <a:p xmlns:a="http://schemas.openxmlformats.org/drawingml/2006/main">
            <a:pPr>
              <a:buNone/>
              <a:defRPr sz="1200" b="1">
                <a:solidFill>
                  <a:srgbClr val="287A63"/>
                </a:solidFill>
                <a:latin typeface="Arial"/>
                <a:ea typeface="Arial"/>
                <a:cs typeface="Arial"/>
              </a:defRPr>
            </a:pPr>
            <a:r>
              <a:rPr sz="1200" b="1">
                <a:solidFill>
                  <a:srgbClr val="287A63"/>
                </a:solidFill>
                <a:latin typeface="Arial"/>
                <a:ea typeface="Arial"/>
                <a:cs typeface="Arial"/>
              </a:rPr>
              <a:t>REVIEW SIGNAL</a:t>
            </a:r>
          </a:p>
        </p:txBody>
      </p:sp>
      <p:sp>
        <p:nvSpPr>
          <p:cNvPr id="11" name="Rectangle 10">
            <a:extLst xmlns:a="http://schemas.openxmlformats.org/drawingml/2006/main">
              <a:ext uri="{FF2B5EF4-FFF2-40B4-BE49-F238E27FC236}">
                <a16:creationId xmlns:a16="http://schemas.microsoft.com/office/drawing/2014/main" id="{68EBA251-EC24-4D8F-8B8B-7C7A1B6E6FBE}"/>
              </a:ext>
            </a:extLst>
          </p:cNvPr>
          <p:cNvSpPr>
            <a:spLocks xmlns:a="http://schemas.openxmlformats.org/drawingml/2006/main" noGrp="1"/>
          </p:cNvSpPr>
          <p:nvPr/>
        </p:nvSpPr>
        <p:spPr>
          <a:xfrm xmlns:a="http://schemas.openxmlformats.org/drawingml/2006/main">
            <a:off x="8477250" y="3829050"/>
            <a:ext cx="25717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425" b="0">
                <a:solidFill>
                  <a:srgbClr val="536170"/>
                </a:solidFill>
                <a:latin typeface="Arial"/>
                <a:ea typeface="Arial"/>
                <a:cs typeface="Arial"/>
              </a:defRPr>
            </a:defPPr>
            <a:lvl1pPr>
              <a:defRPr sz="1425" b="0">
                <a:solidFill>
                  <a:srgbClr val="536170"/>
                </a:solidFill>
                <a:latin typeface="Arial"/>
                <a:ea typeface="Arial"/>
                <a:cs typeface="Arial"/>
              </a:defRPr>
            </a:lvl1pPr>
            <a:lvl2pPr>
              <a:defRPr sz="1425" b="0">
                <a:solidFill>
                  <a:srgbClr val="536170"/>
                </a:solidFill>
                <a:latin typeface="Arial"/>
                <a:ea typeface="Arial"/>
                <a:cs typeface="Arial"/>
              </a:defRPr>
            </a:lvl2pPr>
            <a:lvl3pPr>
              <a:defRPr sz="1425" b="0">
                <a:solidFill>
                  <a:srgbClr val="536170"/>
                </a:solidFill>
                <a:latin typeface="Arial"/>
                <a:ea typeface="Arial"/>
                <a:cs typeface="Arial"/>
              </a:defRPr>
            </a:lvl3pPr>
            <a:lvl4pPr>
              <a:defRPr sz="1425" b="0">
                <a:solidFill>
                  <a:srgbClr val="536170"/>
                </a:solidFill>
                <a:latin typeface="Arial"/>
                <a:ea typeface="Arial"/>
                <a:cs typeface="Arial"/>
              </a:defRPr>
            </a:lvl4pPr>
            <a:lvl5pPr>
              <a:defRPr sz="1425" b="0">
                <a:solidFill>
                  <a:srgbClr val="536170"/>
                </a:solidFill>
                <a:latin typeface="Arial"/>
                <a:ea typeface="Arial"/>
                <a:cs typeface="Arial"/>
              </a:defRPr>
            </a:lvl5pPr>
            <a:lvl6pPr>
              <a:defRPr sz="1425" b="0">
                <a:solidFill>
                  <a:srgbClr val="536170"/>
                </a:solidFill>
                <a:latin typeface="Arial"/>
                <a:ea typeface="Arial"/>
                <a:cs typeface="Arial"/>
              </a:defRPr>
            </a:lvl6pPr>
            <a:lvl7pPr>
              <a:defRPr sz="1425" b="0">
                <a:solidFill>
                  <a:srgbClr val="536170"/>
                </a:solidFill>
                <a:latin typeface="Arial"/>
                <a:ea typeface="Arial"/>
                <a:cs typeface="Arial"/>
              </a:defRPr>
            </a:lvl7pPr>
            <a:lvl8pPr>
              <a:defRPr sz="1425" b="0">
                <a:solidFill>
                  <a:srgbClr val="536170"/>
                </a:solidFill>
                <a:latin typeface="Arial"/>
                <a:ea typeface="Arial"/>
                <a:cs typeface="Arial"/>
              </a:defRPr>
            </a:lvl8pPr>
            <a:lvl9pPr>
              <a:defRPr sz="1425" b="0">
                <a:solidFill>
                  <a:srgbClr val="536170"/>
                </a:solidFill>
                <a:latin typeface="Arial"/>
                <a:ea typeface="Arial"/>
                <a:cs typeface="Arial"/>
              </a:defRPr>
            </a:lvl9pPr>
          </a:lstStyle>
          <a:p xmlns:a="http://schemas.openxmlformats.org/drawingml/2006/main">
            <a:pPr>
              <a:buNone/>
              <a:defRPr sz="1425" b="0">
                <a:solidFill>
                  <a:srgbClr val="536170"/>
                </a:solidFill>
                <a:latin typeface="Arial"/>
                <a:ea typeface="Arial"/>
                <a:cs typeface="Arial"/>
              </a:defRPr>
            </a:pPr>
            <a:r>
              <a:rPr sz="1425" b="0">
                <a:solidFill>
                  <a:srgbClr val="536170"/>
                </a:solidFill>
                <a:latin typeface="Arial"/>
                <a:ea typeface="Arial"/>
                <a:cs typeface="Arial"/>
              </a:rPr>
              <a:t>The interval changed. Merchant context helps explain why.</a:t>
            </a:r>
          </a:p>
        </p:txBody>
      </p:sp>
    </p:spTree>
    <p:extLst>
      <p:ext uri="{BB962C8B-B14F-4D97-AF65-F5344CB8AC3E}">
        <p14:creationId xmlns:p14="http://schemas.microsoft.com/office/powerpoint/2010/main" val="1986843593"/>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23D54FB5-B2F5-446F-B247-7B8943F0F847}"/>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050" b="1">
                <a:solidFill>
                  <a:srgbClr val="315BCE"/>
                </a:solidFill>
                <a:latin typeface="Arial"/>
                <a:ea typeface="Arial"/>
                <a:cs typeface="Arial"/>
              </a:defRPr>
            </a:defPPr>
            <a:lvl1pPr>
              <a:defRPr sz="1050" b="1">
                <a:solidFill>
                  <a:srgbClr val="315BCE"/>
                </a:solidFill>
                <a:latin typeface="Arial"/>
                <a:ea typeface="Arial"/>
                <a:cs typeface="Arial"/>
              </a:defRPr>
            </a:lvl1pPr>
            <a:lvl2pPr>
              <a:defRPr sz="1050" b="1">
                <a:solidFill>
                  <a:srgbClr val="315BCE"/>
                </a:solidFill>
                <a:latin typeface="Arial"/>
                <a:ea typeface="Arial"/>
                <a:cs typeface="Arial"/>
              </a:defRPr>
            </a:lvl2pPr>
            <a:lvl3pPr>
              <a:defRPr sz="1050" b="1">
                <a:solidFill>
                  <a:srgbClr val="315BCE"/>
                </a:solidFill>
                <a:latin typeface="Arial"/>
                <a:ea typeface="Arial"/>
                <a:cs typeface="Arial"/>
              </a:defRPr>
            </a:lvl3pPr>
            <a:lvl4pPr>
              <a:defRPr sz="1050" b="1">
                <a:solidFill>
                  <a:srgbClr val="315BCE"/>
                </a:solidFill>
                <a:latin typeface="Arial"/>
                <a:ea typeface="Arial"/>
                <a:cs typeface="Arial"/>
              </a:defRPr>
            </a:lvl4pPr>
            <a:lvl5pPr>
              <a:defRPr sz="1050" b="1">
                <a:solidFill>
                  <a:srgbClr val="315BCE"/>
                </a:solidFill>
                <a:latin typeface="Arial"/>
                <a:ea typeface="Arial"/>
                <a:cs typeface="Arial"/>
              </a:defRPr>
            </a:lvl5pPr>
            <a:lvl6pPr>
              <a:defRPr sz="1050" b="1">
                <a:solidFill>
                  <a:srgbClr val="315BCE"/>
                </a:solidFill>
                <a:latin typeface="Arial"/>
                <a:ea typeface="Arial"/>
                <a:cs typeface="Arial"/>
              </a:defRPr>
            </a:lvl6pPr>
            <a:lvl7pPr>
              <a:defRPr sz="1050" b="1">
                <a:solidFill>
                  <a:srgbClr val="315BCE"/>
                </a:solidFill>
                <a:latin typeface="Arial"/>
                <a:ea typeface="Arial"/>
                <a:cs typeface="Arial"/>
              </a:defRPr>
            </a:lvl7pPr>
            <a:lvl8pPr>
              <a:defRPr sz="1050" b="1">
                <a:solidFill>
                  <a:srgbClr val="315BCE"/>
                </a:solidFill>
                <a:latin typeface="Arial"/>
                <a:ea typeface="Arial"/>
                <a:cs typeface="Arial"/>
              </a:defRPr>
            </a:lvl8pPr>
            <a:lvl9pPr>
              <a:defRPr sz="1050" b="1">
                <a:solidFill>
                  <a:srgbClr val="315BCE"/>
                </a:solidFill>
                <a:latin typeface="Arial"/>
                <a:ea typeface="Arial"/>
                <a:cs typeface="Arial"/>
              </a:defRPr>
            </a:lvl9pPr>
          </a:lstStyle>
          <a:p xmlns:a="http://schemas.openxmlformats.org/drawingml/2006/main">
            <a:pPr>
              <a:buNone/>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Rectangle 1">
            <a:extLst xmlns:a="http://schemas.openxmlformats.org/drawingml/2006/main">
              <a:ext uri="{FF2B5EF4-FFF2-40B4-BE49-F238E27FC236}">
                <a16:creationId xmlns:a16="http://schemas.microsoft.com/office/drawing/2014/main" id="{2AFE4CE1-DDDE-4F4A-A7B1-C2F328914151}"/>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3000" b="1">
                <a:solidFill>
                  <a:srgbClr val="16202B"/>
                </a:solidFill>
                <a:latin typeface="Arial"/>
                <a:ea typeface="Arial"/>
                <a:cs typeface="Arial"/>
              </a:defRPr>
            </a:defPPr>
            <a:lvl1pPr>
              <a:defRPr sz="3000" b="1">
                <a:solidFill>
                  <a:srgbClr val="16202B"/>
                </a:solidFill>
                <a:latin typeface="Arial"/>
                <a:ea typeface="Arial"/>
                <a:cs typeface="Arial"/>
              </a:defRPr>
            </a:lvl1pPr>
            <a:lvl2pPr>
              <a:defRPr sz="3000" b="1">
                <a:solidFill>
                  <a:srgbClr val="16202B"/>
                </a:solidFill>
                <a:latin typeface="Arial"/>
                <a:ea typeface="Arial"/>
                <a:cs typeface="Arial"/>
              </a:defRPr>
            </a:lvl2pPr>
            <a:lvl3pPr>
              <a:defRPr sz="3000" b="1">
                <a:solidFill>
                  <a:srgbClr val="16202B"/>
                </a:solidFill>
                <a:latin typeface="Arial"/>
                <a:ea typeface="Arial"/>
                <a:cs typeface="Arial"/>
              </a:defRPr>
            </a:lvl3pPr>
            <a:lvl4pPr>
              <a:defRPr sz="3000" b="1">
                <a:solidFill>
                  <a:srgbClr val="16202B"/>
                </a:solidFill>
                <a:latin typeface="Arial"/>
                <a:ea typeface="Arial"/>
                <a:cs typeface="Arial"/>
              </a:defRPr>
            </a:lvl4pPr>
            <a:lvl5pPr>
              <a:defRPr sz="3000" b="1">
                <a:solidFill>
                  <a:srgbClr val="16202B"/>
                </a:solidFill>
                <a:latin typeface="Arial"/>
                <a:ea typeface="Arial"/>
                <a:cs typeface="Arial"/>
              </a:defRPr>
            </a:lvl5pPr>
            <a:lvl6pPr>
              <a:defRPr sz="3000" b="1">
                <a:solidFill>
                  <a:srgbClr val="16202B"/>
                </a:solidFill>
                <a:latin typeface="Arial"/>
                <a:ea typeface="Arial"/>
                <a:cs typeface="Arial"/>
              </a:defRPr>
            </a:lvl6pPr>
            <a:lvl7pPr>
              <a:defRPr sz="3000" b="1">
                <a:solidFill>
                  <a:srgbClr val="16202B"/>
                </a:solidFill>
                <a:latin typeface="Arial"/>
                <a:ea typeface="Arial"/>
                <a:cs typeface="Arial"/>
              </a:defRPr>
            </a:lvl7pPr>
            <a:lvl8pPr>
              <a:defRPr sz="3000" b="1">
                <a:solidFill>
                  <a:srgbClr val="16202B"/>
                </a:solidFill>
                <a:latin typeface="Arial"/>
                <a:ea typeface="Arial"/>
                <a:cs typeface="Arial"/>
              </a:defRPr>
            </a:lvl8pPr>
            <a:lvl9pPr>
              <a:defRPr sz="3000" b="1">
                <a:solidFill>
                  <a:srgbClr val="16202B"/>
                </a:solidFill>
                <a:latin typeface="Arial"/>
                <a:ea typeface="Arial"/>
                <a:cs typeface="Arial"/>
              </a:defRPr>
            </a:lvl9pPr>
          </a:lstStyle>
          <a:p xmlns:a="http://schemas.openxmlformats.org/drawingml/2006/main">
            <a:pPr>
              <a:buNone/>
              <a:defRPr sz="3000" b="1">
                <a:solidFill>
                  <a:srgbClr val="16202B"/>
                </a:solidFill>
                <a:latin typeface="Arial"/>
                <a:ea typeface="Arial"/>
                <a:cs typeface="Arial"/>
              </a:defRPr>
            </a:pPr>
            <a:r>
              <a:rPr sz="3000" b="1">
                <a:solidFill>
                  <a:srgbClr val="16202B"/>
                </a:solidFill>
                <a:latin typeface="Arial"/>
                <a:ea typeface="Arial"/>
                <a:cs typeface="Arial"/>
              </a:rPr>
              <a:t>A real dataset, with clear limits</a:t>
            </a:r>
          </a:p>
        </p:txBody>
      </p:sp>
      <p:sp>
        <p:nvSpPr>
          <p:cNvPr id="3" name="Rectangle 2">
            <a:extLst xmlns:a="http://schemas.openxmlformats.org/drawingml/2006/main">
              <a:ext uri="{FF2B5EF4-FFF2-40B4-BE49-F238E27FC236}">
                <a16:creationId xmlns:a16="http://schemas.microsoft.com/office/drawing/2014/main" id="{751B8772-385B-4D5D-913E-5A2167A884F1}"/>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r">
              <a:defRPr sz="1050" b="1">
                <a:solidFill>
                  <a:srgbClr val="536170"/>
                </a:solidFill>
                <a:latin typeface="Arial"/>
                <a:ea typeface="Arial"/>
                <a:cs typeface="Arial"/>
              </a:defRPr>
            </a:defPPr>
            <a:lvl1pPr algn="r">
              <a:defRPr sz="1050" b="1">
                <a:solidFill>
                  <a:srgbClr val="536170"/>
                </a:solidFill>
                <a:latin typeface="Arial"/>
                <a:ea typeface="Arial"/>
                <a:cs typeface="Arial"/>
              </a:defRPr>
            </a:lvl1pPr>
            <a:lvl2pPr algn="r">
              <a:defRPr sz="1050" b="1">
                <a:solidFill>
                  <a:srgbClr val="536170"/>
                </a:solidFill>
                <a:latin typeface="Arial"/>
                <a:ea typeface="Arial"/>
                <a:cs typeface="Arial"/>
              </a:defRPr>
            </a:lvl2pPr>
            <a:lvl3pPr algn="r">
              <a:defRPr sz="1050" b="1">
                <a:solidFill>
                  <a:srgbClr val="536170"/>
                </a:solidFill>
                <a:latin typeface="Arial"/>
                <a:ea typeface="Arial"/>
                <a:cs typeface="Arial"/>
              </a:defRPr>
            </a:lvl3pPr>
            <a:lvl4pPr algn="r">
              <a:defRPr sz="1050" b="1">
                <a:solidFill>
                  <a:srgbClr val="536170"/>
                </a:solidFill>
                <a:latin typeface="Arial"/>
                <a:ea typeface="Arial"/>
                <a:cs typeface="Arial"/>
              </a:defRPr>
            </a:lvl4pPr>
            <a:lvl5pPr algn="r">
              <a:defRPr sz="1050" b="1">
                <a:solidFill>
                  <a:srgbClr val="536170"/>
                </a:solidFill>
                <a:latin typeface="Arial"/>
                <a:ea typeface="Arial"/>
                <a:cs typeface="Arial"/>
              </a:defRPr>
            </a:lvl5pPr>
            <a:lvl6pPr algn="r">
              <a:defRPr sz="1050" b="1">
                <a:solidFill>
                  <a:srgbClr val="536170"/>
                </a:solidFill>
                <a:latin typeface="Arial"/>
                <a:ea typeface="Arial"/>
                <a:cs typeface="Arial"/>
              </a:defRPr>
            </a:lvl6pPr>
            <a:lvl7pPr algn="r">
              <a:defRPr sz="1050" b="1">
                <a:solidFill>
                  <a:srgbClr val="536170"/>
                </a:solidFill>
                <a:latin typeface="Arial"/>
                <a:ea typeface="Arial"/>
                <a:cs typeface="Arial"/>
              </a:defRPr>
            </a:lvl7pPr>
            <a:lvl8pPr algn="r">
              <a:defRPr sz="1050" b="1">
                <a:solidFill>
                  <a:srgbClr val="536170"/>
                </a:solidFill>
                <a:latin typeface="Arial"/>
                <a:ea typeface="Arial"/>
                <a:cs typeface="Arial"/>
              </a:defRPr>
            </a:lvl8pPr>
            <a:lvl9pPr algn="r">
              <a:defRPr sz="1050" b="1">
                <a:solidFill>
                  <a:srgbClr val="536170"/>
                </a:solidFill>
                <a:latin typeface="Arial"/>
                <a:ea typeface="Arial"/>
                <a:cs typeface="Arial"/>
              </a:defRPr>
            </a:lvl9pPr>
          </a:lstStyle>
          <a:p xmlns:a="http://schemas.openxmlformats.org/drawingml/2006/main">
            <a:pPr algn="r">
              <a:buNone/>
              <a:defRPr sz="1050" b="1">
                <a:solidFill>
                  <a:srgbClr val="536170"/>
                </a:solidFill>
                <a:latin typeface="Arial"/>
                <a:ea typeface="Arial"/>
                <a:cs typeface="Arial"/>
              </a:defRPr>
            </a:pPr>
            <a:r>
              <a:rPr sz="1050" b="1">
                <a:solidFill>
                  <a:srgbClr val="536170"/>
                </a:solidFill>
                <a:latin typeface="Arial"/>
                <a:ea typeface="Arial"/>
                <a:cs typeface="Arial"/>
              </a:rPr>
              <a:t>05</a:t>
            </a:r>
          </a:p>
        </p:txBody>
      </p:sp>
      <p:sp>
        <p:nvSpPr>
          <p:cNvPr id="4" name="Rectangle 3">
            <a:extLst xmlns:a="http://schemas.openxmlformats.org/drawingml/2006/main">
              <a:ext uri="{FF2B5EF4-FFF2-40B4-BE49-F238E27FC236}">
                <a16:creationId xmlns:a16="http://schemas.microsoft.com/office/drawing/2014/main" id="{13F9B63F-F70A-438B-9DE0-207C22FC975F}"/>
              </a:ext>
            </a:extLst>
          </p:cNvPr>
          <p:cNvSpPr>
            <a:spLocks xmlns:a="http://schemas.openxmlformats.org/drawingml/2006/main" noGrp="1"/>
          </p:cNvSpPr>
          <p:nvPr/>
        </p:nvSpPr>
        <p:spPr>
          <a:xfrm xmlns:a="http://schemas.openxmlformats.org/drawingml/2006/main">
            <a:off x="762000" y="20002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315BCE"/>
                </a:solidFill>
                <a:latin typeface="Arial"/>
                <a:ea typeface="Arial"/>
                <a:cs typeface="Arial"/>
              </a:defRPr>
            </a:defPPr>
            <a:lvl1pPr>
              <a:defRPr sz="1125" b="1">
                <a:solidFill>
                  <a:srgbClr val="315BCE"/>
                </a:solidFill>
                <a:latin typeface="Arial"/>
                <a:ea typeface="Arial"/>
                <a:cs typeface="Arial"/>
              </a:defRPr>
            </a:lvl1pPr>
            <a:lvl2pPr>
              <a:defRPr sz="1125" b="1">
                <a:solidFill>
                  <a:srgbClr val="315BCE"/>
                </a:solidFill>
                <a:latin typeface="Arial"/>
                <a:ea typeface="Arial"/>
                <a:cs typeface="Arial"/>
              </a:defRPr>
            </a:lvl2pPr>
            <a:lvl3pPr>
              <a:defRPr sz="1125" b="1">
                <a:solidFill>
                  <a:srgbClr val="315BCE"/>
                </a:solidFill>
                <a:latin typeface="Arial"/>
                <a:ea typeface="Arial"/>
                <a:cs typeface="Arial"/>
              </a:defRPr>
            </a:lvl3pPr>
            <a:lvl4pPr>
              <a:defRPr sz="1125" b="1">
                <a:solidFill>
                  <a:srgbClr val="315BCE"/>
                </a:solidFill>
                <a:latin typeface="Arial"/>
                <a:ea typeface="Arial"/>
                <a:cs typeface="Arial"/>
              </a:defRPr>
            </a:lvl4pPr>
            <a:lvl5pPr>
              <a:defRPr sz="1125" b="1">
                <a:solidFill>
                  <a:srgbClr val="315BCE"/>
                </a:solidFill>
                <a:latin typeface="Arial"/>
                <a:ea typeface="Arial"/>
                <a:cs typeface="Arial"/>
              </a:defRPr>
            </a:lvl5pPr>
            <a:lvl6pPr>
              <a:defRPr sz="1125" b="1">
                <a:solidFill>
                  <a:srgbClr val="315BCE"/>
                </a:solidFill>
                <a:latin typeface="Arial"/>
                <a:ea typeface="Arial"/>
                <a:cs typeface="Arial"/>
              </a:defRPr>
            </a:lvl6pPr>
            <a:lvl7pPr>
              <a:defRPr sz="1125" b="1">
                <a:solidFill>
                  <a:srgbClr val="315BCE"/>
                </a:solidFill>
                <a:latin typeface="Arial"/>
                <a:ea typeface="Arial"/>
                <a:cs typeface="Arial"/>
              </a:defRPr>
            </a:lvl7pPr>
            <a:lvl8pPr>
              <a:defRPr sz="1125" b="1">
                <a:solidFill>
                  <a:srgbClr val="315BCE"/>
                </a:solidFill>
                <a:latin typeface="Arial"/>
                <a:ea typeface="Arial"/>
                <a:cs typeface="Arial"/>
              </a:defRPr>
            </a:lvl8pPr>
            <a:lvl9pPr>
              <a:defRPr sz="1125" b="1">
                <a:solidFill>
                  <a:srgbClr val="315BCE"/>
                </a:solidFill>
                <a:latin typeface="Arial"/>
                <a:ea typeface="Arial"/>
                <a:cs typeface="Arial"/>
              </a:defRPr>
            </a:lvl9pPr>
          </a:lstStyle>
          <a:p xmlns:a="http://schemas.openxmlformats.org/drawingml/2006/main">
            <a:pPr>
              <a:buNone/>
              <a:defRPr sz="1125" b="1">
                <a:solidFill>
                  <a:srgbClr val="315BCE"/>
                </a:solidFill>
                <a:latin typeface="Arial"/>
                <a:ea typeface="Arial"/>
                <a:cs typeface="Arial"/>
              </a:defRPr>
            </a:pPr>
            <a:r>
              <a:rPr sz="1125" b="1">
                <a:solidFill>
                  <a:srgbClr val="315BCE"/>
                </a:solidFill>
                <a:latin typeface="Arial"/>
                <a:ea typeface="Arial"/>
                <a:cs typeface="Arial"/>
              </a:rPr>
              <a:t>UCI ONLINE RETAIL</a:t>
            </a:r>
          </a:p>
        </p:txBody>
      </p:sp>
      <p:sp>
        <p:nvSpPr>
          <p:cNvPr id="5" name="Rectangle 4">
            <a:extLst xmlns:a="http://schemas.openxmlformats.org/drawingml/2006/main">
              <a:ext uri="{FF2B5EF4-FFF2-40B4-BE49-F238E27FC236}">
                <a16:creationId xmlns:a16="http://schemas.microsoft.com/office/drawing/2014/main" id="{258CCC7A-01B3-45BD-9081-DF937903D0B4}"/>
              </a:ext>
            </a:extLst>
          </p:cNvPr>
          <p:cNvSpPr>
            <a:spLocks xmlns:a="http://schemas.openxmlformats.org/drawingml/2006/main" noGrp="1"/>
          </p:cNvSpPr>
          <p:nvPr/>
        </p:nvSpPr>
        <p:spPr>
          <a:xfrm xmlns:a="http://schemas.openxmlformats.org/drawingml/2006/main">
            <a:off x="762000" y="2381250"/>
            <a:ext cx="5334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875" b="1">
                <a:solidFill>
                  <a:srgbClr val="16202B"/>
                </a:solidFill>
                <a:latin typeface="Arial"/>
                <a:ea typeface="Arial"/>
                <a:cs typeface="Arial"/>
              </a:defRPr>
            </a:defPPr>
            <a:lvl1pPr>
              <a:defRPr sz="1875" b="1">
                <a:solidFill>
                  <a:srgbClr val="16202B"/>
                </a:solidFill>
                <a:latin typeface="Arial"/>
                <a:ea typeface="Arial"/>
                <a:cs typeface="Arial"/>
              </a:defRPr>
            </a:lvl1pPr>
            <a:lvl2pPr>
              <a:defRPr sz="1875" b="1">
                <a:solidFill>
                  <a:srgbClr val="16202B"/>
                </a:solidFill>
                <a:latin typeface="Arial"/>
                <a:ea typeface="Arial"/>
                <a:cs typeface="Arial"/>
              </a:defRPr>
            </a:lvl2pPr>
            <a:lvl3pPr>
              <a:defRPr sz="1875" b="1">
                <a:solidFill>
                  <a:srgbClr val="16202B"/>
                </a:solidFill>
                <a:latin typeface="Arial"/>
                <a:ea typeface="Arial"/>
                <a:cs typeface="Arial"/>
              </a:defRPr>
            </a:lvl3pPr>
            <a:lvl4pPr>
              <a:defRPr sz="1875" b="1">
                <a:solidFill>
                  <a:srgbClr val="16202B"/>
                </a:solidFill>
                <a:latin typeface="Arial"/>
                <a:ea typeface="Arial"/>
                <a:cs typeface="Arial"/>
              </a:defRPr>
            </a:lvl4pPr>
            <a:lvl5pPr>
              <a:defRPr sz="1875" b="1">
                <a:solidFill>
                  <a:srgbClr val="16202B"/>
                </a:solidFill>
                <a:latin typeface="Arial"/>
                <a:ea typeface="Arial"/>
                <a:cs typeface="Arial"/>
              </a:defRPr>
            </a:lvl5pPr>
            <a:lvl6pPr>
              <a:defRPr sz="1875" b="1">
                <a:solidFill>
                  <a:srgbClr val="16202B"/>
                </a:solidFill>
                <a:latin typeface="Arial"/>
                <a:ea typeface="Arial"/>
                <a:cs typeface="Arial"/>
              </a:defRPr>
            </a:lvl6pPr>
            <a:lvl7pPr>
              <a:defRPr sz="1875" b="1">
                <a:solidFill>
                  <a:srgbClr val="16202B"/>
                </a:solidFill>
                <a:latin typeface="Arial"/>
                <a:ea typeface="Arial"/>
                <a:cs typeface="Arial"/>
              </a:defRPr>
            </a:lvl7pPr>
            <a:lvl8pPr>
              <a:defRPr sz="1875" b="1">
                <a:solidFill>
                  <a:srgbClr val="16202B"/>
                </a:solidFill>
                <a:latin typeface="Arial"/>
                <a:ea typeface="Arial"/>
                <a:cs typeface="Arial"/>
              </a:defRPr>
            </a:lvl8pPr>
            <a:lvl9pPr>
              <a:defRPr sz="1875" b="1">
                <a:solidFill>
                  <a:srgbClr val="16202B"/>
                </a:solidFill>
                <a:latin typeface="Arial"/>
                <a:ea typeface="Arial"/>
                <a:cs typeface="Arial"/>
              </a:defRPr>
            </a:lvl9pPr>
          </a:lstStyle>
          <a:p xmlns:a="http://schemas.openxmlformats.org/drawingml/2006/main">
            <a:pPr>
              <a:buNone/>
              <a:defRPr sz="1875" b="1">
                <a:solidFill>
                  <a:srgbClr val="16202B"/>
                </a:solidFill>
                <a:latin typeface="Arial"/>
                <a:ea typeface="Arial"/>
                <a:cs typeface="Arial"/>
              </a:defRPr>
            </a:pPr>
            <a:r>
              <a:rPr sz="1875" b="1">
                <a:solidFill>
                  <a:srgbClr val="16202B"/>
                </a:solidFill>
                <a:latin typeface="Arial"/>
                <a:ea typeface="Arial"/>
                <a:cs typeface="Arial"/>
              </a:rPr>
              <a:t>A reproducible extract of UK transactions from 2010–2011</a:t>
            </a:r>
          </a:p>
        </p:txBody>
      </p:sp>
      <p:sp>
        <p:nvSpPr>
          <p:cNvPr id="6" name="Rectangle 5">
            <a:extLst xmlns:a="http://schemas.openxmlformats.org/drawingml/2006/main">
              <a:ext uri="{FF2B5EF4-FFF2-40B4-BE49-F238E27FC236}">
                <a16:creationId xmlns:a16="http://schemas.microsoft.com/office/drawing/2014/main" id="{289549D4-2E6A-4B01-AA76-5A477F2E2285}"/>
              </a:ext>
            </a:extLst>
          </p:cNvPr>
          <p:cNvSpPr>
            <a:spLocks xmlns:a="http://schemas.openxmlformats.org/drawingml/2006/main" noGrp="1"/>
          </p:cNvSpPr>
          <p:nvPr/>
        </p:nvSpPr>
        <p:spPr>
          <a:xfrm xmlns:a="http://schemas.openxmlformats.org/drawingml/2006/main">
            <a:off x="762000" y="3390900"/>
            <a:ext cx="5334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650" b="0">
                <a:solidFill>
                  <a:srgbClr val="536170"/>
                </a:solidFill>
                <a:latin typeface="Arial"/>
                <a:ea typeface="Arial"/>
                <a:cs typeface="Arial"/>
              </a:defRPr>
            </a:defPPr>
            <a:lvl1pPr>
              <a:defRPr sz="1650" b="0">
                <a:solidFill>
                  <a:srgbClr val="536170"/>
                </a:solidFill>
                <a:latin typeface="Arial"/>
                <a:ea typeface="Arial"/>
                <a:cs typeface="Arial"/>
              </a:defRPr>
            </a:lvl1pPr>
            <a:lvl2pPr>
              <a:defRPr sz="1650" b="0">
                <a:solidFill>
                  <a:srgbClr val="536170"/>
                </a:solidFill>
                <a:latin typeface="Arial"/>
                <a:ea typeface="Arial"/>
                <a:cs typeface="Arial"/>
              </a:defRPr>
            </a:lvl2pPr>
            <a:lvl3pPr>
              <a:defRPr sz="1650" b="0">
                <a:solidFill>
                  <a:srgbClr val="536170"/>
                </a:solidFill>
                <a:latin typeface="Arial"/>
                <a:ea typeface="Arial"/>
                <a:cs typeface="Arial"/>
              </a:defRPr>
            </a:lvl3pPr>
            <a:lvl4pPr>
              <a:defRPr sz="1650" b="0">
                <a:solidFill>
                  <a:srgbClr val="536170"/>
                </a:solidFill>
                <a:latin typeface="Arial"/>
                <a:ea typeface="Arial"/>
                <a:cs typeface="Arial"/>
              </a:defRPr>
            </a:lvl4pPr>
            <a:lvl5pPr>
              <a:defRPr sz="1650" b="0">
                <a:solidFill>
                  <a:srgbClr val="536170"/>
                </a:solidFill>
                <a:latin typeface="Arial"/>
                <a:ea typeface="Arial"/>
                <a:cs typeface="Arial"/>
              </a:defRPr>
            </a:lvl5pPr>
            <a:lvl6pPr>
              <a:defRPr sz="1650" b="0">
                <a:solidFill>
                  <a:srgbClr val="536170"/>
                </a:solidFill>
                <a:latin typeface="Arial"/>
                <a:ea typeface="Arial"/>
                <a:cs typeface="Arial"/>
              </a:defRPr>
            </a:lvl6pPr>
            <a:lvl7pPr>
              <a:defRPr sz="1650" b="0">
                <a:solidFill>
                  <a:srgbClr val="536170"/>
                </a:solidFill>
                <a:latin typeface="Arial"/>
                <a:ea typeface="Arial"/>
                <a:cs typeface="Arial"/>
              </a:defRPr>
            </a:lvl7pPr>
            <a:lvl8pPr>
              <a:defRPr sz="1650" b="0">
                <a:solidFill>
                  <a:srgbClr val="536170"/>
                </a:solidFill>
                <a:latin typeface="Arial"/>
                <a:ea typeface="Arial"/>
                <a:cs typeface="Arial"/>
              </a:defRPr>
            </a:lvl8pPr>
            <a:lvl9pPr>
              <a:defRPr sz="1650" b="0">
                <a:solidFill>
                  <a:srgbClr val="536170"/>
                </a:solidFill>
                <a:latin typeface="Arial"/>
                <a:ea typeface="Arial"/>
                <a:cs typeface="Arial"/>
              </a:defRPr>
            </a:lvl9pPr>
          </a:lstStyle>
          <a:p xmlns:a="http://schemas.openxmlformats.org/drawingml/2006/main">
            <a:pPr>
              <a:buNone/>
              <a:defRPr sz="1650" b="0">
                <a:solidFill>
                  <a:srgbClr val="536170"/>
                </a:solidFill>
                <a:latin typeface="Arial"/>
                <a:ea typeface="Arial"/>
                <a:cs typeface="Arial"/>
              </a:defRPr>
            </a:pPr>
            <a:r>
              <a:rPr sz="1650" b="0">
                <a:solidFill>
                  <a:srgbClr val="536170"/>
                </a:solidFill>
                <a:latin typeface="Arial"/>
                <a:ea typeface="Arial"/>
                <a:cs typeface="Arial"/>
              </a:rPr>
              <a:t>The prototype loads research data, builds shopper and item queues, shows purchase evidence, and accepts merchant CSVs.</a:t>
            </a:r>
          </a:p>
        </p:txBody>
      </p:sp>
      <p:sp>
        <p:nvSpPr>
          <p:cNvPr id="7" name="Straight Connector 6">
            <a:extLst xmlns:a="http://schemas.openxmlformats.org/drawingml/2006/main">
              <a:ext uri="{FF2B5EF4-FFF2-40B4-BE49-F238E27FC236}">
                <a16:creationId xmlns:a16="http://schemas.microsoft.com/office/drawing/2014/main" id="{BF42A78F-847A-452A-B895-BA84CA6D017B}"/>
              </a:ext>
            </a:extLst>
          </p:cNvPr>
          <p:cNvSpPr>
            <a:spLocks xmlns:a="http://schemas.openxmlformats.org/drawingml/2006/main" noGrp="1"/>
          </p:cNvSpPr>
          <p:nvPr/>
        </p:nvSpPr>
        <p:spPr>
          <a:xfrm xmlns:a="http://schemas.openxmlformats.org/drawingml/2006/main">
            <a:off x="6572250" y="2019300"/>
            <a:ext cx="9525" cy="0"/>
          </a:xfrm>
          <a:prstGeom xmlns:a="http://schemas.openxmlformats.org/drawingml/2006/main" prst="line">
            <a:avLst/>
          </a:prstGeom>
          <a:ln xmlns:a="http://schemas.openxmlformats.org/drawingml/2006/main" w="9525">
            <a:solidFill>
              <a:srgbClr val="CFD6E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F2426AB7-F4B1-47E3-8F02-4F396AC116AD}"/>
              </a:ext>
            </a:extLst>
          </p:cNvPr>
          <p:cNvSpPr>
            <a:spLocks xmlns:a="http://schemas.openxmlformats.org/drawingml/2006/main" noGrp="1"/>
          </p:cNvSpPr>
          <p:nvPr/>
        </p:nvSpPr>
        <p:spPr>
          <a:xfrm xmlns:a="http://schemas.openxmlformats.org/drawingml/2006/main">
            <a:off x="7048500" y="20193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287A63"/>
                </a:solidFill>
                <a:latin typeface="Arial"/>
                <a:ea typeface="Arial"/>
                <a:cs typeface="Arial"/>
              </a:defRPr>
            </a:defPPr>
            <a:lvl1pPr>
              <a:defRPr sz="1125" b="1">
                <a:solidFill>
                  <a:srgbClr val="287A63"/>
                </a:solidFill>
                <a:latin typeface="Arial"/>
                <a:ea typeface="Arial"/>
                <a:cs typeface="Arial"/>
              </a:defRPr>
            </a:lvl1pPr>
            <a:lvl2pPr>
              <a:defRPr sz="1125" b="1">
                <a:solidFill>
                  <a:srgbClr val="287A63"/>
                </a:solidFill>
                <a:latin typeface="Arial"/>
                <a:ea typeface="Arial"/>
                <a:cs typeface="Arial"/>
              </a:defRPr>
            </a:lvl2pPr>
            <a:lvl3pPr>
              <a:defRPr sz="1125" b="1">
                <a:solidFill>
                  <a:srgbClr val="287A63"/>
                </a:solidFill>
                <a:latin typeface="Arial"/>
                <a:ea typeface="Arial"/>
                <a:cs typeface="Arial"/>
              </a:defRPr>
            </a:lvl3pPr>
            <a:lvl4pPr>
              <a:defRPr sz="1125" b="1">
                <a:solidFill>
                  <a:srgbClr val="287A63"/>
                </a:solidFill>
                <a:latin typeface="Arial"/>
                <a:ea typeface="Arial"/>
                <a:cs typeface="Arial"/>
              </a:defRPr>
            </a:lvl4pPr>
            <a:lvl5pPr>
              <a:defRPr sz="1125" b="1">
                <a:solidFill>
                  <a:srgbClr val="287A63"/>
                </a:solidFill>
                <a:latin typeface="Arial"/>
                <a:ea typeface="Arial"/>
                <a:cs typeface="Arial"/>
              </a:defRPr>
            </a:lvl5pPr>
            <a:lvl6pPr>
              <a:defRPr sz="1125" b="1">
                <a:solidFill>
                  <a:srgbClr val="287A63"/>
                </a:solidFill>
                <a:latin typeface="Arial"/>
                <a:ea typeface="Arial"/>
                <a:cs typeface="Arial"/>
              </a:defRPr>
            </a:lvl6pPr>
            <a:lvl7pPr>
              <a:defRPr sz="1125" b="1">
                <a:solidFill>
                  <a:srgbClr val="287A63"/>
                </a:solidFill>
                <a:latin typeface="Arial"/>
                <a:ea typeface="Arial"/>
                <a:cs typeface="Arial"/>
              </a:defRPr>
            </a:lvl7pPr>
            <a:lvl8pPr>
              <a:defRPr sz="1125" b="1">
                <a:solidFill>
                  <a:srgbClr val="287A63"/>
                </a:solidFill>
                <a:latin typeface="Arial"/>
                <a:ea typeface="Arial"/>
                <a:cs typeface="Arial"/>
              </a:defRPr>
            </a:lvl8pPr>
            <a:lvl9pPr>
              <a:defRPr sz="1125" b="1">
                <a:solidFill>
                  <a:srgbClr val="287A63"/>
                </a:solidFill>
                <a:latin typeface="Arial"/>
                <a:ea typeface="Arial"/>
                <a:cs typeface="Arial"/>
              </a:defRPr>
            </a:lvl9pPr>
          </a:lstStyle>
          <a:p xmlns:a="http://schemas.openxmlformats.org/drawingml/2006/main">
            <a:pPr>
              <a:buNone/>
              <a:defRPr sz="1125" b="1">
                <a:solidFill>
                  <a:srgbClr val="287A63"/>
                </a:solidFill>
                <a:latin typeface="Arial"/>
                <a:ea typeface="Arial"/>
                <a:cs typeface="Arial"/>
              </a:defRPr>
            </a:pPr>
            <a:r>
              <a:rPr sz="1125" b="1">
                <a:solidFill>
                  <a:srgbClr val="287A63"/>
                </a:solidFill>
                <a:latin typeface="Arial"/>
                <a:ea typeface="Arial"/>
                <a:cs typeface="Arial"/>
              </a:rPr>
              <a:t>WHAT IT SHOWS</a:t>
            </a:r>
          </a:p>
        </p:txBody>
      </p:sp>
      <p:sp>
        <p:nvSpPr>
          <p:cNvPr id="9" name="Rectangle 8">
            <a:extLst xmlns:a="http://schemas.openxmlformats.org/drawingml/2006/main">
              <a:ext uri="{FF2B5EF4-FFF2-40B4-BE49-F238E27FC236}">
                <a16:creationId xmlns:a16="http://schemas.microsoft.com/office/drawing/2014/main" id="{9DABB3E0-5552-410D-886A-FE7F1518F422}"/>
              </a:ext>
            </a:extLst>
          </p:cNvPr>
          <p:cNvSpPr>
            <a:spLocks xmlns:a="http://schemas.openxmlformats.org/drawingml/2006/main" noGrp="1"/>
          </p:cNvSpPr>
          <p:nvPr/>
        </p:nvSpPr>
        <p:spPr>
          <a:xfrm xmlns:a="http://schemas.openxmlformats.org/drawingml/2006/main">
            <a:off x="7048500" y="2400300"/>
            <a:ext cx="3810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500" b="1">
                <a:solidFill>
                  <a:srgbClr val="16202B"/>
                </a:solidFill>
                <a:latin typeface="Arial"/>
                <a:ea typeface="Arial"/>
                <a:cs typeface="Arial"/>
              </a:defRPr>
            </a:defPPr>
            <a:lvl1pPr>
              <a:defRPr sz="1500" b="1">
                <a:solidFill>
                  <a:srgbClr val="16202B"/>
                </a:solidFill>
                <a:latin typeface="Arial"/>
                <a:ea typeface="Arial"/>
                <a:cs typeface="Arial"/>
              </a:defRPr>
            </a:lvl1pPr>
            <a:lvl2pPr>
              <a:defRPr sz="1500" b="1">
                <a:solidFill>
                  <a:srgbClr val="16202B"/>
                </a:solidFill>
                <a:latin typeface="Arial"/>
                <a:ea typeface="Arial"/>
                <a:cs typeface="Arial"/>
              </a:defRPr>
            </a:lvl2pPr>
            <a:lvl3pPr>
              <a:defRPr sz="1500" b="1">
                <a:solidFill>
                  <a:srgbClr val="16202B"/>
                </a:solidFill>
                <a:latin typeface="Arial"/>
                <a:ea typeface="Arial"/>
                <a:cs typeface="Arial"/>
              </a:defRPr>
            </a:lvl3pPr>
            <a:lvl4pPr>
              <a:defRPr sz="1500" b="1">
                <a:solidFill>
                  <a:srgbClr val="16202B"/>
                </a:solidFill>
                <a:latin typeface="Arial"/>
                <a:ea typeface="Arial"/>
                <a:cs typeface="Arial"/>
              </a:defRPr>
            </a:lvl4pPr>
            <a:lvl5pPr>
              <a:defRPr sz="1500" b="1">
                <a:solidFill>
                  <a:srgbClr val="16202B"/>
                </a:solidFill>
                <a:latin typeface="Arial"/>
                <a:ea typeface="Arial"/>
                <a:cs typeface="Arial"/>
              </a:defRPr>
            </a:lvl5pPr>
            <a:lvl6pPr>
              <a:defRPr sz="1500" b="1">
                <a:solidFill>
                  <a:srgbClr val="16202B"/>
                </a:solidFill>
                <a:latin typeface="Arial"/>
                <a:ea typeface="Arial"/>
                <a:cs typeface="Arial"/>
              </a:defRPr>
            </a:lvl6pPr>
            <a:lvl7pPr>
              <a:defRPr sz="1500" b="1">
                <a:solidFill>
                  <a:srgbClr val="16202B"/>
                </a:solidFill>
                <a:latin typeface="Arial"/>
                <a:ea typeface="Arial"/>
                <a:cs typeface="Arial"/>
              </a:defRPr>
            </a:lvl7pPr>
            <a:lvl8pPr>
              <a:defRPr sz="1500" b="1">
                <a:solidFill>
                  <a:srgbClr val="16202B"/>
                </a:solidFill>
                <a:latin typeface="Arial"/>
                <a:ea typeface="Arial"/>
                <a:cs typeface="Arial"/>
              </a:defRPr>
            </a:lvl8pPr>
            <a:lvl9pPr>
              <a:defRPr sz="1500" b="1">
                <a:solidFill>
                  <a:srgbClr val="16202B"/>
                </a:solidFill>
                <a:latin typeface="Arial"/>
                <a:ea typeface="Arial"/>
                <a:cs typeface="Arial"/>
              </a:defRPr>
            </a:lvl9pPr>
          </a:lstStyle>
          <a:p xmlns:a="http://schemas.openxmlformats.org/drawingml/2006/main">
            <a:pPr>
              <a:buNone/>
              <a:defRPr sz="1500" b="1">
                <a:solidFill>
                  <a:srgbClr val="16202B"/>
                </a:solidFill>
                <a:latin typeface="Arial"/>
                <a:ea typeface="Arial"/>
                <a:cs typeface="Arial"/>
              </a:defRPr>
            </a:pPr>
            <a:r>
              <a:rPr sz="1500" b="1">
                <a:solidFill>
                  <a:srgbClr val="16202B"/>
                </a:solidFill>
                <a:latin typeface="Arial"/>
                <a:ea typeface="Arial"/>
                <a:cs typeface="Arial"/>
              </a:rPr>
              <a:t>Personal cadence flags, item level counts, and evidence for merchant review.</a:t>
            </a:r>
          </a:p>
        </p:txBody>
      </p:sp>
      <p:sp>
        <p:nvSpPr>
          <p:cNvPr id="10" name="Rectangle 9">
            <a:extLst xmlns:a="http://schemas.openxmlformats.org/drawingml/2006/main">
              <a:ext uri="{FF2B5EF4-FFF2-40B4-BE49-F238E27FC236}">
                <a16:creationId xmlns:a16="http://schemas.microsoft.com/office/drawing/2014/main" id="{ABDBDFEB-5CA2-404A-B780-D7C68B3AA97B}"/>
              </a:ext>
            </a:extLst>
          </p:cNvPr>
          <p:cNvSpPr>
            <a:spLocks xmlns:a="http://schemas.openxmlformats.org/drawingml/2006/main" noGrp="1"/>
          </p:cNvSpPr>
          <p:nvPr/>
        </p:nvSpPr>
        <p:spPr>
          <a:xfrm xmlns:a="http://schemas.openxmlformats.org/drawingml/2006/main">
            <a:off x="7048500" y="36195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vl1pPr>
              <a:defRPr sz="1125" b="1">
                <a:solidFill>
                  <a:srgbClr val="315BCE"/>
                </a:solidFill>
                <a:latin typeface="Arial"/>
                <a:ea typeface="Arial"/>
                <a:cs typeface="Arial"/>
              </a:defRPr>
            </a:lvl1pPr>
            <a:lvl2pPr>
              <a:defRPr sz="1125" b="1">
                <a:solidFill>
                  <a:srgbClr val="315BCE"/>
                </a:solidFill>
                <a:latin typeface="Arial"/>
                <a:ea typeface="Arial"/>
                <a:cs typeface="Arial"/>
              </a:defRPr>
            </a:lvl2pPr>
            <a:lvl3pPr>
              <a:defRPr sz="1125" b="1">
                <a:solidFill>
                  <a:srgbClr val="315BCE"/>
                </a:solidFill>
                <a:latin typeface="Arial"/>
                <a:ea typeface="Arial"/>
                <a:cs typeface="Arial"/>
              </a:defRPr>
            </a:lvl3pPr>
            <a:lvl4pPr>
              <a:defRPr sz="1125" b="1">
                <a:solidFill>
                  <a:srgbClr val="315BCE"/>
                </a:solidFill>
                <a:latin typeface="Arial"/>
                <a:ea typeface="Arial"/>
                <a:cs typeface="Arial"/>
              </a:defRPr>
            </a:lvl4pPr>
            <a:lvl5pPr>
              <a:defRPr sz="1125" b="1">
                <a:solidFill>
                  <a:srgbClr val="315BCE"/>
                </a:solidFill>
                <a:latin typeface="Arial"/>
                <a:ea typeface="Arial"/>
                <a:cs typeface="Arial"/>
              </a:defRPr>
            </a:lvl5pPr>
            <a:lvl6pPr>
              <a:defRPr sz="1125" b="1">
                <a:solidFill>
                  <a:srgbClr val="315BCE"/>
                </a:solidFill>
                <a:latin typeface="Arial"/>
                <a:ea typeface="Arial"/>
                <a:cs typeface="Arial"/>
              </a:defRPr>
            </a:lvl6pPr>
            <a:lvl7pPr>
              <a:defRPr sz="1125" b="1">
                <a:solidFill>
                  <a:srgbClr val="315BCE"/>
                </a:solidFill>
                <a:latin typeface="Arial"/>
                <a:ea typeface="Arial"/>
                <a:cs typeface="Arial"/>
              </a:defRPr>
            </a:lvl7pPr>
            <a:lvl8pPr>
              <a:defRPr sz="1125" b="1">
                <a:solidFill>
                  <a:srgbClr val="315BCE"/>
                </a:solidFill>
                <a:latin typeface="Arial"/>
                <a:ea typeface="Arial"/>
                <a:cs typeface="Arial"/>
              </a:defRPr>
            </a:lvl8pPr>
            <a:lvl9pPr>
              <a:defRPr sz="1125" b="1">
                <a:solidFill>
                  <a:srgbClr val="315BCE"/>
                </a:solidFill>
                <a:latin typeface="Arial"/>
                <a:ea typeface="Arial"/>
                <a:cs typeface="Arial"/>
              </a:defRPr>
            </a:lvl9pPr>
          </a:lstStyle>
          <a:p xmlns:a="http://schemas.openxmlformats.org/drawingml/2006/main">
            <a:pPr>
              <a:buNone/>
              <a:defRPr sz="1125" b="1">
                <a:solidFill>
                  <a:srgbClr val="315BCE"/>
                </a:solidFill>
                <a:latin typeface="Arial"/>
                <a:ea typeface="Arial"/>
                <a:cs typeface="Arial"/>
              </a:defRPr>
            </a:pPr>
            <a:r>
              <a:rPr sz="1125" b="1">
                <a:solidFill>
                  <a:srgbClr val="315BCE"/>
                </a:solidFill>
                <a:latin typeface="Arial"/>
                <a:ea typeface="Arial"/>
                <a:cs typeface="Arial"/>
              </a:rPr>
              <a:t>EVIDENCE LIMITS</a:t>
            </a:r>
          </a:p>
        </p:txBody>
      </p:sp>
      <p:sp>
        <p:nvSpPr>
          <p:cNvPr id="11" name="Rectangle 10">
            <a:extLst xmlns:a="http://schemas.openxmlformats.org/drawingml/2006/main">
              <a:ext uri="{FF2B5EF4-FFF2-40B4-BE49-F238E27FC236}">
                <a16:creationId xmlns:a16="http://schemas.microsoft.com/office/drawing/2014/main" id="{8F0BD07C-45E0-4B0D-A06B-72994952CD6E}"/>
              </a:ext>
            </a:extLst>
          </p:cNvPr>
          <p:cNvSpPr>
            <a:spLocks xmlns:a="http://schemas.openxmlformats.org/drawingml/2006/main" noGrp="1"/>
          </p:cNvSpPr>
          <p:nvPr/>
        </p:nvSpPr>
        <p:spPr>
          <a:xfrm xmlns:a="http://schemas.openxmlformats.org/drawingml/2006/main">
            <a:off x="7048500" y="4000500"/>
            <a:ext cx="3810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500" b="1">
                <a:solidFill>
                  <a:srgbClr val="16202B"/>
                </a:solidFill>
                <a:latin typeface="Arial"/>
                <a:ea typeface="Arial"/>
                <a:cs typeface="Arial"/>
              </a:defRPr>
            </a:defPPr>
            <a:lvl1pPr>
              <a:defRPr sz="1500" b="1">
                <a:solidFill>
                  <a:srgbClr val="16202B"/>
                </a:solidFill>
                <a:latin typeface="Arial"/>
                <a:ea typeface="Arial"/>
                <a:cs typeface="Arial"/>
              </a:defRPr>
            </a:lvl1pPr>
            <a:lvl2pPr>
              <a:defRPr sz="1500" b="1">
                <a:solidFill>
                  <a:srgbClr val="16202B"/>
                </a:solidFill>
                <a:latin typeface="Arial"/>
                <a:ea typeface="Arial"/>
                <a:cs typeface="Arial"/>
              </a:defRPr>
            </a:lvl2pPr>
            <a:lvl3pPr>
              <a:defRPr sz="1500" b="1">
                <a:solidFill>
                  <a:srgbClr val="16202B"/>
                </a:solidFill>
                <a:latin typeface="Arial"/>
                <a:ea typeface="Arial"/>
                <a:cs typeface="Arial"/>
              </a:defRPr>
            </a:lvl3pPr>
            <a:lvl4pPr>
              <a:defRPr sz="1500" b="1">
                <a:solidFill>
                  <a:srgbClr val="16202B"/>
                </a:solidFill>
                <a:latin typeface="Arial"/>
                <a:ea typeface="Arial"/>
                <a:cs typeface="Arial"/>
              </a:defRPr>
            </a:lvl4pPr>
            <a:lvl5pPr>
              <a:defRPr sz="1500" b="1">
                <a:solidFill>
                  <a:srgbClr val="16202B"/>
                </a:solidFill>
                <a:latin typeface="Arial"/>
                <a:ea typeface="Arial"/>
                <a:cs typeface="Arial"/>
              </a:defRPr>
            </a:lvl5pPr>
            <a:lvl6pPr>
              <a:defRPr sz="1500" b="1">
                <a:solidFill>
                  <a:srgbClr val="16202B"/>
                </a:solidFill>
                <a:latin typeface="Arial"/>
                <a:ea typeface="Arial"/>
                <a:cs typeface="Arial"/>
              </a:defRPr>
            </a:lvl6pPr>
            <a:lvl7pPr>
              <a:defRPr sz="1500" b="1">
                <a:solidFill>
                  <a:srgbClr val="16202B"/>
                </a:solidFill>
                <a:latin typeface="Arial"/>
                <a:ea typeface="Arial"/>
                <a:cs typeface="Arial"/>
              </a:defRPr>
            </a:lvl7pPr>
            <a:lvl8pPr>
              <a:defRPr sz="1500" b="1">
                <a:solidFill>
                  <a:srgbClr val="16202B"/>
                </a:solidFill>
                <a:latin typeface="Arial"/>
                <a:ea typeface="Arial"/>
                <a:cs typeface="Arial"/>
              </a:defRPr>
            </a:lvl8pPr>
            <a:lvl9pPr>
              <a:defRPr sz="1500" b="1">
                <a:solidFill>
                  <a:srgbClr val="16202B"/>
                </a:solidFill>
                <a:latin typeface="Arial"/>
                <a:ea typeface="Arial"/>
                <a:cs typeface="Arial"/>
              </a:defRPr>
            </a:lvl9pPr>
          </a:lstStyle>
          <a:p xmlns:a="http://schemas.openxmlformats.org/drawingml/2006/main">
            <a:pPr>
              <a:buNone/>
              <a:defRPr sz="1500" b="1">
                <a:solidFill>
                  <a:srgbClr val="16202B"/>
                </a:solidFill>
                <a:latin typeface="Arial"/>
                <a:ea typeface="Arial"/>
                <a:cs typeface="Arial"/>
              </a:defRPr>
            </a:pPr>
            <a:r>
              <a:rPr sz="1500" b="1">
                <a:solidFill>
                  <a:srgbClr val="16202B"/>
                </a:solidFill>
                <a:latin typeface="Arial"/>
                <a:ea typeface="Arial"/>
                <a:cs typeface="Arial"/>
              </a:rPr>
              <a:t>Historical transactions; live merchant results and sales impact remain unmeasured.</a:t>
            </a:r>
          </a:p>
        </p:txBody>
      </p:sp>
      <p:sp>
        <p:nvSpPr>
          <p:cNvPr id="12" name="Rectangle 11">
            <a:extLst xmlns:a="http://schemas.openxmlformats.org/drawingml/2006/main">
              <a:ext uri="{FF2B5EF4-FFF2-40B4-BE49-F238E27FC236}">
                <a16:creationId xmlns:a16="http://schemas.microsoft.com/office/drawing/2014/main" id="{58DD9B29-91B1-427C-8869-B73545693B24}"/>
              </a:ext>
            </a:extLst>
          </p:cNvPr>
          <p:cNvSpPr>
            <a:spLocks xmlns:a="http://schemas.openxmlformats.org/drawingml/2006/main" noGrp="1"/>
          </p:cNvSpPr>
          <p:nvPr/>
        </p:nvSpPr>
        <p:spPr>
          <a:xfrm xmlns:a="http://schemas.openxmlformats.org/drawingml/2006/main">
            <a:off x="762000" y="5753100"/>
            <a:ext cx="1028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050" b="0">
                <a:solidFill>
                  <a:srgbClr val="536170"/>
                </a:solidFill>
                <a:latin typeface="Arial"/>
                <a:ea typeface="Arial"/>
                <a:cs typeface="Arial"/>
              </a:defRPr>
            </a:defPPr>
            <a:lvl1pPr>
              <a:defRPr sz="1050" b="0">
                <a:solidFill>
                  <a:srgbClr val="536170"/>
                </a:solidFill>
                <a:latin typeface="Arial"/>
                <a:ea typeface="Arial"/>
                <a:cs typeface="Arial"/>
              </a:defRPr>
            </a:lvl1pPr>
            <a:lvl2pPr>
              <a:defRPr sz="1050" b="0">
                <a:solidFill>
                  <a:srgbClr val="536170"/>
                </a:solidFill>
                <a:latin typeface="Arial"/>
                <a:ea typeface="Arial"/>
                <a:cs typeface="Arial"/>
              </a:defRPr>
            </a:lvl2pPr>
            <a:lvl3pPr>
              <a:defRPr sz="1050" b="0">
                <a:solidFill>
                  <a:srgbClr val="536170"/>
                </a:solidFill>
                <a:latin typeface="Arial"/>
                <a:ea typeface="Arial"/>
                <a:cs typeface="Arial"/>
              </a:defRPr>
            </a:lvl3pPr>
            <a:lvl4pPr>
              <a:defRPr sz="1050" b="0">
                <a:solidFill>
                  <a:srgbClr val="536170"/>
                </a:solidFill>
                <a:latin typeface="Arial"/>
                <a:ea typeface="Arial"/>
                <a:cs typeface="Arial"/>
              </a:defRPr>
            </a:lvl4pPr>
            <a:lvl5pPr>
              <a:defRPr sz="1050" b="0">
                <a:solidFill>
                  <a:srgbClr val="536170"/>
                </a:solidFill>
                <a:latin typeface="Arial"/>
                <a:ea typeface="Arial"/>
                <a:cs typeface="Arial"/>
              </a:defRPr>
            </a:lvl5pPr>
            <a:lvl6pPr>
              <a:defRPr sz="1050" b="0">
                <a:solidFill>
                  <a:srgbClr val="536170"/>
                </a:solidFill>
                <a:latin typeface="Arial"/>
                <a:ea typeface="Arial"/>
                <a:cs typeface="Arial"/>
              </a:defRPr>
            </a:lvl6pPr>
            <a:lvl7pPr>
              <a:defRPr sz="1050" b="0">
                <a:solidFill>
                  <a:srgbClr val="536170"/>
                </a:solidFill>
                <a:latin typeface="Arial"/>
                <a:ea typeface="Arial"/>
                <a:cs typeface="Arial"/>
              </a:defRPr>
            </a:lvl7pPr>
            <a:lvl8pPr>
              <a:defRPr sz="1050" b="0">
                <a:solidFill>
                  <a:srgbClr val="536170"/>
                </a:solidFill>
                <a:latin typeface="Arial"/>
                <a:ea typeface="Arial"/>
                <a:cs typeface="Arial"/>
              </a:defRPr>
            </a:lvl8pPr>
            <a:lvl9pPr>
              <a:defRPr sz="1050" b="0">
                <a:solidFill>
                  <a:srgbClr val="536170"/>
                </a:solidFill>
                <a:latin typeface="Arial"/>
                <a:ea typeface="Arial"/>
                <a:cs typeface="Arial"/>
              </a:defRPr>
            </a:lvl9pPr>
          </a:lstStyle>
          <a:p xmlns:a="http://schemas.openxmlformats.org/drawingml/2006/main">
            <a:pPr>
              <a:buNone/>
              <a:defRPr sz="1050" b="0">
                <a:solidFill>
                  <a:srgbClr val="536170"/>
                </a:solidFill>
                <a:latin typeface="Arial"/>
                <a:ea typeface="Arial"/>
                <a:cs typeface="Arial"/>
              </a:defRPr>
            </a:pPr>
            <a:r>
              <a:rPr sz="1050" b="0">
                <a:solidFill>
                  <a:srgbClr val="536170"/>
                </a:solidFill>
                <a:latin typeface="Arial"/>
                <a:ea typeface="Arial"/>
                <a:cs typeface="Arial"/>
              </a:rPr>
              <a:t>Source: UCI Machine Learning Repository · Online Retail · Chen (2015) · DOI 10.24432/C5BW33 · CC BY 4.0</a:t>
            </a:r>
          </a:p>
        </p:txBody>
      </p:sp>
    </p:spTree>
    <p:extLst>
      <p:ext uri="{BB962C8B-B14F-4D97-AF65-F5344CB8AC3E}">
        <p14:creationId xmlns:p14="http://schemas.microsoft.com/office/powerpoint/2010/main" val="190204441"/>
      </p:ext>
    </p:extLst>
  </p:cSld>
</p:sld>
</file>

<file path=ppt/slides/slide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06F55AA3-CDEE-4582-A2F4-CFE4437DEF6B}"/>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050" b="1">
                <a:solidFill>
                  <a:srgbClr val="315BCE"/>
                </a:solidFill>
                <a:latin typeface="Arial"/>
                <a:ea typeface="Arial"/>
                <a:cs typeface="Arial"/>
              </a:defRPr>
            </a:defPPr>
            <a:lvl1pPr>
              <a:defRPr sz="1050" b="1">
                <a:solidFill>
                  <a:srgbClr val="315BCE"/>
                </a:solidFill>
                <a:latin typeface="Arial"/>
                <a:ea typeface="Arial"/>
                <a:cs typeface="Arial"/>
              </a:defRPr>
            </a:lvl1pPr>
            <a:lvl2pPr>
              <a:defRPr sz="1050" b="1">
                <a:solidFill>
                  <a:srgbClr val="315BCE"/>
                </a:solidFill>
                <a:latin typeface="Arial"/>
                <a:ea typeface="Arial"/>
                <a:cs typeface="Arial"/>
              </a:defRPr>
            </a:lvl2pPr>
            <a:lvl3pPr>
              <a:defRPr sz="1050" b="1">
                <a:solidFill>
                  <a:srgbClr val="315BCE"/>
                </a:solidFill>
                <a:latin typeface="Arial"/>
                <a:ea typeface="Arial"/>
                <a:cs typeface="Arial"/>
              </a:defRPr>
            </a:lvl3pPr>
            <a:lvl4pPr>
              <a:defRPr sz="1050" b="1">
                <a:solidFill>
                  <a:srgbClr val="315BCE"/>
                </a:solidFill>
                <a:latin typeface="Arial"/>
                <a:ea typeface="Arial"/>
                <a:cs typeface="Arial"/>
              </a:defRPr>
            </a:lvl4pPr>
            <a:lvl5pPr>
              <a:defRPr sz="1050" b="1">
                <a:solidFill>
                  <a:srgbClr val="315BCE"/>
                </a:solidFill>
                <a:latin typeface="Arial"/>
                <a:ea typeface="Arial"/>
                <a:cs typeface="Arial"/>
              </a:defRPr>
            </a:lvl5pPr>
            <a:lvl6pPr>
              <a:defRPr sz="1050" b="1">
                <a:solidFill>
                  <a:srgbClr val="315BCE"/>
                </a:solidFill>
                <a:latin typeface="Arial"/>
                <a:ea typeface="Arial"/>
                <a:cs typeface="Arial"/>
              </a:defRPr>
            </a:lvl6pPr>
            <a:lvl7pPr>
              <a:defRPr sz="1050" b="1">
                <a:solidFill>
                  <a:srgbClr val="315BCE"/>
                </a:solidFill>
                <a:latin typeface="Arial"/>
                <a:ea typeface="Arial"/>
                <a:cs typeface="Arial"/>
              </a:defRPr>
            </a:lvl7pPr>
            <a:lvl8pPr>
              <a:defRPr sz="1050" b="1">
                <a:solidFill>
                  <a:srgbClr val="315BCE"/>
                </a:solidFill>
                <a:latin typeface="Arial"/>
                <a:ea typeface="Arial"/>
                <a:cs typeface="Arial"/>
              </a:defRPr>
            </a:lvl8pPr>
            <a:lvl9pPr>
              <a:defRPr sz="1050" b="1">
                <a:solidFill>
                  <a:srgbClr val="315BCE"/>
                </a:solidFill>
                <a:latin typeface="Arial"/>
                <a:ea typeface="Arial"/>
                <a:cs typeface="Arial"/>
              </a:defRPr>
            </a:lvl9pPr>
          </a:lstStyle>
          <a:p xmlns:a="http://schemas.openxmlformats.org/drawingml/2006/main">
            <a:pPr>
              <a:buNone/>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Rectangle 1">
            <a:extLst xmlns:a="http://schemas.openxmlformats.org/drawingml/2006/main">
              <a:ext uri="{FF2B5EF4-FFF2-40B4-BE49-F238E27FC236}">
                <a16:creationId xmlns:a16="http://schemas.microsoft.com/office/drawing/2014/main" id="{FD63F2CF-6AA5-4864-BECB-3F176C3D3268}"/>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3000" b="1">
                <a:solidFill>
                  <a:srgbClr val="16202B"/>
                </a:solidFill>
                <a:latin typeface="Arial"/>
                <a:ea typeface="Arial"/>
                <a:cs typeface="Arial"/>
              </a:defRPr>
            </a:defPPr>
            <a:lvl1pPr>
              <a:defRPr sz="3000" b="1">
                <a:solidFill>
                  <a:srgbClr val="16202B"/>
                </a:solidFill>
                <a:latin typeface="Arial"/>
                <a:ea typeface="Arial"/>
                <a:cs typeface="Arial"/>
              </a:defRPr>
            </a:lvl1pPr>
            <a:lvl2pPr>
              <a:defRPr sz="3000" b="1">
                <a:solidFill>
                  <a:srgbClr val="16202B"/>
                </a:solidFill>
                <a:latin typeface="Arial"/>
                <a:ea typeface="Arial"/>
                <a:cs typeface="Arial"/>
              </a:defRPr>
            </a:lvl2pPr>
            <a:lvl3pPr>
              <a:defRPr sz="3000" b="1">
                <a:solidFill>
                  <a:srgbClr val="16202B"/>
                </a:solidFill>
                <a:latin typeface="Arial"/>
                <a:ea typeface="Arial"/>
                <a:cs typeface="Arial"/>
              </a:defRPr>
            </a:lvl3pPr>
            <a:lvl4pPr>
              <a:defRPr sz="3000" b="1">
                <a:solidFill>
                  <a:srgbClr val="16202B"/>
                </a:solidFill>
                <a:latin typeface="Arial"/>
                <a:ea typeface="Arial"/>
                <a:cs typeface="Arial"/>
              </a:defRPr>
            </a:lvl4pPr>
            <a:lvl5pPr>
              <a:defRPr sz="3000" b="1">
                <a:solidFill>
                  <a:srgbClr val="16202B"/>
                </a:solidFill>
                <a:latin typeface="Arial"/>
                <a:ea typeface="Arial"/>
                <a:cs typeface="Arial"/>
              </a:defRPr>
            </a:lvl5pPr>
            <a:lvl6pPr>
              <a:defRPr sz="3000" b="1">
                <a:solidFill>
                  <a:srgbClr val="16202B"/>
                </a:solidFill>
                <a:latin typeface="Arial"/>
                <a:ea typeface="Arial"/>
                <a:cs typeface="Arial"/>
              </a:defRPr>
            </a:lvl6pPr>
            <a:lvl7pPr>
              <a:defRPr sz="3000" b="1">
                <a:solidFill>
                  <a:srgbClr val="16202B"/>
                </a:solidFill>
                <a:latin typeface="Arial"/>
                <a:ea typeface="Arial"/>
                <a:cs typeface="Arial"/>
              </a:defRPr>
            </a:lvl7pPr>
            <a:lvl8pPr>
              <a:defRPr sz="3000" b="1">
                <a:solidFill>
                  <a:srgbClr val="16202B"/>
                </a:solidFill>
                <a:latin typeface="Arial"/>
                <a:ea typeface="Arial"/>
                <a:cs typeface="Arial"/>
              </a:defRPr>
            </a:lvl8pPr>
            <a:lvl9pPr>
              <a:defRPr sz="3000" b="1">
                <a:solidFill>
                  <a:srgbClr val="16202B"/>
                </a:solidFill>
                <a:latin typeface="Arial"/>
                <a:ea typeface="Arial"/>
                <a:cs typeface="Arial"/>
              </a:defRPr>
            </a:lvl9pPr>
          </a:lstStyle>
          <a:p xmlns:a="http://schemas.openxmlformats.org/drawingml/2006/main">
            <a:pPr>
              <a:buNone/>
              <a:defRPr sz="3000" b="1">
                <a:solidFill>
                  <a:srgbClr val="16202B"/>
                </a:solidFill>
                <a:latin typeface="Arial"/>
                <a:ea typeface="Arial"/>
                <a:cs typeface="Arial"/>
              </a:defRPr>
            </a:pPr>
            <a:r>
              <a:rPr sz="3000" b="1">
                <a:solidFill>
                  <a:srgbClr val="16202B"/>
                </a:solidFill>
                <a:latin typeface="Arial"/>
                <a:ea typeface="Arial"/>
                <a:cs typeface="Arial"/>
              </a:rPr>
              <a:t>Item watchlist for merchant review</a:t>
            </a:r>
          </a:p>
        </p:txBody>
      </p:sp>
      <p:sp>
        <p:nvSpPr>
          <p:cNvPr id="3" name="Rectangle 2">
            <a:extLst xmlns:a="http://schemas.openxmlformats.org/drawingml/2006/main">
              <a:ext uri="{FF2B5EF4-FFF2-40B4-BE49-F238E27FC236}">
                <a16:creationId xmlns:a16="http://schemas.microsoft.com/office/drawing/2014/main" id="{C137C7E8-4BE6-410B-8D94-F1660933A5C8}"/>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r">
              <a:defRPr sz="1050" b="1">
                <a:solidFill>
                  <a:srgbClr val="536170"/>
                </a:solidFill>
                <a:latin typeface="Arial"/>
                <a:ea typeface="Arial"/>
                <a:cs typeface="Arial"/>
              </a:defRPr>
            </a:defPPr>
            <a:lvl1pPr algn="r">
              <a:defRPr sz="1050" b="1">
                <a:solidFill>
                  <a:srgbClr val="536170"/>
                </a:solidFill>
                <a:latin typeface="Arial"/>
                <a:ea typeface="Arial"/>
                <a:cs typeface="Arial"/>
              </a:defRPr>
            </a:lvl1pPr>
            <a:lvl2pPr algn="r">
              <a:defRPr sz="1050" b="1">
                <a:solidFill>
                  <a:srgbClr val="536170"/>
                </a:solidFill>
                <a:latin typeface="Arial"/>
                <a:ea typeface="Arial"/>
                <a:cs typeface="Arial"/>
              </a:defRPr>
            </a:lvl2pPr>
            <a:lvl3pPr algn="r">
              <a:defRPr sz="1050" b="1">
                <a:solidFill>
                  <a:srgbClr val="536170"/>
                </a:solidFill>
                <a:latin typeface="Arial"/>
                <a:ea typeface="Arial"/>
                <a:cs typeface="Arial"/>
              </a:defRPr>
            </a:lvl3pPr>
            <a:lvl4pPr algn="r">
              <a:defRPr sz="1050" b="1">
                <a:solidFill>
                  <a:srgbClr val="536170"/>
                </a:solidFill>
                <a:latin typeface="Arial"/>
                <a:ea typeface="Arial"/>
                <a:cs typeface="Arial"/>
              </a:defRPr>
            </a:lvl4pPr>
            <a:lvl5pPr algn="r">
              <a:defRPr sz="1050" b="1">
                <a:solidFill>
                  <a:srgbClr val="536170"/>
                </a:solidFill>
                <a:latin typeface="Arial"/>
                <a:ea typeface="Arial"/>
                <a:cs typeface="Arial"/>
              </a:defRPr>
            </a:lvl5pPr>
            <a:lvl6pPr algn="r">
              <a:defRPr sz="1050" b="1">
                <a:solidFill>
                  <a:srgbClr val="536170"/>
                </a:solidFill>
                <a:latin typeface="Arial"/>
                <a:ea typeface="Arial"/>
                <a:cs typeface="Arial"/>
              </a:defRPr>
            </a:lvl6pPr>
            <a:lvl7pPr algn="r">
              <a:defRPr sz="1050" b="1">
                <a:solidFill>
                  <a:srgbClr val="536170"/>
                </a:solidFill>
                <a:latin typeface="Arial"/>
                <a:ea typeface="Arial"/>
                <a:cs typeface="Arial"/>
              </a:defRPr>
            </a:lvl7pPr>
            <a:lvl8pPr algn="r">
              <a:defRPr sz="1050" b="1">
                <a:solidFill>
                  <a:srgbClr val="536170"/>
                </a:solidFill>
                <a:latin typeface="Arial"/>
                <a:ea typeface="Arial"/>
                <a:cs typeface="Arial"/>
              </a:defRPr>
            </a:lvl8pPr>
            <a:lvl9pPr algn="r">
              <a:defRPr sz="1050" b="1">
                <a:solidFill>
                  <a:srgbClr val="536170"/>
                </a:solidFill>
                <a:latin typeface="Arial"/>
                <a:ea typeface="Arial"/>
                <a:cs typeface="Arial"/>
              </a:defRPr>
            </a:lvl9pPr>
          </a:lstStyle>
          <a:p xmlns:a="http://schemas.openxmlformats.org/drawingml/2006/main">
            <a:pPr algn="r">
              <a:buNone/>
              <a:defRPr sz="1050" b="1">
                <a:solidFill>
                  <a:srgbClr val="536170"/>
                </a:solidFill>
                <a:latin typeface="Arial"/>
                <a:ea typeface="Arial"/>
                <a:cs typeface="Arial"/>
              </a:defRPr>
            </a:pPr>
            <a:r>
              <a:rPr sz="1050" b="1">
                <a:solidFill>
                  <a:srgbClr val="536170"/>
                </a:solidFill>
                <a:latin typeface="Arial"/>
                <a:ea typeface="Arial"/>
                <a:cs typeface="Arial"/>
              </a:rPr>
              <a:t>06</a:t>
            </a:r>
          </a:p>
        </p:txBody>
      </p:sp>
      <p:sp>
        <p:nvSpPr>
          <p:cNvPr id="4" name="Rectangle 3">
            <a:extLst xmlns:a="http://schemas.openxmlformats.org/drawingml/2006/main">
              <a:ext uri="{FF2B5EF4-FFF2-40B4-BE49-F238E27FC236}">
                <a16:creationId xmlns:a16="http://schemas.microsoft.com/office/drawing/2014/main" id="{633BCC82-9C56-4FE4-81B7-0A0B37AC06D1}"/>
              </a:ext>
            </a:extLst>
          </p:cNvPr>
          <p:cNvSpPr>
            <a:spLocks xmlns:a="http://schemas.openxmlformats.org/drawingml/2006/main" noGrp="1"/>
          </p:cNvSpPr>
          <p:nvPr/>
        </p:nvSpPr>
        <p:spPr>
          <a:xfrm xmlns:a="http://schemas.openxmlformats.org/drawingml/2006/main">
            <a:off x="762000" y="19621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vl1pPr>
              <a:defRPr sz="1125" b="1">
                <a:solidFill>
                  <a:srgbClr val="315BCE"/>
                </a:solidFill>
                <a:latin typeface="Arial"/>
                <a:ea typeface="Arial"/>
                <a:cs typeface="Arial"/>
              </a:defRPr>
            </a:lvl1pPr>
            <a:lvl2pPr>
              <a:defRPr sz="1125" b="1">
                <a:solidFill>
                  <a:srgbClr val="315BCE"/>
                </a:solidFill>
                <a:latin typeface="Arial"/>
                <a:ea typeface="Arial"/>
                <a:cs typeface="Arial"/>
              </a:defRPr>
            </a:lvl2pPr>
            <a:lvl3pPr>
              <a:defRPr sz="1125" b="1">
                <a:solidFill>
                  <a:srgbClr val="315BCE"/>
                </a:solidFill>
                <a:latin typeface="Arial"/>
                <a:ea typeface="Arial"/>
                <a:cs typeface="Arial"/>
              </a:defRPr>
            </a:lvl3pPr>
            <a:lvl4pPr>
              <a:defRPr sz="1125" b="1">
                <a:solidFill>
                  <a:srgbClr val="315BCE"/>
                </a:solidFill>
                <a:latin typeface="Arial"/>
                <a:ea typeface="Arial"/>
                <a:cs typeface="Arial"/>
              </a:defRPr>
            </a:lvl4pPr>
            <a:lvl5pPr>
              <a:defRPr sz="1125" b="1">
                <a:solidFill>
                  <a:srgbClr val="315BCE"/>
                </a:solidFill>
                <a:latin typeface="Arial"/>
                <a:ea typeface="Arial"/>
                <a:cs typeface="Arial"/>
              </a:defRPr>
            </a:lvl5pPr>
            <a:lvl6pPr>
              <a:defRPr sz="1125" b="1">
                <a:solidFill>
                  <a:srgbClr val="315BCE"/>
                </a:solidFill>
                <a:latin typeface="Arial"/>
                <a:ea typeface="Arial"/>
                <a:cs typeface="Arial"/>
              </a:defRPr>
            </a:lvl6pPr>
            <a:lvl7pPr>
              <a:defRPr sz="1125" b="1">
                <a:solidFill>
                  <a:srgbClr val="315BCE"/>
                </a:solidFill>
                <a:latin typeface="Arial"/>
                <a:ea typeface="Arial"/>
                <a:cs typeface="Arial"/>
              </a:defRPr>
            </a:lvl7pPr>
            <a:lvl8pPr>
              <a:defRPr sz="1125" b="1">
                <a:solidFill>
                  <a:srgbClr val="315BCE"/>
                </a:solidFill>
                <a:latin typeface="Arial"/>
                <a:ea typeface="Arial"/>
                <a:cs typeface="Arial"/>
              </a:defRPr>
            </a:lvl8pPr>
            <a:lvl9pPr>
              <a:defRPr sz="1125" b="1">
                <a:solidFill>
                  <a:srgbClr val="315BCE"/>
                </a:solidFill>
                <a:latin typeface="Arial"/>
                <a:ea typeface="Arial"/>
                <a:cs typeface="Arial"/>
              </a:defRPr>
            </a:lvl9pPr>
          </a:lstStyle>
          <a:p xmlns:a="http://schemas.openxmlformats.org/drawingml/2006/main">
            <a:pPr>
              <a:buNone/>
              <a:defRPr sz="1125" b="1">
                <a:solidFill>
                  <a:srgbClr val="315BCE"/>
                </a:solidFill>
                <a:latin typeface="Arial"/>
                <a:ea typeface="Arial"/>
                <a:cs typeface="Arial"/>
              </a:defRPr>
            </a:pPr>
            <a:r>
              <a:rPr sz="1125" b="1">
                <a:solidFill>
                  <a:srgbClr val="315BCE"/>
                </a:solidFill>
                <a:latin typeface="Arial"/>
                <a:ea typeface="Arial"/>
                <a:cs typeface="Arial"/>
              </a:rPr>
              <a:t>ITEM SIGNAL</a:t>
            </a:r>
          </a:p>
        </p:txBody>
      </p:sp>
      <p:sp>
        <p:nvSpPr>
          <p:cNvPr id="5" name="Rectangle 4">
            <a:extLst xmlns:a="http://schemas.openxmlformats.org/drawingml/2006/main">
              <a:ext uri="{FF2B5EF4-FFF2-40B4-BE49-F238E27FC236}">
                <a16:creationId xmlns:a16="http://schemas.microsoft.com/office/drawing/2014/main" id="{4D4A667A-998F-4224-BE30-9B4FF8B28FD5}"/>
              </a:ext>
            </a:extLst>
          </p:cNvPr>
          <p:cNvSpPr>
            <a:spLocks xmlns:a="http://schemas.openxmlformats.org/drawingml/2006/main" noGrp="1"/>
          </p:cNvSpPr>
          <p:nvPr/>
        </p:nvSpPr>
        <p:spPr>
          <a:xfrm xmlns:a="http://schemas.openxmlformats.org/drawingml/2006/main">
            <a:off x="762000" y="2343150"/>
            <a:ext cx="4572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5238"/>
          </a:bodyPr>
          <a:lstStyle xmlns:a="http://schemas.openxmlformats.org/drawingml/2006/main">
            <a:defPPr>
              <a:defRPr sz="2100" b="1">
                <a:solidFill>
                  <a:srgbClr val="16202B"/>
                </a:solidFill>
                <a:latin typeface="Arial"/>
                <a:ea typeface="Arial"/>
                <a:cs typeface="Arial"/>
              </a:defRPr>
            </a:defPPr>
            <a:lvl1pPr>
              <a:defRPr sz="2100" b="1">
                <a:solidFill>
                  <a:srgbClr val="16202B"/>
                </a:solidFill>
                <a:latin typeface="Arial"/>
                <a:ea typeface="Arial"/>
                <a:cs typeface="Arial"/>
              </a:defRPr>
            </a:lvl1pPr>
            <a:lvl2pPr>
              <a:defRPr sz="2100" b="1">
                <a:solidFill>
                  <a:srgbClr val="16202B"/>
                </a:solidFill>
                <a:latin typeface="Arial"/>
                <a:ea typeface="Arial"/>
                <a:cs typeface="Arial"/>
              </a:defRPr>
            </a:lvl2pPr>
            <a:lvl3pPr>
              <a:defRPr sz="2100" b="1">
                <a:solidFill>
                  <a:srgbClr val="16202B"/>
                </a:solidFill>
                <a:latin typeface="Arial"/>
                <a:ea typeface="Arial"/>
                <a:cs typeface="Arial"/>
              </a:defRPr>
            </a:lvl3pPr>
            <a:lvl4pPr>
              <a:defRPr sz="2100" b="1">
                <a:solidFill>
                  <a:srgbClr val="16202B"/>
                </a:solidFill>
                <a:latin typeface="Arial"/>
                <a:ea typeface="Arial"/>
                <a:cs typeface="Arial"/>
              </a:defRPr>
            </a:lvl4pPr>
            <a:lvl5pPr>
              <a:defRPr sz="2100" b="1">
                <a:solidFill>
                  <a:srgbClr val="16202B"/>
                </a:solidFill>
                <a:latin typeface="Arial"/>
                <a:ea typeface="Arial"/>
                <a:cs typeface="Arial"/>
              </a:defRPr>
            </a:lvl5pPr>
            <a:lvl6pPr>
              <a:defRPr sz="2100" b="1">
                <a:solidFill>
                  <a:srgbClr val="16202B"/>
                </a:solidFill>
                <a:latin typeface="Arial"/>
                <a:ea typeface="Arial"/>
                <a:cs typeface="Arial"/>
              </a:defRPr>
            </a:lvl6pPr>
            <a:lvl7pPr>
              <a:defRPr sz="2100" b="1">
                <a:solidFill>
                  <a:srgbClr val="16202B"/>
                </a:solidFill>
                <a:latin typeface="Arial"/>
                <a:ea typeface="Arial"/>
                <a:cs typeface="Arial"/>
              </a:defRPr>
            </a:lvl7pPr>
            <a:lvl8pPr>
              <a:defRPr sz="2100" b="1">
                <a:solidFill>
                  <a:srgbClr val="16202B"/>
                </a:solidFill>
                <a:latin typeface="Arial"/>
                <a:ea typeface="Arial"/>
                <a:cs typeface="Arial"/>
              </a:defRPr>
            </a:lvl8pPr>
            <a:lvl9pPr>
              <a:defRPr sz="2100" b="1">
                <a:solidFill>
                  <a:srgbClr val="16202B"/>
                </a:solidFill>
                <a:latin typeface="Arial"/>
                <a:ea typeface="Arial"/>
                <a:cs typeface="Arial"/>
              </a:defRPr>
            </a:lvl9pPr>
          </a:lstStyle>
          <a:p xmlns:a="http://schemas.openxmlformats.org/drawingml/2006/main">
            <a:pPr>
              <a:buNone/>
              <a:defRPr sz="2100" b="1">
                <a:solidFill>
                  <a:srgbClr val="16202B"/>
                </a:solidFill>
                <a:latin typeface="Arial"/>
                <a:ea typeface="Arial"/>
                <a:cs typeface="Arial"/>
              </a:defRPr>
            </a:pPr>
            <a:r>
              <a:rPr sz="2100" b="1">
                <a:solidFill>
                  <a:srgbClr val="16202B"/>
                </a:solidFill>
                <a:latin typeface="Arial"/>
                <a:ea typeface="Arial"/>
                <a:cs typeface="Arial"/>
              </a:rPr>
              <a:t>Rank repeat items with overdue shoppers.</a:t>
            </a:r>
          </a:p>
        </p:txBody>
      </p:sp>
      <p:sp>
        <p:nvSpPr>
          <p:cNvPr id="6" name="Rectangle 5">
            <a:extLst xmlns:a="http://schemas.openxmlformats.org/drawingml/2006/main">
              <a:ext uri="{FF2B5EF4-FFF2-40B4-BE49-F238E27FC236}">
                <a16:creationId xmlns:a16="http://schemas.microsoft.com/office/drawing/2014/main" id="{57089AAE-3B60-4091-B031-57A8DA488353}"/>
              </a:ext>
            </a:extLst>
          </p:cNvPr>
          <p:cNvSpPr>
            <a:spLocks xmlns:a="http://schemas.openxmlformats.org/drawingml/2006/main" noGrp="1"/>
          </p:cNvSpPr>
          <p:nvPr/>
        </p:nvSpPr>
        <p:spPr>
          <a:xfrm xmlns:a="http://schemas.openxmlformats.org/drawingml/2006/main">
            <a:off x="762000" y="3162300"/>
            <a:ext cx="442912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725" b="0">
                <a:solidFill>
                  <a:srgbClr val="536170"/>
                </a:solidFill>
                <a:latin typeface="Arial"/>
                <a:ea typeface="Arial"/>
                <a:cs typeface="Arial"/>
              </a:defRPr>
            </a:defPPr>
            <a:lvl1pPr>
              <a:defRPr sz="1725" b="0">
                <a:solidFill>
                  <a:srgbClr val="536170"/>
                </a:solidFill>
                <a:latin typeface="Arial"/>
                <a:ea typeface="Arial"/>
                <a:cs typeface="Arial"/>
              </a:defRPr>
            </a:lvl1pPr>
            <a:lvl2pPr>
              <a:defRPr sz="1725" b="0">
                <a:solidFill>
                  <a:srgbClr val="536170"/>
                </a:solidFill>
                <a:latin typeface="Arial"/>
                <a:ea typeface="Arial"/>
                <a:cs typeface="Arial"/>
              </a:defRPr>
            </a:lvl2pPr>
            <a:lvl3pPr>
              <a:defRPr sz="1725" b="0">
                <a:solidFill>
                  <a:srgbClr val="536170"/>
                </a:solidFill>
                <a:latin typeface="Arial"/>
                <a:ea typeface="Arial"/>
                <a:cs typeface="Arial"/>
              </a:defRPr>
            </a:lvl3pPr>
            <a:lvl4pPr>
              <a:defRPr sz="1725" b="0">
                <a:solidFill>
                  <a:srgbClr val="536170"/>
                </a:solidFill>
                <a:latin typeface="Arial"/>
                <a:ea typeface="Arial"/>
                <a:cs typeface="Arial"/>
              </a:defRPr>
            </a:lvl4pPr>
            <a:lvl5pPr>
              <a:defRPr sz="1725" b="0">
                <a:solidFill>
                  <a:srgbClr val="536170"/>
                </a:solidFill>
                <a:latin typeface="Arial"/>
                <a:ea typeface="Arial"/>
                <a:cs typeface="Arial"/>
              </a:defRPr>
            </a:lvl5pPr>
            <a:lvl6pPr>
              <a:defRPr sz="1725" b="0">
                <a:solidFill>
                  <a:srgbClr val="536170"/>
                </a:solidFill>
                <a:latin typeface="Arial"/>
                <a:ea typeface="Arial"/>
                <a:cs typeface="Arial"/>
              </a:defRPr>
            </a:lvl6pPr>
            <a:lvl7pPr>
              <a:defRPr sz="1725" b="0">
                <a:solidFill>
                  <a:srgbClr val="536170"/>
                </a:solidFill>
                <a:latin typeface="Arial"/>
                <a:ea typeface="Arial"/>
                <a:cs typeface="Arial"/>
              </a:defRPr>
            </a:lvl7pPr>
            <a:lvl8pPr>
              <a:defRPr sz="1725" b="0">
                <a:solidFill>
                  <a:srgbClr val="536170"/>
                </a:solidFill>
                <a:latin typeface="Arial"/>
                <a:ea typeface="Arial"/>
                <a:cs typeface="Arial"/>
              </a:defRPr>
            </a:lvl8pPr>
            <a:lvl9pPr>
              <a:defRPr sz="1725" b="0">
                <a:solidFill>
                  <a:srgbClr val="536170"/>
                </a:solidFill>
                <a:latin typeface="Arial"/>
                <a:ea typeface="Arial"/>
                <a:cs typeface="Arial"/>
              </a:defRPr>
            </a:lvl9pPr>
          </a:lstStyle>
          <a:p xmlns:a="http://schemas.openxmlformats.org/drawingml/2006/main">
            <a:pPr>
              <a:buNone/>
              <a:defRPr sz="1725" b="0">
                <a:solidFill>
                  <a:srgbClr val="536170"/>
                </a:solidFill>
                <a:latin typeface="Arial"/>
                <a:ea typeface="Arial"/>
                <a:cs typeface="Arial"/>
              </a:defRPr>
            </a:pPr>
            <a:r>
              <a:rPr sz="1725" b="0">
                <a:solidFill>
                  <a:srgbClr val="536170"/>
                </a:solidFill>
                <a:latin typeface="Arial"/>
                <a:ea typeface="Arial"/>
                <a:cs typeface="Arial"/>
              </a:rPr>
              <a:t>Show the typical repeat interval and median lateness. Open matching shoppers to inspect their purchase evidence.</a:t>
            </a:r>
          </a:p>
        </p:txBody>
      </p:sp>
      <p:sp>
        <p:nvSpPr>
          <p:cNvPr id="7" name="Rectangle 6">
            <a:extLst xmlns:a="http://schemas.openxmlformats.org/drawingml/2006/main">
              <a:ext uri="{FF2B5EF4-FFF2-40B4-BE49-F238E27FC236}">
                <a16:creationId xmlns:a16="http://schemas.microsoft.com/office/drawing/2014/main" id="{FA8B0AEF-A310-4AC1-86F5-BF8C1C5B5641}"/>
              </a:ext>
            </a:extLst>
          </p:cNvPr>
          <p:cNvSpPr>
            <a:spLocks xmlns:a="http://schemas.openxmlformats.org/drawingml/2006/main" noGrp="1"/>
          </p:cNvSpPr>
          <p:nvPr/>
        </p:nvSpPr>
        <p:spPr>
          <a:xfrm xmlns:a="http://schemas.openxmlformats.org/drawingml/2006/main">
            <a:off x="6191250" y="19621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315BCE"/>
                </a:solidFill>
                <a:latin typeface="Arial"/>
                <a:ea typeface="Arial"/>
                <a:cs typeface="Arial"/>
              </a:defRPr>
            </a:defPPr>
            <a:lvl1pPr>
              <a:defRPr sz="1125" b="1">
                <a:solidFill>
                  <a:srgbClr val="315BCE"/>
                </a:solidFill>
                <a:latin typeface="Arial"/>
                <a:ea typeface="Arial"/>
                <a:cs typeface="Arial"/>
              </a:defRPr>
            </a:lvl1pPr>
            <a:lvl2pPr>
              <a:defRPr sz="1125" b="1">
                <a:solidFill>
                  <a:srgbClr val="315BCE"/>
                </a:solidFill>
                <a:latin typeface="Arial"/>
                <a:ea typeface="Arial"/>
                <a:cs typeface="Arial"/>
              </a:defRPr>
            </a:lvl2pPr>
            <a:lvl3pPr>
              <a:defRPr sz="1125" b="1">
                <a:solidFill>
                  <a:srgbClr val="315BCE"/>
                </a:solidFill>
                <a:latin typeface="Arial"/>
                <a:ea typeface="Arial"/>
                <a:cs typeface="Arial"/>
              </a:defRPr>
            </a:lvl3pPr>
            <a:lvl4pPr>
              <a:defRPr sz="1125" b="1">
                <a:solidFill>
                  <a:srgbClr val="315BCE"/>
                </a:solidFill>
                <a:latin typeface="Arial"/>
                <a:ea typeface="Arial"/>
                <a:cs typeface="Arial"/>
              </a:defRPr>
            </a:lvl4pPr>
            <a:lvl5pPr>
              <a:defRPr sz="1125" b="1">
                <a:solidFill>
                  <a:srgbClr val="315BCE"/>
                </a:solidFill>
                <a:latin typeface="Arial"/>
                <a:ea typeface="Arial"/>
                <a:cs typeface="Arial"/>
              </a:defRPr>
            </a:lvl5pPr>
            <a:lvl6pPr>
              <a:defRPr sz="1125" b="1">
                <a:solidFill>
                  <a:srgbClr val="315BCE"/>
                </a:solidFill>
                <a:latin typeface="Arial"/>
                <a:ea typeface="Arial"/>
                <a:cs typeface="Arial"/>
              </a:defRPr>
            </a:lvl6pPr>
            <a:lvl7pPr>
              <a:defRPr sz="1125" b="1">
                <a:solidFill>
                  <a:srgbClr val="315BCE"/>
                </a:solidFill>
                <a:latin typeface="Arial"/>
                <a:ea typeface="Arial"/>
                <a:cs typeface="Arial"/>
              </a:defRPr>
            </a:lvl7pPr>
            <a:lvl8pPr>
              <a:defRPr sz="1125" b="1">
                <a:solidFill>
                  <a:srgbClr val="315BCE"/>
                </a:solidFill>
                <a:latin typeface="Arial"/>
                <a:ea typeface="Arial"/>
                <a:cs typeface="Arial"/>
              </a:defRPr>
            </a:lvl8pPr>
            <a:lvl9pPr>
              <a:defRPr sz="1125" b="1">
                <a:solidFill>
                  <a:srgbClr val="315BCE"/>
                </a:solidFill>
                <a:latin typeface="Arial"/>
                <a:ea typeface="Arial"/>
                <a:cs typeface="Arial"/>
              </a:defRPr>
            </a:lvl9pPr>
          </a:lstStyle>
          <a:p xmlns:a="http://schemas.openxmlformats.org/drawingml/2006/main">
            <a:pPr>
              <a:buNone/>
              <a:defRPr sz="1125" b="1">
                <a:solidFill>
                  <a:srgbClr val="315BCE"/>
                </a:solidFill>
                <a:latin typeface="Arial"/>
                <a:ea typeface="Arial"/>
                <a:cs typeface="Arial"/>
              </a:defRPr>
            </a:pPr>
            <a:r>
              <a:rPr sz="1125" b="1">
                <a:solidFill>
                  <a:srgbClr val="315BCE"/>
                </a:solidFill>
                <a:latin typeface="Arial"/>
                <a:ea typeface="Arial"/>
                <a:cs typeface="Arial"/>
              </a:rPr>
              <a:t>CURRENT STATUS</a:t>
            </a:r>
          </a:p>
        </p:txBody>
      </p:sp>
      <p:sp>
        <p:nvSpPr>
          <p:cNvPr id="8" name="Rectangle 7">
            <a:extLst xmlns:a="http://schemas.openxmlformats.org/drawingml/2006/main">
              <a:ext uri="{FF2B5EF4-FFF2-40B4-BE49-F238E27FC236}">
                <a16:creationId xmlns:a16="http://schemas.microsoft.com/office/drawing/2014/main" id="{DD448F75-F183-4E5E-9645-1391027D2D52}"/>
              </a:ext>
            </a:extLst>
          </p:cNvPr>
          <p:cNvSpPr>
            <a:spLocks xmlns:a="http://schemas.openxmlformats.org/drawingml/2006/main" noGrp="1"/>
          </p:cNvSpPr>
          <p:nvPr/>
        </p:nvSpPr>
        <p:spPr>
          <a:xfrm xmlns:a="http://schemas.openxmlformats.org/drawingml/2006/main">
            <a:off x="6191250" y="2343150"/>
            <a:ext cx="4953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75" b="1">
                <a:solidFill>
                  <a:srgbClr val="16202B"/>
                </a:solidFill>
                <a:latin typeface="Arial"/>
                <a:ea typeface="Arial"/>
                <a:cs typeface="Arial"/>
              </a:defRPr>
            </a:defPPr>
            <a:lvl1pPr>
              <a:defRPr sz="1875" b="1">
                <a:solidFill>
                  <a:srgbClr val="16202B"/>
                </a:solidFill>
                <a:latin typeface="Arial"/>
                <a:ea typeface="Arial"/>
                <a:cs typeface="Arial"/>
              </a:defRPr>
            </a:lvl1pPr>
            <a:lvl2pPr>
              <a:defRPr sz="1875" b="1">
                <a:solidFill>
                  <a:srgbClr val="16202B"/>
                </a:solidFill>
                <a:latin typeface="Arial"/>
                <a:ea typeface="Arial"/>
                <a:cs typeface="Arial"/>
              </a:defRPr>
            </a:lvl2pPr>
            <a:lvl3pPr>
              <a:defRPr sz="1875" b="1">
                <a:solidFill>
                  <a:srgbClr val="16202B"/>
                </a:solidFill>
                <a:latin typeface="Arial"/>
                <a:ea typeface="Arial"/>
                <a:cs typeface="Arial"/>
              </a:defRPr>
            </a:lvl3pPr>
            <a:lvl4pPr>
              <a:defRPr sz="1875" b="1">
                <a:solidFill>
                  <a:srgbClr val="16202B"/>
                </a:solidFill>
                <a:latin typeface="Arial"/>
                <a:ea typeface="Arial"/>
                <a:cs typeface="Arial"/>
              </a:defRPr>
            </a:lvl4pPr>
            <a:lvl5pPr>
              <a:defRPr sz="1875" b="1">
                <a:solidFill>
                  <a:srgbClr val="16202B"/>
                </a:solidFill>
                <a:latin typeface="Arial"/>
                <a:ea typeface="Arial"/>
                <a:cs typeface="Arial"/>
              </a:defRPr>
            </a:lvl5pPr>
            <a:lvl6pPr>
              <a:defRPr sz="1875" b="1">
                <a:solidFill>
                  <a:srgbClr val="16202B"/>
                </a:solidFill>
                <a:latin typeface="Arial"/>
                <a:ea typeface="Arial"/>
                <a:cs typeface="Arial"/>
              </a:defRPr>
            </a:lvl6pPr>
            <a:lvl7pPr>
              <a:defRPr sz="1875" b="1">
                <a:solidFill>
                  <a:srgbClr val="16202B"/>
                </a:solidFill>
                <a:latin typeface="Arial"/>
                <a:ea typeface="Arial"/>
                <a:cs typeface="Arial"/>
              </a:defRPr>
            </a:lvl7pPr>
            <a:lvl8pPr>
              <a:defRPr sz="1875" b="1">
                <a:solidFill>
                  <a:srgbClr val="16202B"/>
                </a:solidFill>
                <a:latin typeface="Arial"/>
                <a:ea typeface="Arial"/>
                <a:cs typeface="Arial"/>
              </a:defRPr>
            </a:lvl8pPr>
            <a:lvl9pPr>
              <a:defRPr sz="1875" b="1">
                <a:solidFill>
                  <a:srgbClr val="16202B"/>
                </a:solidFill>
                <a:latin typeface="Arial"/>
                <a:ea typeface="Arial"/>
                <a:cs typeface="Arial"/>
              </a:defRPr>
            </a:lvl9pPr>
          </a:lstStyle>
          <a:p xmlns:a="http://schemas.openxmlformats.org/drawingml/2006/main">
            <a:pPr>
              <a:buNone/>
              <a:defRPr sz="1875" b="1">
                <a:solidFill>
                  <a:srgbClr val="16202B"/>
                </a:solidFill>
                <a:latin typeface="Arial"/>
                <a:ea typeface="Arial"/>
                <a:cs typeface="Arial"/>
              </a:defRPr>
            </a:pPr>
            <a:r>
              <a:rPr sz="1875" b="1">
                <a:solidFill>
                  <a:srgbClr val="16202B"/>
                </a:solidFill>
                <a:latin typeface="Arial"/>
                <a:ea typeface="Arial"/>
                <a:cs typeface="Arial"/>
              </a:rPr>
              <a:t>A practical shortlist from historical purchase patterns. Merchants decide which shoppers merit follow-up.</a:t>
            </a:r>
          </a:p>
        </p:txBody>
      </p:sp>
      <p:sp>
        <p:nvSpPr>
          <p:cNvPr id="9" name="Straight Connector 8">
            <a:extLst xmlns:a="http://schemas.openxmlformats.org/drawingml/2006/main">
              <a:ext uri="{FF2B5EF4-FFF2-40B4-BE49-F238E27FC236}">
                <a16:creationId xmlns:a16="http://schemas.microsoft.com/office/drawing/2014/main" id="{1D2F1664-EEE9-4D00-AAA0-E429BBA0F08A}"/>
              </a:ext>
            </a:extLst>
          </p:cNvPr>
          <p:cNvSpPr>
            <a:spLocks xmlns:a="http://schemas.openxmlformats.org/drawingml/2006/main" noGrp="1"/>
          </p:cNvSpPr>
          <p:nvPr/>
        </p:nvSpPr>
        <p:spPr>
          <a:xfrm xmlns:a="http://schemas.openxmlformats.org/drawingml/2006/main">
            <a:off x="6191250" y="3505200"/>
            <a:ext cx="4953000" cy="0"/>
          </a:xfrm>
          <a:prstGeom xmlns:a="http://schemas.openxmlformats.org/drawingml/2006/main" prst="line">
            <a:avLst/>
          </a:prstGeom>
          <a:ln xmlns:a="http://schemas.openxmlformats.org/drawingml/2006/main" w="9525">
            <a:solidFill>
              <a:srgbClr val="CFD6E0"/>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D36AF5B4-63F2-4154-9C19-BF9D4B7B3D69}"/>
              </a:ext>
            </a:extLst>
          </p:cNvPr>
          <p:cNvSpPr>
            <a:spLocks xmlns:a="http://schemas.openxmlformats.org/drawingml/2006/main" noGrp="1"/>
          </p:cNvSpPr>
          <p:nvPr/>
        </p:nvSpPr>
        <p:spPr>
          <a:xfrm xmlns:a="http://schemas.openxmlformats.org/drawingml/2006/main">
            <a:off x="6191250" y="38100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125" b="1">
                <a:solidFill>
                  <a:srgbClr val="287A63"/>
                </a:solidFill>
                <a:latin typeface="Arial"/>
                <a:ea typeface="Arial"/>
                <a:cs typeface="Arial"/>
              </a:defRPr>
            </a:defPPr>
            <a:lvl1pPr>
              <a:defRPr sz="1125" b="1">
                <a:solidFill>
                  <a:srgbClr val="287A63"/>
                </a:solidFill>
                <a:latin typeface="Arial"/>
                <a:ea typeface="Arial"/>
                <a:cs typeface="Arial"/>
              </a:defRPr>
            </a:lvl1pPr>
            <a:lvl2pPr>
              <a:defRPr sz="1125" b="1">
                <a:solidFill>
                  <a:srgbClr val="287A63"/>
                </a:solidFill>
                <a:latin typeface="Arial"/>
                <a:ea typeface="Arial"/>
                <a:cs typeface="Arial"/>
              </a:defRPr>
            </a:lvl2pPr>
            <a:lvl3pPr>
              <a:defRPr sz="1125" b="1">
                <a:solidFill>
                  <a:srgbClr val="287A63"/>
                </a:solidFill>
                <a:latin typeface="Arial"/>
                <a:ea typeface="Arial"/>
                <a:cs typeface="Arial"/>
              </a:defRPr>
            </a:lvl3pPr>
            <a:lvl4pPr>
              <a:defRPr sz="1125" b="1">
                <a:solidFill>
                  <a:srgbClr val="287A63"/>
                </a:solidFill>
                <a:latin typeface="Arial"/>
                <a:ea typeface="Arial"/>
                <a:cs typeface="Arial"/>
              </a:defRPr>
            </a:lvl4pPr>
            <a:lvl5pPr>
              <a:defRPr sz="1125" b="1">
                <a:solidFill>
                  <a:srgbClr val="287A63"/>
                </a:solidFill>
                <a:latin typeface="Arial"/>
                <a:ea typeface="Arial"/>
                <a:cs typeface="Arial"/>
              </a:defRPr>
            </a:lvl5pPr>
            <a:lvl6pPr>
              <a:defRPr sz="1125" b="1">
                <a:solidFill>
                  <a:srgbClr val="287A63"/>
                </a:solidFill>
                <a:latin typeface="Arial"/>
                <a:ea typeface="Arial"/>
                <a:cs typeface="Arial"/>
              </a:defRPr>
            </a:lvl6pPr>
            <a:lvl7pPr>
              <a:defRPr sz="1125" b="1">
                <a:solidFill>
                  <a:srgbClr val="287A63"/>
                </a:solidFill>
                <a:latin typeface="Arial"/>
                <a:ea typeface="Arial"/>
                <a:cs typeface="Arial"/>
              </a:defRPr>
            </a:lvl7pPr>
            <a:lvl8pPr>
              <a:defRPr sz="1125" b="1">
                <a:solidFill>
                  <a:srgbClr val="287A63"/>
                </a:solidFill>
                <a:latin typeface="Arial"/>
                <a:ea typeface="Arial"/>
                <a:cs typeface="Arial"/>
              </a:defRPr>
            </a:lvl8pPr>
            <a:lvl9pPr>
              <a:defRPr sz="1125" b="1">
                <a:solidFill>
                  <a:srgbClr val="287A63"/>
                </a:solidFill>
                <a:latin typeface="Arial"/>
                <a:ea typeface="Arial"/>
                <a:cs typeface="Arial"/>
              </a:defRPr>
            </a:lvl9pPr>
          </a:lstStyle>
          <a:p xmlns:a="http://schemas.openxmlformats.org/drawingml/2006/main">
            <a:pPr>
              <a:buNone/>
              <a:defRPr sz="1125" b="1">
                <a:solidFill>
                  <a:srgbClr val="287A63"/>
                </a:solidFill>
                <a:latin typeface="Arial"/>
                <a:ea typeface="Arial"/>
                <a:cs typeface="Arial"/>
              </a:defRPr>
            </a:pPr>
            <a:r>
              <a:rPr sz="1125" b="1">
                <a:solidFill>
                  <a:srgbClr val="287A63"/>
                </a:solidFill>
                <a:latin typeface="Arial"/>
                <a:ea typeface="Arial"/>
                <a:cs typeface="Arial"/>
              </a:rPr>
              <a:t>TECHNOLOGY</a:t>
            </a:r>
          </a:p>
        </p:txBody>
      </p:sp>
      <p:sp>
        <p:nvSpPr>
          <p:cNvPr id="11" name="Rectangle 10">
            <a:extLst xmlns:a="http://schemas.openxmlformats.org/drawingml/2006/main">
              <a:ext uri="{FF2B5EF4-FFF2-40B4-BE49-F238E27FC236}">
                <a16:creationId xmlns:a16="http://schemas.microsoft.com/office/drawing/2014/main" id="{ADFAD776-CDE6-4BC7-A87E-19324F1E437D}"/>
              </a:ext>
            </a:extLst>
          </p:cNvPr>
          <p:cNvSpPr>
            <a:spLocks xmlns:a="http://schemas.openxmlformats.org/drawingml/2006/main" noGrp="1"/>
          </p:cNvSpPr>
          <p:nvPr/>
        </p:nvSpPr>
        <p:spPr>
          <a:xfrm xmlns:a="http://schemas.openxmlformats.org/drawingml/2006/main">
            <a:off x="6191250" y="4171950"/>
            <a:ext cx="4953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defRPr sz="1500" b="1">
                <a:solidFill>
                  <a:srgbClr val="16202B"/>
                </a:solidFill>
                <a:latin typeface="Arial"/>
                <a:ea typeface="Arial"/>
                <a:cs typeface="Arial"/>
              </a:defRPr>
            </a:defPPr>
            <a:lvl1pPr>
              <a:defRPr sz="1500" b="1">
                <a:solidFill>
                  <a:srgbClr val="16202B"/>
                </a:solidFill>
                <a:latin typeface="Arial"/>
                <a:ea typeface="Arial"/>
                <a:cs typeface="Arial"/>
              </a:defRPr>
            </a:lvl1pPr>
            <a:lvl2pPr>
              <a:defRPr sz="1500" b="1">
                <a:solidFill>
                  <a:srgbClr val="16202B"/>
                </a:solidFill>
                <a:latin typeface="Arial"/>
                <a:ea typeface="Arial"/>
                <a:cs typeface="Arial"/>
              </a:defRPr>
            </a:lvl2pPr>
            <a:lvl3pPr>
              <a:defRPr sz="1500" b="1">
                <a:solidFill>
                  <a:srgbClr val="16202B"/>
                </a:solidFill>
                <a:latin typeface="Arial"/>
                <a:ea typeface="Arial"/>
                <a:cs typeface="Arial"/>
              </a:defRPr>
            </a:lvl3pPr>
            <a:lvl4pPr>
              <a:defRPr sz="1500" b="1">
                <a:solidFill>
                  <a:srgbClr val="16202B"/>
                </a:solidFill>
                <a:latin typeface="Arial"/>
                <a:ea typeface="Arial"/>
                <a:cs typeface="Arial"/>
              </a:defRPr>
            </a:lvl4pPr>
            <a:lvl5pPr>
              <a:defRPr sz="1500" b="1">
                <a:solidFill>
                  <a:srgbClr val="16202B"/>
                </a:solidFill>
                <a:latin typeface="Arial"/>
                <a:ea typeface="Arial"/>
                <a:cs typeface="Arial"/>
              </a:defRPr>
            </a:lvl5pPr>
            <a:lvl6pPr>
              <a:defRPr sz="1500" b="1">
                <a:solidFill>
                  <a:srgbClr val="16202B"/>
                </a:solidFill>
                <a:latin typeface="Arial"/>
                <a:ea typeface="Arial"/>
                <a:cs typeface="Arial"/>
              </a:defRPr>
            </a:lvl6pPr>
            <a:lvl7pPr>
              <a:defRPr sz="1500" b="1">
                <a:solidFill>
                  <a:srgbClr val="16202B"/>
                </a:solidFill>
                <a:latin typeface="Arial"/>
                <a:ea typeface="Arial"/>
                <a:cs typeface="Arial"/>
              </a:defRPr>
            </a:lvl7pPr>
            <a:lvl8pPr>
              <a:defRPr sz="1500" b="1">
                <a:solidFill>
                  <a:srgbClr val="16202B"/>
                </a:solidFill>
                <a:latin typeface="Arial"/>
                <a:ea typeface="Arial"/>
                <a:cs typeface="Arial"/>
              </a:defRPr>
            </a:lvl8pPr>
            <a:lvl9pPr>
              <a:defRPr sz="1500" b="1">
                <a:solidFill>
                  <a:srgbClr val="16202B"/>
                </a:solidFill>
                <a:latin typeface="Arial"/>
                <a:ea typeface="Arial"/>
                <a:cs typeface="Arial"/>
              </a:defRPr>
            </a:lvl9pPr>
          </a:lstStyle>
          <a:p xmlns:a="http://schemas.openxmlformats.org/drawingml/2006/main">
            <a:pPr>
              <a:buNone/>
              <a:defRPr sz="1500" b="1">
                <a:solidFill>
                  <a:srgbClr val="16202B"/>
                </a:solidFill>
                <a:latin typeface="Arial"/>
                <a:ea typeface="Arial"/>
                <a:cs typeface="Arial"/>
              </a:defRPr>
            </a:pPr>
            <a:r>
              <a:rPr sz="1500" b="1">
                <a:solidFill>
                  <a:srgbClr val="16202B"/>
                </a:solidFill>
                <a:latin typeface="Arial"/>
                <a:ea typeface="Arial"/>
                <a:cs typeface="Arial"/>
              </a:rPr>
              <a:t>Next.js · TypeScript · browser-side CSV analysis · Gemma through LM Studio</a:t>
            </a:r>
          </a:p>
        </p:txBody>
      </p:sp>
      <p:sp>
        <p:nvSpPr>
          <p:cNvPr id="12" name="Rectangle 11">
            <a:extLst xmlns:a="http://schemas.openxmlformats.org/drawingml/2006/main">
              <a:ext uri="{FF2B5EF4-FFF2-40B4-BE49-F238E27FC236}">
                <a16:creationId xmlns:a16="http://schemas.microsoft.com/office/drawing/2014/main" id="{343CA87A-415F-4FBD-9C36-B9F8BD4CB4EA}"/>
              </a:ext>
            </a:extLst>
          </p:cNvPr>
          <p:cNvSpPr>
            <a:spLocks xmlns:a="http://schemas.openxmlformats.org/drawingml/2006/main" noGrp="1"/>
          </p:cNvSpPr>
          <p:nvPr/>
        </p:nvSpPr>
        <p:spPr>
          <a:xfrm xmlns:a="http://schemas.openxmlformats.org/drawingml/2006/main">
            <a:off x="6191250" y="510540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275" b="0">
                <a:solidFill>
                  <a:srgbClr val="536170"/>
                </a:solidFill>
                <a:latin typeface="Arial"/>
                <a:ea typeface="Arial"/>
                <a:cs typeface="Arial"/>
              </a:defRPr>
            </a:defPPr>
            <a:lvl1pPr>
              <a:defRPr sz="1275" b="0">
                <a:solidFill>
                  <a:srgbClr val="536170"/>
                </a:solidFill>
                <a:latin typeface="Arial"/>
                <a:ea typeface="Arial"/>
                <a:cs typeface="Arial"/>
              </a:defRPr>
            </a:lvl1pPr>
            <a:lvl2pPr>
              <a:defRPr sz="1275" b="0">
                <a:solidFill>
                  <a:srgbClr val="536170"/>
                </a:solidFill>
                <a:latin typeface="Arial"/>
                <a:ea typeface="Arial"/>
                <a:cs typeface="Arial"/>
              </a:defRPr>
            </a:lvl2pPr>
            <a:lvl3pPr>
              <a:defRPr sz="1275" b="0">
                <a:solidFill>
                  <a:srgbClr val="536170"/>
                </a:solidFill>
                <a:latin typeface="Arial"/>
                <a:ea typeface="Arial"/>
                <a:cs typeface="Arial"/>
              </a:defRPr>
            </a:lvl3pPr>
            <a:lvl4pPr>
              <a:defRPr sz="1275" b="0">
                <a:solidFill>
                  <a:srgbClr val="536170"/>
                </a:solidFill>
                <a:latin typeface="Arial"/>
                <a:ea typeface="Arial"/>
                <a:cs typeface="Arial"/>
              </a:defRPr>
            </a:lvl4pPr>
            <a:lvl5pPr>
              <a:defRPr sz="1275" b="0">
                <a:solidFill>
                  <a:srgbClr val="536170"/>
                </a:solidFill>
                <a:latin typeface="Arial"/>
                <a:ea typeface="Arial"/>
                <a:cs typeface="Arial"/>
              </a:defRPr>
            </a:lvl5pPr>
            <a:lvl6pPr>
              <a:defRPr sz="1275" b="0">
                <a:solidFill>
                  <a:srgbClr val="536170"/>
                </a:solidFill>
                <a:latin typeface="Arial"/>
                <a:ea typeface="Arial"/>
                <a:cs typeface="Arial"/>
              </a:defRPr>
            </a:lvl6pPr>
            <a:lvl7pPr>
              <a:defRPr sz="1275" b="0">
                <a:solidFill>
                  <a:srgbClr val="536170"/>
                </a:solidFill>
                <a:latin typeface="Arial"/>
                <a:ea typeface="Arial"/>
                <a:cs typeface="Arial"/>
              </a:defRPr>
            </a:lvl7pPr>
            <a:lvl8pPr>
              <a:defRPr sz="1275" b="0">
                <a:solidFill>
                  <a:srgbClr val="536170"/>
                </a:solidFill>
                <a:latin typeface="Arial"/>
                <a:ea typeface="Arial"/>
                <a:cs typeface="Arial"/>
              </a:defRPr>
            </a:lvl8pPr>
            <a:lvl9pPr>
              <a:defRPr sz="1275" b="0">
                <a:solidFill>
                  <a:srgbClr val="536170"/>
                </a:solidFill>
                <a:latin typeface="Arial"/>
                <a:ea typeface="Arial"/>
                <a:cs typeface="Arial"/>
              </a:defRPr>
            </a:lvl9pPr>
          </a:lstStyle>
          <a:p xmlns:a="http://schemas.openxmlformats.org/drawingml/2006/main">
            <a:pPr>
              <a:buNone/>
              <a:defRPr sz="1275" b="0">
                <a:solidFill>
                  <a:srgbClr val="536170"/>
                </a:solidFill>
                <a:latin typeface="Arial"/>
                <a:ea typeface="Arial"/>
                <a:cs typeface="Arial"/>
              </a:defRPr>
            </a:pPr>
            <a:r>
              <a:rPr sz="1275" b="0">
                <a:solidFill>
                  <a:srgbClr val="536170"/>
                </a:solidFill>
                <a:latin typeface="Arial"/>
                <a:ea typeface="Arial"/>
                <a:cs typeface="Arial"/>
              </a:rPr>
              <a:t>GPU offload on the AMD Radeon RX 9070 XT has not been verified.</a:t>
            </a:r>
          </a:p>
        </p:txBody>
      </p:sp>
    </p:spTree>
    <p:extLst>
      <p:ext uri="{BB962C8B-B14F-4D97-AF65-F5344CB8AC3E}">
        <p14:creationId xmlns:p14="http://schemas.microsoft.com/office/powerpoint/2010/main" val="9124496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2026-10-18T08:25:08.7060000Z</dcterms:created>
  <dcterms:modified xsi:type="dcterms:W3CDTF">2026-10-18T08:25:08.7060000Z</dcterms:modified>
</coreProperties>
</file>